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2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1954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SafetySetu is the platform. Permit and EntryHub are the two products on it, sold together or separately.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products share a customer and an org tree, never a database. That is what keeps them sellable separately.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jp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jp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jp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jp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5.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0.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36.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jpg"/><Relationship Id="rId7"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3.jp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3.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3.jp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51.png"/><Relationship Id="rId5" Type="http://schemas.openxmlformats.org/officeDocument/2006/relationships/image" Target="../media/image55.png"/><Relationship Id="rId10" Type="http://schemas.openxmlformats.org/officeDocument/2006/relationships/image" Target="../media/image57.png"/><Relationship Id="rId4" Type="http://schemas.openxmlformats.org/officeDocument/2006/relationships/image" Target="../media/image54.png"/><Relationship Id="rId9"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rig/ppt/media/image1.jpg"/>
          <p:cNvPicPr>
            <a:picLocks noChangeAspect="1"/>
          </p:cNvPicPr>
          <p:nvPr/>
        </p:nvPicPr>
        <p:blipFill>
          <a:blip r:embed="rId3"/>
          <a:stretch>
            <a:fillRect/>
          </a:stretch>
        </p:blipFill>
        <p:spPr>
          <a:xfrm>
            <a:off x="0" y="0"/>
            <a:ext cx="12191695" cy="6858000"/>
          </a:xfrm>
          <a:prstGeom prst="rect">
            <a:avLst/>
          </a:prstGeom>
        </p:spPr>
      </p:pic>
      <p:pic>
        <p:nvPicPr>
          <p:cNvPr id="4" name="Image 1" descr="orig/ppt/media/image2.png"/>
          <p:cNvPicPr>
            <a:picLocks noChangeAspect="1"/>
          </p:cNvPicPr>
          <p:nvPr/>
        </p:nvPicPr>
        <p:blipFill>
          <a:blip r:embed="rId4"/>
          <a:stretch>
            <a:fillRect/>
          </a:stretch>
        </p:blipFill>
        <p:spPr>
          <a:xfrm>
            <a:off x="640080" y="566928"/>
            <a:ext cx="566928" cy="566928"/>
          </a:xfrm>
          <a:prstGeom prst="rect">
            <a:avLst/>
          </a:prstGeom>
        </p:spPr>
      </p:pic>
      <p:sp>
        <p:nvSpPr>
          <p:cNvPr id="5" name="Text 1"/>
          <p:cNvSpPr txBox="1"/>
          <p:nvPr/>
        </p:nvSpPr>
        <p:spPr>
          <a:xfrm>
            <a:off x="1325880" y="548640"/>
            <a:ext cx="5029200" cy="365760"/>
          </a:xfrm>
          <a:prstGeom prst="rect">
            <a:avLst/>
          </a:prstGeom>
          <a:noFill/>
          <a:ln/>
        </p:spPr>
        <p:txBody>
          <a:bodyPr wrap="square" lIns="0" tIns="0" rIns="0" bIns="0" rtlCol="0" anchor="ctr"/>
          <a:lstStyle/>
          <a:p>
            <a:pPr marL="0" indent="0">
              <a:buNone/>
            </a:pPr>
            <a:r>
              <a:rPr lang="en-US" sz="2200" b="1" kern="0" spc="300" dirty="0">
                <a:solidFill>
                  <a:srgbClr val="FFFFFF"/>
                </a:solidFill>
                <a:latin typeface="Century Schoolbook" pitchFamily="34" charset="0"/>
                <a:ea typeface="Century Schoolbook" pitchFamily="34" charset="-122"/>
                <a:cs typeface="Century Schoolbook" pitchFamily="34" charset="-120"/>
              </a:rPr>
              <a:t>SAFETYSETU</a:t>
            </a:r>
            <a:endParaRPr lang="en-US" sz="2200" dirty="0"/>
          </a:p>
        </p:txBody>
      </p:sp>
      <p:sp>
        <p:nvSpPr>
          <p:cNvPr id="6" name="Text 2"/>
          <p:cNvSpPr txBox="1"/>
          <p:nvPr/>
        </p:nvSpPr>
        <p:spPr>
          <a:xfrm>
            <a:off x="1344168" y="914400"/>
            <a:ext cx="5943600" cy="274320"/>
          </a:xfrm>
          <a:prstGeom prst="rect">
            <a:avLst/>
          </a:prstGeom>
          <a:noFill/>
          <a:ln/>
        </p:spPr>
        <p:txBody>
          <a:bodyPr wrap="square" lIns="0" tIns="0" rIns="0" bIns="0" rtlCol="0" anchor="ctr"/>
          <a:lstStyle/>
          <a:p>
            <a:pPr marL="0" indent="0">
              <a:buNone/>
            </a:pPr>
            <a:r>
              <a:rPr lang="en-US" sz="1000" kern="0" spc="200" dirty="0">
                <a:solidFill>
                  <a:srgbClr val="A3A3A3"/>
                </a:solidFill>
                <a:latin typeface="Calibri" pitchFamily="34" charset="0"/>
                <a:ea typeface="Calibri" pitchFamily="34" charset="-122"/>
                <a:cs typeface="Calibri" pitchFamily="34" charset="-120"/>
              </a:rPr>
              <a:t>INDUSTRIAL SAFETY PLATFORM  ·  BY AILLEGENT</a:t>
            </a:r>
            <a:endParaRPr lang="en-US" sz="1000" dirty="0"/>
          </a:p>
        </p:txBody>
      </p:sp>
      <p:sp>
        <p:nvSpPr>
          <p:cNvPr id="7" name="Text 3"/>
          <p:cNvSpPr txBox="1"/>
          <p:nvPr/>
        </p:nvSpPr>
        <p:spPr>
          <a:xfrm>
            <a:off x="658368" y="2304288"/>
            <a:ext cx="7315200" cy="310896"/>
          </a:xfrm>
          <a:prstGeom prst="rect">
            <a:avLst/>
          </a:prstGeom>
          <a:noFill/>
          <a:ln/>
        </p:spPr>
        <p:txBody>
          <a:bodyPr wrap="square" lIns="0" tIns="0" rIns="0" bIns="0" rtlCol="0" anchor="ctr"/>
          <a:lstStyle/>
          <a:p>
            <a:pPr marL="0" indent="0">
              <a:buNone/>
            </a:pPr>
            <a:r>
              <a:rPr lang="en-US" sz="1250" b="1" kern="0" spc="400" dirty="0">
                <a:solidFill>
                  <a:srgbClr val="A3A3A3"/>
                </a:solidFill>
                <a:latin typeface="Calibri" pitchFamily="34" charset="0"/>
                <a:ea typeface="Calibri" pitchFamily="34" charset="-122"/>
                <a:cs typeface="Calibri" pitchFamily="34" charset="-120"/>
              </a:rPr>
              <a:t>PERMITS · LOTO · CONTRACTORS · VISITORS · GATE</a:t>
            </a:r>
            <a:endParaRPr lang="en-US" sz="1250" dirty="0"/>
          </a:p>
        </p:txBody>
      </p:sp>
      <p:sp>
        <p:nvSpPr>
          <p:cNvPr id="8" name="Text 4"/>
          <p:cNvSpPr txBox="1"/>
          <p:nvPr/>
        </p:nvSpPr>
        <p:spPr>
          <a:xfrm>
            <a:off x="621792" y="3035808"/>
            <a:ext cx="11292840" cy="1554480"/>
          </a:xfrm>
          <a:prstGeom prst="rect">
            <a:avLst/>
          </a:prstGeom>
          <a:noFill/>
          <a:ln/>
        </p:spPr>
        <p:txBody>
          <a:bodyPr wrap="square" lIns="0" tIns="0" rIns="0" bIns="0" rtlCol="0" anchor="ctr"/>
          <a:lstStyle/>
          <a:p>
            <a:pPr marL="0" indent="0">
              <a:lnSpc>
                <a:spcPct val="98000"/>
              </a:lnSpc>
              <a:buNone/>
            </a:pPr>
            <a:r>
              <a:rPr lang="en-US" sz="4600" b="1" dirty="0">
                <a:solidFill>
                  <a:srgbClr val="FFFFFF"/>
                </a:solidFill>
                <a:latin typeface="Century Schoolbook" pitchFamily="34" charset="0"/>
                <a:ea typeface="Century Schoolbook" pitchFamily="34" charset="-122"/>
                <a:cs typeface="Century Schoolbook" pitchFamily="34" charset="-120"/>
              </a:rPr>
              <a:t>One safety platform </a:t>
            </a:r>
            <a:r>
              <a:rPr lang="en-US" sz="4600" b="1" dirty="0">
                <a:solidFill>
                  <a:srgbClr val="A3A3A3"/>
                </a:solidFill>
                <a:latin typeface="Century Schoolbook" pitchFamily="34" charset="0"/>
                <a:ea typeface="Century Schoolbook" pitchFamily="34" charset="-122"/>
                <a:cs typeface="Century Schoolbook" pitchFamily="34" charset="-120"/>
              </a:rPr>
              <a:t xml:space="preserve">for the </a:t>
            </a:r>
            <a:r>
              <a:rPr lang="en-US" sz="4600" b="1" dirty="0">
                <a:solidFill>
                  <a:srgbClr val="FFFFFF"/>
                </a:solidFill>
                <a:latin typeface="Century Schoolbook" pitchFamily="34" charset="0"/>
                <a:ea typeface="Century Schoolbook" pitchFamily="34" charset="-122"/>
                <a:cs typeface="Century Schoolbook" pitchFamily="34" charset="-120"/>
              </a:rPr>
              <a:t>whole plant</a:t>
            </a:r>
            <a:endParaRPr lang="en-US" sz="4600" dirty="0"/>
          </a:p>
        </p:txBody>
      </p:sp>
      <p:sp>
        <p:nvSpPr>
          <p:cNvPr id="9" name="Text 5"/>
          <p:cNvSpPr txBox="1"/>
          <p:nvPr/>
        </p:nvSpPr>
        <p:spPr>
          <a:xfrm>
            <a:off x="658368" y="4736592"/>
            <a:ext cx="9326880" cy="960120"/>
          </a:xfrm>
          <a:prstGeom prst="rect">
            <a:avLst/>
          </a:prstGeom>
          <a:noFill/>
          <a:ln/>
        </p:spPr>
        <p:txBody>
          <a:bodyPr wrap="square" lIns="0" tIns="0" rIns="0" bIns="0" rtlCol="0" anchor="ctr"/>
          <a:lstStyle/>
          <a:p>
            <a:pPr marL="0" indent="0">
              <a:lnSpc>
                <a:spcPct val="116000"/>
              </a:lnSpc>
              <a:buNone/>
            </a:pPr>
            <a:r>
              <a:rPr lang="en-US" sz="1450" dirty="0">
                <a:solidFill>
                  <a:srgbClr val="D4D4D4"/>
                </a:solidFill>
                <a:latin typeface="Calibri" pitchFamily="34" charset="0"/>
                <a:ea typeface="Calibri" pitchFamily="34" charset="-122"/>
                <a:cs typeface="Calibri" pitchFamily="34" charset="-120"/>
              </a:rPr>
              <a:t>SafetySetu brings two products together on one platform: Permit for electronic work permits and lockout/tagout, and EntryHub for contractors, visitors and the gate they come through. One customer record, one sign-in, one org tree, on web, on mobile and on the plant floor.</a:t>
            </a:r>
            <a:endParaRPr lang="en-US" sz="1450" dirty="0"/>
          </a:p>
        </p:txBody>
      </p:sp>
      <p:sp>
        <p:nvSpPr>
          <p:cNvPr id="10" name="Shape 6"/>
          <p:cNvSpPr/>
          <p:nvPr/>
        </p:nvSpPr>
        <p:spPr>
          <a:xfrm>
            <a:off x="658368" y="5870448"/>
            <a:ext cx="2788920" cy="402336"/>
          </a:xfrm>
          <a:prstGeom prst="roundRect">
            <a:avLst>
              <a:gd name="adj" fmla="val 22727"/>
            </a:avLst>
          </a:prstGeom>
          <a:solidFill>
            <a:srgbClr val="1A1A1A"/>
          </a:solidFill>
          <a:ln w="12700">
            <a:solidFill>
              <a:srgbClr val="3A3A3A"/>
            </a:solidFill>
            <a:prstDash val="solid"/>
          </a:ln>
        </p:spPr>
        <p:txBody>
          <a:bodyPr/>
          <a:lstStyle/>
          <a:p>
            <a:endParaRPr/>
          </a:p>
        </p:txBody>
      </p:sp>
      <p:sp>
        <p:nvSpPr>
          <p:cNvPr id="11" name="Text 7"/>
          <p:cNvSpPr txBox="1"/>
          <p:nvPr/>
        </p:nvSpPr>
        <p:spPr>
          <a:xfrm>
            <a:off x="658368" y="5870448"/>
            <a:ext cx="2788920" cy="402336"/>
          </a:xfrm>
          <a:prstGeom prst="rect">
            <a:avLst/>
          </a:prstGeom>
          <a:noFill/>
          <a:ln/>
        </p:spPr>
        <p:txBody>
          <a:bodyPr wrap="square" lIns="0" tIns="0" rIns="0" bIns="0" rtlCol="0" anchor="ctr"/>
          <a:lstStyle/>
          <a:p>
            <a:pPr marL="0" indent="0" algn="ctr">
              <a:buNone/>
            </a:pPr>
            <a:r>
              <a:rPr lang="en-US" sz="1100" b="1" dirty="0">
                <a:solidFill>
                  <a:srgbClr val="E8E8E8"/>
                </a:solidFill>
                <a:latin typeface="Calibri" pitchFamily="34" charset="0"/>
                <a:ea typeface="Calibri" pitchFamily="34" charset="-122"/>
                <a:cs typeface="Calibri" pitchFamily="34" charset="-120"/>
              </a:rPr>
              <a:t>Permit · e-PTW + LOTO</a:t>
            </a:r>
            <a:endParaRPr lang="en-US" sz="1100" dirty="0"/>
          </a:p>
        </p:txBody>
      </p:sp>
      <p:sp>
        <p:nvSpPr>
          <p:cNvPr id="12" name="Shape 8"/>
          <p:cNvSpPr/>
          <p:nvPr/>
        </p:nvSpPr>
        <p:spPr>
          <a:xfrm>
            <a:off x="3648456" y="5870448"/>
            <a:ext cx="3886200" cy="402336"/>
          </a:xfrm>
          <a:prstGeom prst="roundRect">
            <a:avLst>
              <a:gd name="adj" fmla="val 22727"/>
            </a:avLst>
          </a:prstGeom>
          <a:solidFill>
            <a:srgbClr val="1A1A1A"/>
          </a:solidFill>
          <a:ln w="12700">
            <a:solidFill>
              <a:srgbClr val="3A3A3A"/>
            </a:solidFill>
            <a:prstDash val="solid"/>
          </a:ln>
        </p:spPr>
        <p:txBody>
          <a:bodyPr/>
          <a:lstStyle/>
          <a:p>
            <a:endParaRPr/>
          </a:p>
        </p:txBody>
      </p:sp>
      <p:sp>
        <p:nvSpPr>
          <p:cNvPr id="13" name="Text 9"/>
          <p:cNvSpPr txBox="1"/>
          <p:nvPr/>
        </p:nvSpPr>
        <p:spPr>
          <a:xfrm>
            <a:off x="3648456" y="5870448"/>
            <a:ext cx="3886200" cy="402336"/>
          </a:xfrm>
          <a:prstGeom prst="rect">
            <a:avLst/>
          </a:prstGeom>
          <a:noFill/>
          <a:ln/>
        </p:spPr>
        <p:txBody>
          <a:bodyPr wrap="square" lIns="0" tIns="0" rIns="0" bIns="0" rtlCol="0" anchor="ctr"/>
          <a:lstStyle/>
          <a:p>
            <a:pPr marL="0" indent="0" algn="ctr">
              <a:buNone/>
            </a:pPr>
            <a:r>
              <a:rPr lang="en-US" sz="1100" b="1" dirty="0">
                <a:solidFill>
                  <a:srgbClr val="E8E8E8"/>
                </a:solidFill>
                <a:latin typeface="Calibri" pitchFamily="34" charset="0"/>
                <a:ea typeface="Calibri" pitchFamily="34" charset="-122"/>
                <a:cs typeface="Calibri" pitchFamily="34" charset="-120"/>
              </a:rPr>
              <a:t>EntryHub · Contractors, Visitors &amp; Gate</a:t>
            </a:r>
            <a:endParaRPr lang="en-US" sz="1100" dirty="0"/>
          </a:p>
        </p:txBody>
      </p:sp>
      <p:sp>
        <p:nvSpPr>
          <p:cNvPr id="14" name="Shape 10"/>
          <p:cNvSpPr/>
          <p:nvPr/>
        </p:nvSpPr>
        <p:spPr>
          <a:xfrm>
            <a:off x="7735824" y="5870448"/>
            <a:ext cx="2176272" cy="402336"/>
          </a:xfrm>
          <a:prstGeom prst="roundRect">
            <a:avLst>
              <a:gd name="adj" fmla="val 22727"/>
            </a:avLst>
          </a:prstGeom>
          <a:solidFill>
            <a:srgbClr val="1A1A1A"/>
          </a:solidFill>
          <a:ln w="12700">
            <a:solidFill>
              <a:srgbClr val="3A3A3A"/>
            </a:solidFill>
            <a:prstDash val="solid"/>
          </a:ln>
        </p:spPr>
        <p:txBody>
          <a:bodyPr/>
          <a:lstStyle/>
          <a:p>
            <a:endParaRPr/>
          </a:p>
        </p:txBody>
      </p:sp>
      <p:sp>
        <p:nvSpPr>
          <p:cNvPr id="15" name="Text 11"/>
          <p:cNvSpPr txBox="1"/>
          <p:nvPr/>
        </p:nvSpPr>
        <p:spPr>
          <a:xfrm>
            <a:off x="7735824" y="5870448"/>
            <a:ext cx="2176272" cy="402336"/>
          </a:xfrm>
          <a:prstGeom prst="rect">
            <a:avLst/>
          </a:prstGeom>
          <a:noFill/>
          <a:ln/>
        </p:spPr>
        <p:txBody>
          <a:bodyPr wrap="square" lIns="0" tIns="0" rIns="0" bIns="0" rtlCol="0" anchor="ctr"/>
          <a:lstStyle/>
          <a:p>
            <a:pPr marL="0" indent="0" algn="ctr">
              <a:buNone/>
            </a:pPr>
            <a:r>
              <a:rPr lang="en-US" sz="1100" b="1" dirty="0">
                <a:solidFill>
                  <a:srgbClr val="E8E8E8"/>
                </a:solidFill>
                <a:latin typeface="Calibri" pitchFamily="34" charset="0"/>
                <a:ea typeface="Calibri" pitchFamily="34" charset="-122"/>
                <a:cs typeface="Calibri" pitchFamily="34" charset="-120"/>
              </a:rPr>
              <a:t>Web · Mobile · Kiosk</a:t>
            </a:r>
            <a:endParaRPr lang="en-US" sz="1100" dirty="0"/>
          </a:p>
        </p:txBody>
      </p:sp>
      <p:sp>
        <p:nvSpPr>
          <p:cNvPr id="16" name="Shape 12"/>
          <p:cNvSpPr/>
          <p:nvPr/>
        </p:nvSpPr>
        <p:spPr>
          <a:xfrm>
            <a:off x="10113264" y="5870448"/>
            <a:ext cx="1856232" cy="402336"/>
          </a:xfrm>
          <a:prstGeom prst="roundRect">
            <a:avLst>
              <a:gd name="adj" fmla="val 22727"/>
            </a:avLst>
          </a:prstGeom>
          <a:solidFill>
            <a:srgbClr val="1A1A1A"/>
          </a:solidFill>
          <a:ln w="12700">
            <a:solidFill>
              <a:srgbClr val="3A3A3A"/>
            </a:solidFill>
            <a:prstDash val="solid"/>
          </a:ln>
        </p:spPr>
        <p:txBody>
          <a:bodyPr/>
          <a:lstStyle/>
          <a:p>
            <a:endParaRPr/>
          </a:p>
        </p:txBody>
      </p:sp>
      <p:sp>
        <p:nvSpPr>
          <p:cNvPr id="17" name="Text 13"/>
          <p:cNvSpPr txBox="1"/>
          <p:nvPr/>
        </p:nvSpPr>
        <p:spPr>
          <a:xfrm>
            <a:off x="10113264" y="5870448"/>
            <a:ext cx="1856232" cy="402336"/>
          </a:xfrm>
          <a:prstGeom prst="rect">
            <a:avLst/>
          </a:prstGeom>
          <a:noFill/>
          <a:ln/>
        </p:spPr>
        <p:txBody>
          <a:bodyPr wrap="square" lIns="0" tIns="0" rIns="0" bIns="0" rtlCol="0" anchor="ctr"/>
          <a:lstStyle/>
          <a:p>
            <a:pPr marL="0" indent="0" algn="ctr">
              <a:buNone/>
            </a:pPr>
            <a:r>
              <a:rPr lang="en-US" sz="1100" b="1" dirty="0">
                <a:solidFill>
                  <a:srgbClr val="E8E8E8"/>
                </a:solidFill>
                <a:latin typeface="Calibri" pitchFamily="34" charset="0"/>
                <a:ea typeface="Calibri" pitchFamily="34" charset="-122"/>
                <a:cs typeface="Calibri" pitchFamily="34" charset="-120"/>
              </a:rPr>
              <a:t>Secure &amp; Audited</a:t>
            </a:r>
            <a:endParaRPr lang="en-US" sz="1100" dirty="0"/>
          </a:p>
        </p:txBody>
      </p:sp>
      <p:sp>
        <p:nvSpPr>
          <p:cNvPr id="18" name="Text 14"/>
          <p:cNvSpPr txBox="1"/>
          <p:nvPr/>
        </p:nvSpPr>
        <p:spPr>
          <a:xfrm>
            <a:off x="658368" y="6464808"/>
            <a:ext cx="6400800" cy="274320"/>
          </a:xfrm>
          <a:prstGeom prst="rect">
            <a:avLst/>
          </a:prstGeom>
          <a:noFill/>
          <a:ln/>
        </p:spPr>
        <p:txBody>
          <a:bodyPr wrap="square" lIns="0" tIns="0" rIns="0" bIns="0" rtlCol="0" anchor="ctr"/>
          <a:lstStyle/>
          <a:p>
            <a:pPr marL="0" indent="0">
              <a:buNone/>
            </a:pPr>
            <a:r>
              <a:rPr lang="en-US" sz="950" dirty="0">
                <a:solidFill>
                  <a:srgbClr val="9A9A9A"/>
                </a:solidFill>
                <a:latin typeface="Calibri" pitchFamily="34" charset="0"/>
                <a:ea typeface="Calibri" pitchFamily="34" charset="-122"/>
                <a:cs typeface="Calibri" pitchFamily="34" charset="-120"/>
              </a:rPr>
              <a:t>SafetySetu by Aillegent · Confidential</a:t>
            </a:r>
            <a:endParaRPr lang="en-US" sz="950" dirty="0"/>
          </a:p>
        </p:txBody>
      </p:sp>
      <p:sp>
        <p:nvSpPr>
          <p:cNvPr id="19" name="Text 15"/>
          <p:cNvSpPr txBox="1"/>
          <p:nvPr/>
        </p:nvSpPr>
        <p:spPr>
          <a:xfrm>
            <a:off x="8778240" y="6483096"/>
            <a:ext cx="2743200" cy="237744"/>
          </a:xfrm>
          <a:prstGeom prst="rect">
            <a:avLst/>
          </a:prstGeom>
          <a:noFill/>
          <a:ln/>
        </p:spPr>
        <p:txBody>
          <a:bodyPr wrap="square" lIns="0" tIns="0" rIns="0" bIns="0" rtlCol="0" anchor="ctr"/>
          <a:lstStyle/>
          <a:p>
            <a:pPr marL="0" indent="0" algn="r">
              <a:buNone/>
            </a:pPr>
            <a:r>
              <a:rPr lang="en-US" sz="950" dirty="0">
                <a:solidFill>
                  <a:srgbClr val="9A9A9A"/>
                </a:solidFill>
                <a:latin typeface="Calibri" pitchFamily="34" charset="0"/>
                <a:ea typeface="Calibri" pitchFamily="34" charset="-122"/>
                <a:cs typeface="Calibri" pitchFamily="34" charset="-120"/>
              </a:rPr>
              <a:t>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THE PROBLEM</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Paper wasn’t built for a modern plant</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Hot work, confined-space, height and isolation jobs still run on paper forms and email sign-offs and the gate keeps a register of its own. That leaves EHS teams without a defensible record, no live picture of who or what is on site, and no way to prove any of it when it matters.</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
        <p:nvSpPr>
          <p:cNvPr id="8" name="Shape 5"/>
          <p:cNvSpPr/>
          <p:nvPr/>
        </p:nvSpPr>
        <p:spPr>
          <a:xfrm>
            <a:off x="502920" y="2377440"/>
            <a:ext cx="5440680" cy="1700784"/>
          </a:xfrm>
          <a:prstGeom prst="roundRect">
            <a:avLst>
              <a:gd name="adj" fmla="val 6452"/>
            </a:avLst>
          </a:prstGeom>
          <a:solidFill>
            <a:srgbClr val="FFFFFF"/>
          </a:solidFill>
          <a:ln w="12700">
            <a:solidFill>
              <a:srgbClr val="E3E3E3"/>
            </a:solidFill>
            <a:prstDash val="solid"/>
          </a:ln>
        </p:spPr>
        <p:txBody>
          <a:bodyPr/>
          <a:lstStyle/>
          <a:p>
            <a:endParaRPr/>
          </a:p>
        </p:txBody>
      </p:sp>
      <p:sp>
        <p:nvSpPr>
          <p:cNvPr id="9" name="Shape 6"/>
          <p:cNvSpPr/>
          <p:nvPr/>
        </p:nvSpPr>
        <p:spPr>
          <a:xfrm>
            <a:off x="804672" y="2724912"/>
            <a:ext cx="676656" cy="676656"/>
          </a:xfrm>
          <a:prstGeom prst="ellipse">
            <a:avLst/>
          </a:prstGeom>
          <a:solidFill>
            <a:srgbClr val="EFEFEF"/>
          </a:solidFill>
          <a:ln/>
        </p:spPr>
        <p:txBody>
          <a:bodyPr/>
          <a:lstStyle/>
          <a:p>
            <a:endParaRPr/>
          </a:p>
        </p:txBody>
      </p:sp>
      <p:pic>
        <p:nvPicPr>
          <p:cNvPr id="10" name="Image 1" descr="orig/ppt/media/image4.png"/>
          <p:cNvPicPr>
            <a:picLocks noChangeAspect="1"/>
          </p:cNvPicPr>
          <p:nvPr/>
        </p:nvPicPr>
        <p:blipFill>
          <a:blip r:embed="rId4"/>
          <a:stretch>
            <a:fillRect/>
          </a:stretch>
        </p:blipFill>
        <p:spPr>
          <a:xfrm>
            <a:off x="1000902" y="2921142"/>
            <a:ext cx="284196" cy="284196"/>
          </a:xfrm>
          <a:prstGeom prst="rect">
            <a:avLst/>
          </a:prstGeom>
        </p:spPr>
      </p:pic>
      <p:sp>
        <p:nvSpPr>
          <p:cNvPr id="11" name="Text 7"/>
          <p:cNvSpPr txBox="1"/>
          <p:nvPr/>
        </p:nvSpPr>
        <p:spPr>
          <a:xfrm>
            <a:off x="1691640" y="2688336"/>
            <a:ext cx="4023360" cy="310896"/>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Scattered and unauditable</a:t>
            </a:r>
            <a:endParaRPr lang="en-US" sz="1500" dirty="0"/>
          </a:p>
        </p:txBody>
      </p:sp>
      <p:sp>
        <p:nvSpPr>
          <p:cNvPr id="12" name="Text 8"/>
          <p:cNvSpPr txBox="1"/>
          <p:nvPr/>
        </p:nvSpPr>
        <p:spPr>
          <a:xfrm>
            <a:off x="1691640" y="3054096"/>
            <a:ext cx="4023360" cy="822960"/>
          </a:xfrm>
          <a:prstGeom prst="rect">
            <a:avLst/>
          </a:prstGeom>
          <a:noFill/>
          <a:ln/>
        </p:spPr>
        <p:txBody>
          <a:bodyPr wrap="square" lIns="0" tIns="0" rIns="0" bIns="0" rtlCol="0" anchor="ctr"/>
          <a:lstStyle/>
          <a:p>
            <a:pPr marL="0" indent="0">
              <a:lnSpc>
                <a:spcPct val="108000"/>
              </a:lnSpc>
              <a:buNone/>
            </a:pPr>
            <a:r>
              <a:rPr lang="en-US" sz="1130" dirty="0">
                <a:solidFill>
                  <a:srgbClr val="6B6B6B"/>
                </a:solidFill>
                <a:latin typeface="Calibri" pitchFamily="34" charset="0"/>
                <a:ea typeface="Calibri" pitchFamily="34" charset="-122"/>
                <a:cs typeface="Calibri" pitchFamily="34" charset="-120"/>
              </a:rPr>
              <a:t>Permits live on paper, in inboxes and spreadsheets. Reconstructing who approved what, and when, is slow or impossible.</a:t>
            </a:r>
            <a:endParaRPr lang="en-US" sz="1130" dirty="0"/>
          </a:p>
        </p:txBody>
      </p:sp>
      <p:sp>
        <p:nvSpPr>
          <p:cNvPr id="13" name="Shape 9"/>
          <p:cNvSpPr/>
          <p:nvPr/>
        </p:nvSpPr>
        <p:spPr>
          <a:xfrm>
            <a:off x="6245352" y="2377440"/>
            <a:ext cx="5440680" cy="1700784"/>
          </a:xfrm>
          <a:prstGeom prst="roundRect">
            <a:avLst>
              <a:gd name="adj" fmla="val 6452"/>
            </a:avLst>
          </a:prstGeom>
          <a:solidFill>
            <a:srgbClr val="FFFFFF"/>
          </a:solidFill>
          <a:ln w="12700">
            <a:solidFill>
              <a:srgbClr val="E3E3E3"/>
            </a:solidFill>
            <a:prstDash val="solid"/>
          </a:ln>
        </p:spPr>
        <p:txBody>
          <a:bodyPr/>
          <a:lstStyle/>
          <a:p>
            <a:endParaRPr/>
          </a:p>
        </p:txBody>
      </p:sp>
      <p:sp>
        <p:nvSpPr>
          <p:cNvPr id="14" name="Shape 10"/>
          <p:cNvSpPr/>
          <p:nvPr/>
        </p:nvSpPr>
        <p:spPr>
          <a:xfrm>
            <a:off x="6547104" y="2724912"/>
            <a:ext cx="676656" cy="676656"/>
          </a:xfrm>
          <a:prstGeom prst="ellipse">
            <a:avLst/>
          </a:prstGeom>
          <a:solidFill>
            <a:srgbClr val="EFEFEF"/>
          </a:solidFill>
          <a:ln/>
        </p:spPr>
        <p:txBody>
          <a:bodyPr/>
          <a:lstStyle/>
          <a:p>
            <a:endParaRPr/>
          </a:p>
        </p:txBody>
      </p:sp>
      <p:pic>
        <p:nvPicPr>
          <p:cNvPr id="15" name="Image 2" descr="orig/ppt/media/image34.png"/>
          <p:cNvPicPr>
            <a:picLocks noChangeAspect="1"/>
          </p:cNvPicPr>
          <p:nvPr/>
        </p:nvPicPr>
        <p:blipFill>
          <a:blip r:embed="rId5"/>
          <a:stretch>
            <a:fillRect/>
          </a:stretch>
        </p:blipFill>
        <p:spPr>
          <a:xfrm>
            <a:off x="6743334" y="2921142"/>
            <a:ext cx="284196" cy="284196"/>
          </a:xfrm>
          <a:prstGeom prst="rect">
            <a:avLst/>
          </a:prstGeom>
        </p:spPr>
      </p:pic>
      <p:sp>
        <p:nvSpPr>
          <p:cNvPr id="16" name="Text 11"/>
          <p:cNvSpPr txBox="1"/>
          <p:nvPr/>
        </p:nvSpPr>
        <p:spPr>
          <a:xfrm>
            <a:off x="7434072" y="2688336"/>
            <a:ext cx="4023360" cy="310896"/>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Permits stay live by accident</a:t>
            </a:r>
            <a:endParaRPr lang="en-US" sz="1500" dirty="0"/>
          </a:p>
        </p:txBody>
      </p:sp>
      <p:sp>
        <p:nvSpPr>
          <p:cNvPr id="17" name="Text 12"/>
          <p:cNvSpPr txBox="1"/>
          <p:nvPr/>
        </p:nvSpPr>
        <p:spPr>
          <a:xfrm>
            <a:off x="7434072" y="3054096"/>
            <a:ext cx="4023360" cy="822960"/>
          </a:xfrm>
          <a:prstGeom prst="rect">
            <a:avLst/>
          </a:prstGeom>
          <a:noFill/>
          <a:ln/>
        </p:spPr>
        <p:txBody>
          <a:bodyPr wrap="square" lIns="0" tIns="0" rIns="0" bIns="0" rtlCol="0" anchor="ctr"/>
          <a:lstStyle/>
          <a:p>
            <a:pPr marL="0" indent="0">
              <a:lnSpc>
                <a:spcPct val="108000"/>
              </a:lnSpc>
              <a:buNone/>
            </a:pPr>
            <a:r>
              <a:rPr lang="en-US" sz="1130" dirty="0">
                <a:solidFill>
                  <a:srgbClr val="6B6B6B"/>
                </a:solidFill>
                <a:latin typeface="Calibri" pitchFamily="34" charset="0"/>
                <a:ea typeface="Calibri" pitchFamily="34" charset="-122"/>
                <a:cs typeface="Calibri" pitchFamily="34" charset="-120"/>
              </a:rPr>
              <a:t>A paper permit does not expire on its own. Expired work keeps running with no automatic stop.</a:t>
            </a:r>
            <a:endParaRPr lang="en-US" sz="1130" dirty="0"/>
          </a:p>
        </p:txBody>
      </p:sp>
      <p:sp>
        <p:nvSpPr>
          <p:cNvPr id="18" name="Shape 13"/>
          <p:cNvSpPr/>
          <p:nvPr/>
        </p:nvSpPr>
        <p:spPr>
          <a:xfrm>
            <a:off x="502920" y="4261104"/>
            <a:ext cx="5440680" cy="1700784"/>
          </a:xfrm>
          <a:prstGeom prst="roundRect">
            <a:avLst>
              <a:gd name="adj" fmla="val 6452"/>
            </a:avLst>
          </a:prstGeom>
          <a:solidFill>
            <a:srgbClr val="FFFFFF"/>
          </a:solidFill>
          <a:ln w="12700">
            <a:solidFill>
              <a:srgbClr val="E3E3E3"/>
            </a:solidFill>
            <a:prstDash val="solid"/>
          </a:ln>
        </p:spPr>
        <p:txBody>
          <a:bodyPr/>
          <a:lstStyle/>
          <a:p>
            <a:endParaRPr/>
          </a:p>
        </p:txBody>
      </p:sp>
      <p:sp>
        <p:nvSpPr>
          <p:cNvPr id="19" name="Shape 14"/>
          <p:cNvSpPr/>
          <p:nvPr/>
        </p:nvSpPr>
        <p:spPr>
          <a:xfrm>
            <a:off x="804672" y="4608576"/>
            <a:ext cx="676656" cy="676656"/>
          </a:xfrm>
          <a:prstGeom prst="ellipse">
            <a:avLst/>
          </a:prstGeom>
          <a:solidFill>
            <a:srgbClr val="EFEFEF"/>
          </a:solidFill>
          <a:ln/>
        </p:spPr>
        <p:txBody>
          <a:bodyPr/>
          <a:lstStyle/>
          <a:p>
            <a:endParaRPr/>
          </a:p>
        </p:txBody>
      </p:sp>
      <p:pic>
        <p:nvPicPr>
          <p:cNvPr id="20" name="Image 3" descr="orig/ppt/media/image16.png"/>
          <p:cNvPicPr>
            <a:picLocks noChangeAspect="1"/>
          </p:cNvPicPr>
          <p:nvPr/>
        </p:nvPicPr>
        <p:blipFill>
          <a:blip r:embed="rId6"/>
          <a:stretch>
            <a:fillRect/>
          </a:stretch>
        </p:blipFill>
        <p:spPr>
          <a:xfrm>
            <a:off x="1000902" y="4804806"/>
            <a:ext cx="284196" cy="284196"/>
          </a:xfrm>
          <a:prstGeom prst="rect">
            <a:avLst/>
          </a:prstGeom>
        </p:spPr>
      </p:pic>
      <p:sp>
        <p:nvSpPr>
          <p:cNvPr id="21" name="Text 15"/>
          <p:cNvSpPr txBox="1"/>
          <p:nvPr/>
        </p:nvSpPr>
        <p:spPr>
          <a:xfrm>
            <a:off x="1691640" y="4572000"/>
            <a:ext cx="4023360" cy="310896"/>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Isolation runs on a separate form</a:t>
            </a:r>
            <a:endParaRPr lang="en-US" sz="1500" dirty="0"/>
          </a:p>
        </p:txBody>
      </p:sp>
      <p:sp>
        <p:nvSpPr>
          <p:cNvPr id="22" name="Text 16"/>
          <p:cNvSpPr txBox="1"/>
          <p:nvPr/>
        </p:nvSpPr>
        <p:spPr>
          <a:xfrm>
            <a:off x="1691640" y="4937760"/>
            <a:ext cx="4023360" cy="822960"/>
          </a:xfrm>
          <a:prstGeom prst="rect">
            <a:avLst/>
          </a:prstGeom>
          <a:noFill/>
          <a:ln/>
        </p:spPr>
        <p:txBody>
          <a:bodyPr wrap="square" lIns="0" tIns="0" rIns="0" bIns="0" rtlCol="0" anchor="ctr"/>
          <a:lstStyle/>
          <a:p>
            <a:pPr marL="0" indent="0">
              <a:lnSpc>
                <a:spcPct val="108000"/>
              </a:lnSpc>
              <a:buNone/>
            </a:pPr>
            <a:r>
              <a:rPr lang="en-US" sz="1130" dirty="0">
                <a:solidFill>
                  <a:srgbClr val="6B6B6B"/>
                </a:solidFill>
                <a:latin typeface="Calibri" pitchFamily="34" charset="0"/>
                <a:ea typeface="Calibri" pitchFamily="34" charset="-122"/>
                <a:cs typeface="Calibri" pitchFamily="34" charset="-120"/>
              </a:rPr>
              <a:t>Lockout and tagout keeps its own paper trail, so nothing stops a permit going live on equipment nobody verified isolated.</a:t>
            </a:r>
            <a:endParaRPr lang="en-US" sz="1130" dirty="0"/>
          </a:p>
        </p:txBody>
      </p:sp>
      <p:sp>
        <p:nvSpPr>
          <p:cNvPr id="23" name="Shape 17"/>
          <p:cNvSpPr/>
          <p:nvPr/>
        </p:nvSpPr>
        <p:spPr>
          <a:xfrm>
            <a:off x="6245352" y="4261104"/>
            <a:ext cx="5440680" cy="1700784"/>
          </a:xfrm>
          <a:prstGeom prst="roundRect">
            <a:avLst>
              <a:gd name="adj" fmla="val 6452"/>
            </a:avLst>
          </a:prstGeom>
          <a:solidFill>
            <a:srgbClr val="FFFFFF"/>
          </a:solidFill>
          <a:ln w="12700">
            <a:solidFill>
              <a:srgbClr val="E3E3E3"/>
            </a:solidFill>
            <a:prstDash val="solid"/>
          </a:ln>
        </p:spPr>
        <p:txBody>
          <a:bodyPr/>
          <a:lstStyle/>
          <a:p>
            <a:endParaRPr/>
          </a:p>
        </p:txBody>
      </p:sp>
      <p:sp>
        <p:nvSpPr>
          <p:cNvPr id="24" name="Shape 18"/>
          <p:cNvSpPr/>
          <p:nvPr/>
        </p:nvSpPr>
        <p:spPr>
          <a:xfrm>
            <a:off x="6547104" y="4608576"/>
            <a:ext cx="676656" cy="676656"/>
          </a:xfrm>
          <a:prstGeom prst="ellipse">
            <a:avLst/>
          </a:prstGeom>
          <a:solidFill>
            <a:srgbClr val="EFEFEF"/>
          </a:solidFill>
          <a:ln/>
        </p:spPr>
        <p:txBody>
          <a:bodyPr/>
          <a:lstStyle/>
          <a:p>
            <a:endParaRPr/>
          </a:p>
        </p:txBody>
      </p:sp>
      <p:pic>
        <p:nvPicPr>
          <p:cNvPr id="25" name="Image 4" descr="icons/door-navy.png"/>
          <p:cNvPicPr>
            <a:picLocks noChangeAspect="1"/>
          </p:cNvPicPr>
          <p:nvPr/>
        </p:nvPicPr>
        <p:blipFill>
          <a:blip r:embed="rId7"/>
          <a:stretch>
            <a:fillRect/>
          </a:stretch>
        </p:blipFill>
        <p:spPr>
          <a:xfrm>
            <a:off x="6743334" y="4804806"/>
            <a:ext cx="284196" cy="284196"/>
          </a:xfrm>
          <a:prstGeom prst="rect">
            <a:avLst/>
          </a:prstGeom>
        </p:spPr>
      </p:pic>
      <p:sp>
        <p:nvSpPr>
          <p:cNvPr id="26" name="Text 19"/>
          <p:cNvSpPr txBox="1"/>
          <p:nvPr/>
        </p:nvSpPr>
        <p:spPr>
          <a:xfrm>
            <a:off x="7434072" y="4572000"/>
            <a:ext cx="4023360" cy="310896"/>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The gate keeps a book of its own</a:t>
            </a:r>
            <a:endParaRPr lang="en-US" sz="1500" dirty="0"/>
          </a:p>
        </p:txBody>
      </p:sp>
      <p:sp>
        <p:nvSpPr>
          <p:cNvPr id="27" name="Text 20"/>
          <p:cNvSpPr txBox="1"/>
          <p:nvPr/>
        </p:nvSpPr>
        <p:spPr>
          <a:xfrm>
            <a:off x="7434072" y="4937760"/>
            <a:ext cx="4023360" cy="822960"/>
          </a:xfrm>
          <a:prstGeom prst="rect">
            <a:avLst/>
          </a:prstGeom>
          <a:noFill/>
          <a:ln/>
        </p:spPr>
        <p:txBody>
          <a:bodyPr wrap="square" lIns="0" tIns="0" rIns="0" bIns="0" rtlCol="0" anchor="ctr"/>
          <a:lstStyle/>
          <a:p>
            <a:pPr marL="0" indent="0">
              <a:lnSpc>
                <a:spcPct val="108000"/>
              </a:lnSpc>
              <a:buNone/>
            </a:pPr>
            <a:r>
              <a:rPr lang="en-US" sz="1130" dirty="0">
                <a:solidFill>
                  <a:srgbClr val="6B6B6B"/>
                </a:solidFill>
                <a:latin typeface="Calibri" pitchFamily="34" charset="0"/>
                <a:ea typeface="Calibri" pitchFamily="34" charset="-122"/>
                <a:cs typeface="Calibri" pitchFamily="34" charset="-120"/>
              </a:rPr>
              <a:t>Contractors and visitors sign a register at the barrier. Nobody can say who is inside right now, or whose licence lapsed last week.</a:t>
            </a:r>
            <a:endParaRPr lang="en-US" sz="11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THE PLATFORM</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Two products, one platform</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Buy one, or buy both. Each product stands on its own, with its own screens and its own users, and a customer who owns both gets one sign-in, one org tree and one place to administer them.</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
        <p:nvSpPr>
          <p:cNvPr id="8" name="Shape 5"/>
          <p:cNvSpPr/>
          <p:nvPr/>
        </p:nvSpPr>
        <p:spPr>
          <a:xfrm>
            <a:off x="502920" y="2212848"/>
            <a:ext cx="5486400" cy="2697480"/>
          </a:xfrm>
          <a:prstGeom prst="roundRect">
            <a:avLst>
              <a:gd name="adj" fmla="val 4068"/>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468880"/>
            <a:ext cx="566928" cy="566928"/>
          </a:xfrm>
          <a:prstGeom prst="ellipse">
            <a:avLst/>
          </a:prstGeom>
          <a:solidFill>
            <a:srgbClr val="EFEFEF"/>
          </a:solidFill>
          <a:ln/>
        </p:spPr>
        <p:txBody>
          <a:bodyPr/>
          <a:lstStyle/>
          <a:p>
            <a:endParaRPr/>
          </a:p>
        </p:txBody>
      </p:sp>
      <p:pic>
        <p:nvPicPr>
          <p:cNvPr id="10" name="Image 1" descr="orig/ppt/media/image19.png"/>
          <p:cNvPicPr>
            <a:picLocks noChangeAspect="1"/>
          </p:cNvPicPr>
          <p:nvPr/>
        </p:nvPicPr>
        <p:blipFill>
          <a:blip r:embed="rId4"/>
          <a:stretch>
            <a:fillRect/>
          </a:stretch>
        </p:blipFill>
        <p:spPr>
          <a:xfrm>
            <a:off x="987369" y="2633289"/>
            <a:ext cx="238110" cy="238110"/>
          </a:xfrm>
          <a:prstGeom prst="rect">
            <a:avLst/>
          </a:prstGeom>
        </p:spPr>
      </p:pic>
      <p:sp>
        <p:nvSpPr>
          <p:cNvPr id="11" name="Text 7"/>
          <p:cNvSpPr txBox="1"/>
          <p:nvPr/>
        </p:nvSpPr>
        <p:spPr>
          <a:xfrm>
            <a:off x="1554480" y="2505456"/>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Permit - permits &amp; isolation</a:t>
            </a:r>
            <a:endParaRPr lang="en-US" sz="1700" dirty="0"/>
          </a:p>
        </p:txBody>
      </p:sp>
      <p:sp>
        <p:nvSpPr>
          <p:cNvPr id="12" name="Shape 8"/>
          <p:cNvSpPr/>
          <p:nvPr/>
        </p:nvSpPr>
        <p:spPr>
          <a:xfrm>
            <a:off x="886968" y="3172053"/>
            <a:ext cx="118872" cy="118872"/>
          </a:xfrm>
          <a:prstGeom prst="ellipse">
            <a:avLst/>
          </a:prstGeom>
          <a:solidFill>
            <a:srgbClr val="C9922E"/>
          </a:solidFill>
          <a:ln/>
        </p:spPr>
        <p:txBody>
          <a:bodyPr/>
          <a:lstStyle/>
          <a:p>
            <a:endParaRPr/>
          </a:p>
        </p:txBody>
      </p:sp>
      <p:sp>
        <p:nvSpPr>
          <p:cNvPr id="13" name="Text 9"/>
          <p:cNvSpPr txBox="1"/>
          <p:nvPr/>
        </p:nvSpPr>
        <p:spPr>
          <a:xfrm>
            <a:off x="1161288" y="314553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Permit to work</a:t>
            </a:r>
            <a:r>
              <a:rPr lang="en-US" sz="1180" dirty="0">
                <a:solidFill>
                  <a:srgbClr val="6B6B6B"/>
                </a:solidFill>
                <a:latin typeface="Calibri" pitchFamily="34" charset="0"/>
                <a:ea typeface="Calibri" pitchFamily="34" charset="-122"/>
                <a:cs typeface="Calibri" pitchFamily="34" charset="-120"/>
              </a:rPr>
              <a:t>  your own permit types, forms and approval routing, built without code</a:t>
            </a:r>
            <a:endParaRPr lang="en-US" sz="1180" dirty="0"/>
          </a:p>
        </p:txBody>
      </p:sp>
      <p:sp>
        <p:nvSpPr>
          <p:cNvPr id="14" name="Shape 10"/>
          <p:cNvSpPr/>
          <p:nvPr/>
        </p:nvSpPr>
        <p:spPr>
          <a:xfrm>
            <a:off x="886968" y="3656685"/>
            <a:ext cx="118872" cy="118872"/>
          </a:xfrm>
          <a:prstGeom prst="ellipse">
            <a:avLst/>
          </a:prstGeom>
          <a:solidFill>
            <a:srgbClr val="C9922E"/>
          </a:solidFill>
          <a:ln/>
        </p:spPr>
        <p:txBody>
          <a:bodyPr/>
          <a:lstStyle/>
          <a:p>
            <a:endParaRPr/>
          </a:p>
        </p:txBody>
      </p:sp>
      <p:sp>
        <p:nvSpPr>
          <p:cNvPr id="15" name="Text 11"/>
          <p:cNvSpPr txBox="1"/>
          <p:nvPr/>
        </p:nvSpPr>
        <p:spPr>
          <a:xfrm>
            <a:off x="1161288" y="363016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Lockout / Tagout</a:t>
            </a:r>
            <a:r>
              <a:rPr lang="en-US" sz="1180" dirty="0">
                <a:solidFill>
                  <a:srgbClr val="6B6B6B"/>
                </a:solidFill>
                <a:latin typeface="Calibri" pitchFamily="34" charset="0"/>
                <a:ea typeface="Calibri" pitchFamily="34" charset="-122"/>
                <a:cs typeface="Calibri" pitchFamily="34" charset="-120"/>
              </a:rPr>
              <a:t>  isolation records interlocked with the permit that needs them</a:t>
            </a:r>
            <a:endParaRPr lang="en-US" sz="1180" dirty="0"/>
          </a:p>
        </p:txBody>
      </p:sp>
      <p:sp>
        <p:nvSpPr>
          <p:cNvPr id="16" name="Shape 12"/>
          <p:cNvSpPr/>
          <p:nvPr/>
        </p:nvSpPr>
        <p:spPr>
          <a:xfrm>
            <a:off x="886968" y="4141317"/>
            <a:ext cx="118872" cy="118872"/>
          </a:xfrm>
          <a:prstGeom prst="ellipse">
            <a:avLst/>
          </a:prstGeom>
          <a:solidFill>
            <a:srgbClr val="C9922E"/>
          </a:solidFill>
          <a:ln/>
        </p:spPr>
        <p:txBody>
          <a:bodyPr/>
          <a:lstStyle/>
          <a:p>
            <a:endParaRPr/>
          </a:p>
        </p:txBody>
      </p:sp>
      <p:sp>
        <p:nvSpPr>
          <p:cNvPr id="17" name="Text 13"/>
          <p:cNvSpPr txBox="1"/>
          <p:nvPr/>
        </p:nvSpPr>
        <p:spPr>
          <a:xfrm>
            <a:off x="1161288" y="411480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Equipment register</a:t>
            </a:r>
            <a:r>
              <a:rPr lang="en-US" sz="1180" dirty="0">
                <a:solidFill>
                  <a:srgbClr val="6B6B6B"/>
                </a:solidFill>
                <a:latin typeface="Calibri" pitchFamily="34" charset="0"/>
                <a:ea typeface="Calibri" pitchFamily="34" charset="-122"/>
                <a:cs typeface="Calibri" pitchFamily="34" charset="-120"/>
              </a:rPr>
              <a:t>  the plant’s assets, QR-labelled, with their full isolation history</a:t>
            </a:r>
            <a:endParaRPr lang="en-US" sz="1180" dirty="0"/>
          </a:p>
        </p:txBody>
      </p:sp>
      <p:sp>
        <p:nvSpPr>
          <p:cNvPr id="18" name="Shape 14"/>
          <p:cNvSpPr/>
          <p:nvPr/>
        </p:nvSpPr>
        <p:spPr>
          <a:xfrm>
            <a:off x="886968" y="4625949"/>
            <a:ext cx="118872" cy="118872"/>
          </a:xfrm>
          <a:prstGeom prst="ellipse">
            <a:avLst/>
          </a:prstGeom>
          <a:solidFill>
            <a:srgbClr val="C9922E"/>
          </a:solidFill>
          <a:ln/>
        </p:spPr>
        <p:txBody>
          <a:bodyPr/>
          <a:lstStyle/>
          <a:p>
            <a:endParaRPr/>
          </a:p>
        </p:txBody>
      </p:sp>
      <p:sp>
        <p:nvSpPr>
          <p:cNvPr id="19" name="Text 15"/>
          <p:cNvSpPr txBox="1"/>
          <p:nvPr/>
        </p:nvSpPr>
        <p:spPr>
          <a:xfrm>
            <a:off x="1161288" y="4599432"/>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Live dashboards</a:t>
            </a:r>
            <a:r>
              <a:rPr lang="en-US" sz="1180" dirty="0">
                <a:solidFill>
                  <a:srgbClr val="6B6B6B"/>
                </a:solidFill>
                <a:latin typeface="Calibri" pitchFamily="34" charset="0"/>
                <a:ea typeface="Calibri" pitchFamily="34" charset="-122"/>
                <a:cs typeface="Calibri" pitchFamily="34" charset="-120"/>
              </a:rPr>
              <a:t>  every open permit, isolation and expiry at a glance</a:t>
            </a:r>
            <a:endParaRPr lang="en-US" sz="1180" dirty="0"/>
          </a:p>
        </p:txBody>
      </p:sp>
      <p:sp>
        <p:nvSpPr>
          <p:cNvPr id="20" name="Shape 16"/>
          <p:cNvSpPr/>
          <p:nvPr/>
        </p:nvSpPr>
        <p:spPr>
          <a:xfrm>
            <a:off x="6199632" y="2212848"/>
            <a:ext cx="5486400" cy="2697480"/>
          </a:xfrm>
          <a:prstGeom prst="roundRect">
            <a:avLst>
              <a:gd name="adj" fmla="val 4068"/>
            </a:avLst>
          </a:prstGeom>
          <a:solidFill>
            <a:srgbClr val="FFFFFF"/>
          </a:solidFill>
          <a:ln w="12700">
            <a:solidFill>
              <a:srgbClr val="E3E3E3"/>
            </a:solidFill>
            <a:prstDash val="solid"/>
          </a:ln>
        </p:spPr>
        <p:txBody>
          <a:bodyPr/>
          <a:lstStyle/>
          <a:p>
            <a:endParaRPr/>
          </a:p>
        </p:txBody>
      </p:sp>
      <p:sp>
        <p:nvSpPr>
          <p:cNvPr id="21" name="Shape 17"/>
          <p:cNvSpPr/>
          <p:nvPr/>
        </p:nvSpPr>
        <p:spPr>
          <a:xfrm>
            <a:off x="6519672" y="2468880"/>
            <a:ext cx="566928" cy="566928"/>
          </a:xfrm>
          <a:prstGeom prst="ellipse">
            <a:avLst/>
          </a:prstGeom>
          <a:solidFill>
            <a:srgbClr val="EFEFEF"/>
          </a:solidFill>
          <a:ln/>
        </p:spPr>
        <p:txBody>
          <a:bodyPr/>
          <a:lstStyle/>
          <a:p>
            <a:endParaRPr/>
          </a:p>
        </p:txBody>
      </p:sp>
      <p:pic>
        <p:nvPicPr>
          <p:cNvPr id="22" name="Image 2" descr="icons/door-navy.png"/>
          <p:cNvPicPr>
            <a:picLocks noChangeAspect="1"/>
          </p:cNvPicPr>
          <p:nvPr/>
        </p:nvPicPr>
        <p:blipFill>
          <a:blip r:embed="rId5"/>
          <a:stretch>
            <a:fillRect/>
          </a:stretch>
        </p:blipFill>
        <p:spPr>
          <a:xfrm>
            <a:off x="6684081" y="2633289"/>
            <a:ext cx="238110" cy="238110"/>
          </a:xfrm>
          <a:prstGeom prst="rect">
            <a:avLst/>
          </a:prstGeom>
        </p:spPr>
      </p:pic>
      <p:sp>
        <p:nvSpPr>
          <p:cNvPr id="23" name="Text 18"/>
          <p:cNvSpPr txBox="1"/>
          <p:nvPr/>
        </p:nvSpPr>
        <p:spPr>
          <a:xfrm>
            <a:off x="7251192" y="2505456"/>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EntryHub - contractors, visitors &amp; the gate</a:t>
            </a:r>
            <a:endParaRPr lang="en-US" sz="1700" dirty="0"/>
          </a:p>
        </p:txBody>
      </p:sp>
      <p:sp>
        <p:nvSpPr>
          <p:cNvPr id="24" name="Shape 19"/>
          <p:cNvSpPr/>
          <p:nvPr/>
        </p:nvSpPr>
        <p:spPr>
          <a:xfrm>
            <a:off x="6583680" y="3172053"/>
            <a:ext cx="118872" cy="118872"/>
          </a:xfrm>
          <a:prstGeom prst="ellipse">
            <a:avLst/>
          </a:prstGeom>
          <a:solidFill>
            <a:srgbClr val="C9922E"/>
          </a:solidFill>
          <a:ln/>
        </p:spPr>
        <p:txBody>
          <a:bodyPr/>
          <a:lstStyle/>
          <a:p>
            <a:endParaRPr/>
          </a:p>
        </p:txBody>
      </p:sp>
      <p:sp>
        <p:nvSpPr>
          <p:cNvPr id="25" name="Text 20"/>
          <p:cNvSpPr txBox="1"/>
          <p:nvPr/>
        </p:nvSpPr>
        <p:spPr>
          <a:xfrm>
            <a:off x="6858000" y="314553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Contractor management</a:t>
            </a:r>
            <a:r>
              <a:rPr lang="en-US" sz="1180" dirty="0">
                <a:solidFill>
                  <a:srgbClr val="6B6B6B"/>
                </a:solidFill>
                <a:latin typeface="Calibri" pitchFamily="34" charset="0"/>
                <a:ea typeface="Calibri" pitchFamily="34" charset="-122"/>
                <a:cs typeface="Calibri" pitchFamily="34" charset="-120"/>
              </a:rPr>
              <a:t>  firms, workers, their papers and the CLRA headcount cap</a:t>
            </a:r>
            <a:endParaRPr lang="en-US" sz="1180" dirty="0"/>
          </a:p>
        </p:txBody>
      </p:sp>
      <p:sp>
        <p:nvSpPr>
          <p:cNvPr id="26" name="Shape 21"/>
          <p:cNvSpPr/>
          <p:nvPr/>
        </p:nvSpPr>
        <p:spPr>
          <a:xfrm>
            <a:off x="6583680" y="3656685"/>
            <a:ext cx="118872" cy="118872"/>
          </a:xfrm>
          <a:prstGeom prst="ellipse">
            <a:avLst/>
          </a:prstGeom>
          <a:solidFill>
            <a:srgbClr val="C9922E"/>
          </a:solidFill>
          <a:ln/>
        </p:spPr>
        <p:txBody>
          <a:bodyPr/>
          <a:lstStyle/>
          <a:p>
            <a:endParaRPr/>
          </a:p>
        </p:txBody>
      </p:sp>
      <p:sp>
        <p:nvSpPr>
          <p:cNvPr id="27" name="Text 22"/>
          <p:cNvSpPr txBox="1"/>
          <p:nvPr/>
        </p:nvSpPr>
        <p:spPr>
          <a:xfrm>
            <a:off x="6858000" y="363016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Visitor management</a:t>
            </a:r>
            <a:r>
              <a:rPr lang="en-US" sz="1180" dirty="0">
                <a:solidFill>
                  <a:srgbClr val="6B6B6B"/>
                </a:solidFill>
                <a:latin typeface="Calibri" pitchFamily="34" charset="0"/>
                <a:ea typeface="Calibri" pitchFamily="34" charset="-122"/>
                <a:cs typeface="Calibri" pitchFamily="34" charset="-120"/>
              </a:rPr>
              <a:t>  booking, badge, host approval and walk-ins at the barrier</a:t>
            </a:r>
            <a:endParaRPr lang="en-US" sz="1180" dirty="0"/>
          </a:p>
        </p:txBody>
      </p:sp>
      <p:sp>
        <p:nvSpPr>
          <p:cNvPr id="28" name="Shape 23"/>
          <p:cNvSpPr/>
          <p:nvPr/>
        </p:nvSpPr>
        <p:spPr>
          <a:xfrm>
            <a:off x="6583680" y="4141317"/>
            <a:ext cx="118872" cy="118872"/>
          </a:xfrm>
          <a:prstGeom prst="ellipse">
            <a:avLst/>
          </a:prstGeom>
          <a:solidFill>
            <a:srgbClr val="C9922E"/>
          </a:solidFill>
          <a:ln/>
        </p:spPr>
        <p:txBody>
          <a:bodyPr/>
          <a:lstStyle/>
          <a:p>
            <a:endParaRPr/>
          </a:p>
        </p:txBody>
      </p:sp>
      <p:sp>
        <p:nvSpPr>
          <p:cNvPr id="29" name="Text 24"/>
          <p:cNvSpPr txBox="1"/>
          <p:nvPr/>
        </p:nvSpPr>
        <p:spPr>
          <a:xfrm>
            <a:off x="6858000" y="411480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gate</a:t>
            </a:r>
            <a:r>
              <a:rPr lang="en-US" sz="1180" dirty="0">
                <a:solidFill>
                  <a:srgbClr val="6B6B6B"/>
                </a:solidFill>
                <a:latin typeface="Calibri" pitchFamily="34" charset="0"/>
                <a:ea typeface="Calibri" pitchFamily="34" charset="-122"/>
                <a:cs typeface="Calibri" pitchFamily="34" charset="-120"/>
              </a:rPr>
              <a:t>  one scan box, four verdicts, every decision made on the server</a:t>
            </a:r>
            <a:endParaRPr lang="en-US" sz="1180" dirty="0"/>
          </a:p>
        </p:txBody>
      </p:sp>
      <p:sp>
        <p:nvSpPr>
          <p:cNvPr id="30" name="Shape 25"/>
          <p:cNvSpPr/>
          <p:nvPr/>
        </p:nvSpPr>
        <p:spPr>
          <a:xfrm>
            <a:off x="6583680" y="4443069"/>
            <a:ext cx="118872" cy="118872"/>
          </a:xfrm>
          <a:prstGeom prst="ellipse">
            <a:avLst/>
          </a:prstGeom>
          <a:solidFill>
            <a:srgbClr val="C9922E"/>
          </a:solidFill>
          <a:ln/>
        </p:spPr>
        <p:txBody>
          <a:bodyPr/>
          <a:lstStyle/>
          <a:p>
            <a:endParaRPr/>
          </a:p>
        </p:txBody>
      </p:sp>
      <p:sp>
        <p:nvSpPr>
          <p:cNvPr id="31" name="Text 26"/>
          <p:cNvSpPr txBox="1"/>
          <p:nvPr/>
        </p:nvSpPr>
        <p:spPr>
          <a:xfrm>
            <a:off x="6858000" y="4416552"/>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Who is inside</a:t>
            </a:r>
            <a:r>
              <a:rPr lang="en-US" sz="1180" dirty="0">
                <a:solidFill>
                  <a:srgbClr val="6B6B6B"/>
                </a:solidFill>
                <a:latin typeface="Calibri" pitchFamily="34" charset="0"/>
                <a:ea typeface="Calibri" pitchFamily="34" charset="-122"/>
                <a:cs typeface="Calibri" pitchFamily="34" charset="-120"/>
              </a:rPr>
              <a:t>  a movement log, a live board and an evacuation roll</a:t>
            </a:r>
            <a:endParaRPr lang="en-US" sz="1180" dirty="0"/>
          </a:p>
        </p:txBody>
      </p:sp>
      <p:sp>
        <p:nvSpPr>
          <p:cNvPr id="32" name="Shape 27"/>
          <p:cNvSpPr/>
          <p:nvPr/>
        </p:nvSpPr>
        <p:spPr>
          <a:xfrm>
            <a:off x="502920"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33" name="Shape 28"/>
          <p:cNvSpPr/>
          <p:nvPr/>
        </p:nvSpPr>
        <p:spPr>
          <a:xfrm>
            <a:off x="740664" y="5385816"/>
            <a:ext cx="420624" cy="420624"/>
          </a:xfrm>
          <a:prstGeom prst="ellipse">
            <a:avLst/>
          </a:prstGeom>
          <a:solidFill>
            <a:srgbClr val="111111"/>
          </a:solidFill>
          <a:ln/>
        </p:spPr>
        <p:txBody>
          <a:bodyPr/>
          <a:lstStyle/>
          <a:p>
            <a:endParaRPr/>
          </a:p>
        </p:txBody>
      </p:sp>
      <p:pic>
        <p:nvPicPr>
          <p:cNvPr id="34" name="Image 3" descr="icons/building-white.png"/>
          <p:cNvPicPr>
            <a:picLocks noChangeAspect="1"/>
          </p:cNvPicPr>
          <p:nvPr/>
        </p:nvPicPr>
        <p:blipFill>
          <a:blip r:embed="rId6"/>
          <a:stretch>
            <a:fillRect/>
          </a:stretch>
        </p:blipFill>
        <p:spPr>
          <a:xfrm>
            <a:off x="859536" y="5509260"/>
            <a:ext cx="173736" cy="173736"/>
          </a:xfrm>
          <a:prstGeom prst="rect">
            <a:avLst/>
          </a:prstGeom>
        </p:spPr>
      </p:pic>
      <p:sp>
        <p:nvSpPr>
          <p:cNvPr id="35" name="Text 29"/>
          <p:cNvSpPr txBox="1"/>
          <p:nvPr/>
        </p:nvSpPr>
        <p:spPr>
          <a:xfrm>
            <a:off x="1234440"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One customer, one org tree</a:t>
            </a:r>
            <a:endParaRPr lang="en-US" sz="1150" dirty="0"/>
          </a:p>
        </p:txBody>
      </p:sp>
      <p:sp>
        <p:nvSpPr>
          <p:cNvPr id="36" name="Shape 30"/>
          <p:cNvSpPr/>
          <p:nvPr/>
        </p:nvSpPr>
        <p:spPr>
          <a:xfrm>
            <a:off x="3493008"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37" name="Shape 31"/>
          <p:cNvSpPr/>
          <p:nvPr/>
        </p:nvSpPr>
        <p:spPr>
          <a:xfrm>
            <a:off x="3730752" y="5385816"/>
            <a:ext cx="420624" cy="420624"/>
          </a:xfrm>
          <a:prstGeom prst="ellipse">
            <a:avLst/>
          </a:prstGeom>
          <a:solidFill>
            <a:srgbClr val="111111"/>
          </a:solidFill>
          <a:ln/>
        </p:spPr>
        <p:txBody>
          <a:bodyPr/>
          <a:lstStyle/>
          <a:p>
            <a:endParaRPr/>
          </a:p>
        </p:txBody>
      </p:sp>
      <p:pic>
        <p:nvPicPr>
          <p:cNvPr id="38" name="Image 4" descr="icons/key-white.png"/>
          <p:cNvPicPr>
            <a:picLocks noChangeAspect="1"/>
          </p:cNvPicPr>
          <p:nvPr/>
        </p:nvPicPr>
        <p:blipFill>
          <a:blip r:embed="rId7"/>
          <a:stretch>
            <a:fillRect/>
          </a:stretch>
        </p:blipFill>
        <p:spPr>
          <a:xfrm>
            <a:off x="3849624" y="5509260"/>
            <a:ext cx="173736" cy="173736"/>
          </a:xfrm>
          <a:prstGeom prst="rect">
            <a:avLst/>
          </a:prstGeom>
        </p:spPr>
      </p:pic>
      <p:sp>
        <p:nvSpPr>
          <p:cNvPr id="39" name="Text 32"/>
          <p:cNvSpPr txBox="1"/>
          <p:nvPr/>
        </p:nvSpPr>
        <p:spPr>
          <a:xfrm>
            <a:off x="4224528"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One sign-in, one role list</a:t>
            </a:r>
            <a:endParaRPr lang="en-US" sz="1150" dirty="0"/>
          </a:p>
        </p:txBody>
      </p:sp>
      <p:sp>
        <p:nvSpPr>
          <p:cNvPr id="40" name="Shape 33"/>
          <p:cNvSpPr/>
          <p:nvPr/>
        </p:nvSpPr>
        <p:spPr>
          <a:xfrm>
            <a:off x="6483096"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41" name="Shape 34"/>
          <p:cNvSpPr/>
          <p:nvPr/>
        </p:nvSpPr>
        <p:spPr>
          <a:xfrm>
            <a:off x="6720840" y="5385816"/>
            <a:ext cx="420624" cy="420624"/>
          </a:xfrm>
          <a:prstGeom prst="ellipse">
            <a:avLst/>
          </a:prstGeom>
          <a:solidFill>
            <a:srgbClr val="111111"/>
          </a:solidFill>
          <a:ln/>
        </p:spPr>
        <p:txBody>
          <a:bodyPr/>
          <a:lstStyle/>
          <a:p>
            <a:endParaRPr/>
          </a:p>
        </p:txBody>
      </p:sp>
      <p:pic>
        <p:nvPicPr>
          <p:cNvPr id="42" name="Image 5" descr="orig/ppt/media/image22.png"/>
          <p:cNvPicPr>
            <a:picLocks noChangeAspect="1"/>
          </p:cNvPicPr>
          <p:nvPr/>
        </p:nvPicPr>
        <p:blipFill>
          <a:blip r:embed="rId8"/>
          <a:stretch>
            <a:fillRect/>
          </a:stretch>
        </p:blipFill>
        <p:spPr>
          <a:xfrm>
            <a:off x="6839712" y="5509260"/>
            <a:ext cx="173736" cy="173736"/>
          </a:xfrm>
          <a:prstGeom prst="rect">
            <a:avLst/>
          </a:prstGeom>
        </p:spPr>
      </p:pic>
      <p:sp>
        <p:nvSpPr>
          <p:cNvPr id="43" name="Text 35"/>
          <p:cNvSpPr txBox="1"/>
          <p:nvPr/>
        </p:nvSpPr>
        <p:spPr>
          <a:xfrm>
            <a:off x="7214616"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One Access</a:t>
            </a:r>
            <a:endParaRPr lang="en-US" sz="1150" dirty="0"/>
          </a:p>
        </p:txBody>
      </p:sp>
      <p:sp>
        <p:nvSpPr>
          <p:cNvPr id="44" name="Shape 36"/>
          <p:cNvSpPr/>
          <p:nvPr/>
        </p:nvSpPr>
        <p:spPr>
          <a:xfrm>
            <a:off x="9473184"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45" name="Shape 37"/>
          <p:cNvSpPr/>
          <p:nvPr/>
        </p:nvSpPr>
        <p:spPr>
          <a:xfrm>
            <a:off x="9710928" y="5385816"/>
            <a:ext cx="420624" cy="420624"/>
          </a:xfrm>
          <a:prstGeom prst="ellipse">
            <a:avLst/>
          </a:prstGeom>
          <a:solidFill>
            <a:srgbClr val="111111"/>
          </a:solidFill>
          <a:ln/>
        </p:spPr>
        <p:txBody>
          <a:bodyPr/>
          <a:lstStyle/>
          <a:p>
            <a:endParaRPr/>
          </a:p>
        </p:txBody>
      </p:sp>
      <p:pic>
        <p:nvPicPr>
          <p:cNvPr id="46" name="Image 6" descr="icons/link-white.png"/>
          <p:cNvPicPr>
            <a:picLocks noChangeAspect="1"/>
          </p:cNvPicPr>
          <p:nvPr/>
        </p:nvPicPr>
        <p:blipFill>
          <a:blip r:embed="rId9"/>
          <a:stretch>
            <a:fillRect/>
          </a:stretch>
        </p:blipFill>
        <p:spPr>
          <a:xfrm>
            <a:off x="9829800" y="5509260"/>
            <a:ext cx="173736" cy="173736"/>
          </a:xfrm>
          <a:prstGeom prst="rect">
            <a:avLst/>
          </a:prstGeom>
        </p:spPr>
      </p:pic>
      <p:sp>
        <p:nvSpPr>
          <p:cNvPr id="47" name="Text 38"/>
          <p:cNvSpPr txBox="1"/>
          <p:nvPr/>
        </p:nvSpPr>
        <p:spPr>
          <a:xfrm>
            <a:off x="10204704"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Sold together or separately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PERMIT · HOW IT WORKS</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One simple system for every permit</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A worker raises a permit from a form you design. It follows the approval path you define, it is issued to the field under a fixed validity window, and it is closed with a </a:t>
            </a:r>
            <a:r>
              <a:rPr lang="en-US" sz="1400" b="1" dirty="0">
                <a:solidFill>
                  <a:srgbClr val="111111"/>
                </a:solidFill>
                <a:latin typeface="Calibri" pitchFamily="34" charset="0"/>
                <a:ea typeface="Calibri" pitchFamily="34" charset="-122"/>
                <a:cs typeface="Calibri" pitchFamily="34" charset="-120"/>
              </a:rPr>
              <a:t>complete record, automatic alerts and live dashboards</a:t>
            </a:r>
            <a:r>
              <a:rPr lang="en-US" sz="1400" dirty="0">
                <a:solidFill>
                  <a:srgbClr val="6B6B6B"/>
                </a:solidFill>
                <a:latin typeface="Calibri" pitchFamily="34" charset="0"/>
                <a:ea typeface="Calibri" pitchFamily="34" charset="-122"/>
                <a:cs typeface="Calibri" pitchFamily="34" charset="-120"/>
              </a:rPr>
              <a:t> at every step.</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
        <p:nvSpPr>
          <p:cNvPr id="8" name="Text 5"/>
          <p:cNvSpPr txBox="1"/>
          <p:nvPr/>
        </p:nvSpPr>
        <p:spPr>
          <a:xfrm>
            <a:off x="502920" y="2468880"/>
            <a:ext cx="7772400"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How a permit moves through Permit</a:t>
            </a:r>
            <a:endParaRPr lang="en-US" sz="1700" dirty="0"/>
          </a:p>
        </p:txBody>
      </p:sp>
      <p:sp>
        <p:nvSpPr>
          <p:cNvPr id="9" name="Shape 6"/>
          <p:cNvSpPr/>
          <p:nvPr/>
        </p:nvSpPr>
        <p:spPr>
          <a:xfrm>
            <a:off x="1737360" y="3566160"/>
            <a:ext cx="8778240" cy="0"/>
          </a:xfrm>
          <a:prstGeom prst="line">
            <a:avLst/>
          </a:prstGeom>
          <a:noFill/>
          <a:ln w="12700">
            <a:solidFill>
              <a:srgbClr val="3A3A3A"/>
            </a:solidFill>
            <a:prstDash val="dash"/>
          </a:ln>
        </p:spPr>
        <p:txBody>
          <a:bodyPr/>
          <a:lstStyle/>
          <a:p>
            <a:endParaRPr/>
          </a:p>
        </p:txBody>
      </p:sp>
      <p:sp>
        <p:nvSpPr>
          <p:cNvPr id="10" name="Shape 7"/>
          <p:cNvSpPr/>
          <p:nvPr/>
        </p:nvSpPr>
        <p:spPr>
          <a:xfrm>
            <a:off x="1307592" y="3127248"/>
            <a:ext cx="868680" cy="868680"/>
          </a:xfrm>
          <a:prstGeom prst="ellipse">
            <a:avLst/>
          </a:prstGeom>
          <a:solidFill>
            <a:srgbClr val="111111"/>
          </a:solidFill>
          <a:ln w="12700">
            <a:solidFill>
              <a:srgbClr val="3A3A3A"/>
            </a:solidFill>
            <a:prstDash val="solid"/>
          </a:ln>
        </p:spPr>
        <p:txBody>
          <a:bodyPr/>
          <a:lstStyle/>
          <a:p>
            <a:endParaRPr/>
          </a:p>
        </p:txBody>
      </p:sp>
      <p:pic>
        <p:nvPicPr>
          <p:cNvPr id="11" name="Image 1" descr="orig/ppt/media/image8.png"/>
          <p:cNvPicPr>
            <a:picLocks noChangeAspect="1"/>
          </p:cNvPicPr>
          <p:nvPr/>
        </p:nvPicPr>
        <p:blipFill>
          <a:blip r:embed="rId4"/>
          <a:stretch>
            <a:fillRect/>
          </a:stretch>
        </p:blipFill>
        <p:spPr>
          <a:xfrm>
            <a:off x="1549908" y="3369564"/>
            <a:ext cx="384048" cy="384048"/>
          </a:xfrm>
          <a:prstGeom prst="rect">
            <a:avLst/>
          </a:prstGeom>
        </p:spPr>
      </p:pic>
      <p:sp>
        <p:nvSpPr>
          <p:cNvPr id="12" name="Shape 8"/>
          <p:cNvSpPr/>
          <p:nvPr/>
        </p:nvSpPr>
        <p:spPr>
          <a:xfrm>
            <a:off x="1865376" y="3072384"/>
            <a:ext cx="384048" cy="384048"/>
          </a:xfrm>
          <a:prstGeom prst="ellipse">
            <a:avLst/>
          </a:prstGeom>
          <a:solidFill>
            <a:srgbClr val="C9922E"/>
          </a:solidFill>
          <a:ln w="12700">
            <a:solidFill>
              <a:srgbClr val="FFFFFF"/>
            </a:solidFill>
            <a:prstDash val="solid"/>
          </a:ln>
        </p:spPr>
        <p:txBody>
          <a:bodyPr/>
          <a:lstStyle/>
          <a:p>
            <a:endParaRPr/>
          </a:p>
        </p:txBody>
      </p:sp>
      <p:sp>
        <p:nvSpPr>
          <p:cNvPr id="13" name="Text 9"/>
          <p:cNvSpPr txBox="1"/>
          <p:nvPr/>
        </p:nvSpPr>
        <p:spPr>
          <a:xfrm>
            <a:off x="1865376" y="3072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1</a:t>
            </a:r>
            <a:endParaRPr lang="en-US" sz="1400" dirty="0"/>
          </a:p>
        </p:txBody>
      </p:sp>
      <p:sp>
        <p:nvSpPr>
          <p:cNvPr id="14" name="Text 10"/>
          <p:cNvSpPr txBox="1"/>
          <p:nvPr/>
        </p:nvSpPr>
        <p:spPr>
          <a:xfrm>
            <a:off x="640080" y="4105656"/>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Request</a:t>
            </a:r>
            <a:endParaRPr lang="en-US" sz="1500" dirty="0"/>
          </a:p>
        </p:txBody>
      </p:sp>
      <p:sp>
        <p:nvSpPr>
          <p:cNvPr id="15" name="Text 11"/>
          <p:cNvSpPr txBox="1"/>
          <p:nvPr/>
        </p:nvSpPr>
        <p:spPr>
          <a:xfrm>
            <a:off x="731520" y="4453128"/>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Raise from a template in a click; smart fields auto-fill</a:t>
            </a:r>
            <a:endParaRPr lang="en-US" sz="1100" dirty="0"/>
          </a:p>
        </p:txBody>
      </p:sp>
      <p:sp>
        <p:nvSpPr>
          <p:cNvPr id="16" name="Shape 12"/>
          <p:cNvSpPr/>
          <p:nvPr/>
        </p:nvSpPr>
        <p:spPr>
          <a:xfrm>
            <a:off x="3502152" y="3127248"/>
            <a:ext cx="868680" cy="868680"/>
          </a:xfrm>
          <a:prstGeom prst="ellipse">
            <a:avLst/>
          </a:prstGeom>
          <a:solidFill>
            <a:srgbClr val="111111"/>
          </a:solidFill>
          <a:ln w="12700">
            <a:solidFill>
              <a:srgbClr val="3A3A3A"/>
            </a:solidFill>
            <a:prstDash val="solid"/>
          </a:ln>
        </p:spPr>
        <p:txBody>
          <a:bodyPr/>
          <a:lstStyle/>
          <a:p>
            <a:endParaRPr/>
          </a:p>
        </p:txBody>
      </p:sp>
      <p:pic>
        <p:nvPicPr>
          <p:cNvPr id="17" name="Image 2" descr="orig/ppt/media/image9.png"/>
          <p:cNvPicPr>
            <a:picLocks noChangeAspect="1"/>
          </p:cNvPicPr>
          <p:nvPr/>
        </p:nvPicPr>
        <p:blipFill>
          <a:blip r:embed="rId5"/>
          <a:stretch>
            <a:fillRect/>
          </a:stretch>
        </p:blipFill>
        <p:spPr>
          <a:xfrm>
            <a:off x="3744468" y="3369564"/>
            <a:ext cx="384048" cy="384048"/>
          </a:xfrm>
          <a:prstGeom prst="rect">
            <a:avLst/>
          </a:prstGeom>
        </p:spPr>
      </p:pic>
      <p:sp>
        <p:nvSpPr>
          <p:cNvPr id="18" name="Shape 13"/>
          <p:cNvSpPr/>
          <p:nvPr/>
        </p:nvSpPr>
        <p:spPr>
          <a:xfrm>
            <a:off x="4059936" y="3072384"/>
            <a:ext cx="384048" cy="384048"/>
          </a:xfrm>
          <a:prstGeom prst="ellipse">
            <a:avLst/>
          </a:prstGeom>
          <a:solidFill>
            <a:srgbClr val="C9922E"/>
          </a:solidFill>
          <a:ln w="12700">
            <a:solidFill>
              <a:srgbClr val="FFFFFF"/>
            </a:solidFill>
            <a:prstDash val="solid"/>
          </a:ln>
        </p:spPr>
        <p:txBody>
          <a:bodyPr/>
          <a:lstStyle/>
          <a:p>
            <a:endParaRPr/>
          </a:p>
        </p:txBody>
      </p:sp>
      <p:sp>
        <p:nvSpPr>
          <p:cNvPr id="19" name="Text 14"/>
          <p:cNvSpPr txBox="1"/>
          <p:nvPr/>
        </p:nvSpPr>
        <p:spPr>
          <a:xfrm>
            <a:off x="4059936" y="3072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2</a:t>
            </a:r>
            <a:endParaRPr lang="en-US" sz="1400" dirty="0"/>
          </a:p>
        </p:txBody>
      </p:sp>
      <p:sp>
        <p:nvSpPr>
          <p:cNvPr id="20" name="Text 15"/>
          <p:cNvSpPr txBox="1"/>
          <p:nvPr/>
        </p:nvSpPr>
        <p:spPr>
          <a:xfrm>
            <a:off x="2834640" y="4105656"/>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Approve</a:t>
            </a:r>
            <a:endParaRPr lang="en-US" sz="1500" dirty="0"/>
          </a:p>
        </p:txBody>
      </p:sp>
      <p:sp>
        <p:nvSpPr>
          <p:cNvPr id="21" name="Text 16"/>
          <p:cNvSpPr txBox="1"/>
          <p:nvPr/>
        </p:nvSpPr>
        <p:spPr>
          <a:xfrm>
            <a:off x="2926080" y="4453128"/>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Routed by department and role, in sequence or in parallel</a:t>
            </a:r>
            <a:endParaRPr lang="en-US" sz="1100" dirty="0"/>
          </a:p>
        </p:txBody>
      </p:sp>
      <p:sp>
        <p:nvSpPr>
          <p:cNvPr id="22" name="Shape 17"/>
          <p:cNvSpPr/>
          <p:nvPr/>
        </p:nvSpPr>
        <p:spPr>
          <a:xfrm>
            <a:off x="5696712" y="3127248"/>
            <a:ext cx="868680" cy="868680"/>
          </a:xfrm>
          <a:prstGeom prst="ellipse">
            <a:avLst/>
          </a:prstGeom>
          <a:solidFill>
            <a:srgbClr val="111111"/>
          </a:solidFill>
          <a:ln w="12700">
            <a:solidFill>
              <a:srgbClr val="3A3A3A"/>
            </a:solidFill>
            <a:prstDash val="solid"/>
          </a:ln>
        </p:spPr>
        <p:txBody>
          <a:bodyPr/>
          <a:lstStyle/>
          <a:p>
            <a:endParaRPr/>
          </a:p>
        </p:txBody>
      </p:sp>
      <p:pic>
        <p:nvPicPr>
          <p:cNvPr id="23" name="Image 3" descr="orig/ppt/media/image10.png"/>
          <p:cNvPicPr>
            <a:picLocks noChangeAspect="1"/>
          </p:cNvPicPr>
          <p:nvPr/>
        </p:nvPicPr>
        <p:blipFill>
          <a:blip r:embed="rId6"/>
          <a:stretch>
            <a:fillRect/>
          </a:stretch>
        </p:blipFill>
        <p:spPr>
          <a:xfrm>
            <a:off x="5939028" y="3369564"/>
            <a:ext cx="384048" cy="384048"/>
          </a:xfrm>
          <a:prstGeom prst="rect">
            <a:avLst/>
          </a:prstGeom>
        </p:spPr>
      </p:pic>
      <p:sp>
        <p:nvSpPr>
          <p:cNvPr id="24" name="Shape 18"/>
          <p:cNvSpPr/>
          <p:nvPr/>
        </p:nvSpPr>
        <p:spPr>
          <a:xfrm>
            <a:off x="6254496" y="3072384"/>
            <a:ext cx="384048" cy="384048"/>
          </a:xfrm>
          <a:prstGeom prst="ellipse">
            <a:avLst/>
          </a:prstGeom>
          <a:solidFill>
            <a:srgbClr val="C9922E"/>
          </a:solidFill>
          <a:ln w="12700">
            <a:solidFill>
              <a:srgbClr val="FFFFFF"/>
            </a:solidFill>
            <a:prstDash val="solid"/>
          </a:ln>
        </p:spPr>
        <p:txBody>
          <a:bodyPr/>
          <a:lstStyle/>
          <a:p>
            <a:endParaRPr/>
          </a:p>
        </p:txBody>
      </p:sp>
      <p:sp>
        <p:nvSpPr>
          <p:cNvPr id="25" name="Text 19"/>
          <p:cNvSpPr txBox="1"/>
          <p:nvPr/>
        </p:nvSpPr>
        <p:spPr>
          <a:xfrm>
            <a:off x="6254496" y="3072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3</a:t>
            </a:r>
            <a:endParaRPr lang="en-US" sz="1400" dirty="0"/>
          </a:p>
        </p:txBody>
      </p:sp>
      <p:sp>
        <p:nvSpPr>
          <p:cNvPr id="26" name="Text 20"/>
          <p:cNvSpPr txBox="1"/>
          <p:nvPr/>
        </p:nvSpPr>
        <p:spPr>
          <a:xfrm>
            <a:off x="5029200" y="4105656"/>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Activate</a:t>
            </a:r>
            <a:endParaRPr lang="en-US" sz="1500" dirty="0"/>
          </a:p>
        </p:txBody>
      </p:sp>
      <p:sp>
        <p:nvSpPr>
          <p:cNvPr id="27" name="Text 21"/>
          <p:cNvSpPr txBox="1"/>
          <p:nvPr/>
        </p:nvSpPr>
        <p:spPr>
          <a:xfrm>
            <a:off x="5120640" y="4453128"/>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Issued with a validity window and an activation PDF</a:t>
            </a:r>
            <a:endParaRPr lang="en-US" sz="1100" dirty="0"/>
          </a:p>
        </p:txBody>
      </p:sp>
      <p:sp>
        <p:nvSpPr>
          <p:cNvPr id="28" name="Shape 22"/>
          <p:cNvSpPr/>
          <p:nvPr/>
        </p:nvSpPr>
        <p:spPr>
          <a:xfrm>
            <a:off x="7891272" y="3127248"/>
            <a:ext cx="868680" cy="868680"/>
          </a:xfrm>
          <a:prstGeom prst="ellipse">
            <a:avLst/>
          </a:prstGeom>
          <a:solidFill>
            <a:srgbClr val="111111"/>
          </a:solidFill>
          <a:ln w="12700">
            <a:solidFill>
              <a:srgbClr val="3A3A3A"/>
            </a:solidFill>
            <a:prstDash val="solid"/>
          </a:ln>
        </p:spPr>
        <p:txBody>
          <a:bodyPr/>
          <a:lstStyle/>
          <a:p>
            <a:endParaRPr/>
          </a:p>
        </p:txBody>
      </p:sp>
      <p:pic>
        <p:nvPicPr>
          <p:cNvPr id="29" name="Image 4" descr="orig/ppt/media/image11.png"/>
          <p:cNvPicPr>
            <a:picLocks noChangeAspect="1"/>
          </p:cNvPicPr>
          <p:nvPr/>
        </p:nvPicPr>
        <p:blipFill>
          <a:blip r:embed="rId7"/>
          <a:stretch>
            <a:fillRect/>
          </a:stretch>
        </p:blipFill>
        <p:spPr>
          <a:xfrm>
            <a:off x="8133588" y="3369564"/>
            <a:ext cx="384048" cy="384048"/>
          </a:xfrm>
          <a:prstGeom prst="rect">
            <a:avLst/>
          </a:prstGeom>
        </p:spPr>
      </p:pic>
      <p:sp>
        <p:nvSpPr>
          <p:cNvPr id="30" name="Shape 23"/>
          <p:cNvSpPr/>
          <p:nvPr/>
        </p:nvSpPr>
        <p:spPr>
          <a:xfrm>
            <a:off x="8449056" y="3072384"/>
            <a:ext cx="384048" cy="384048"/>
          </a:xfrm>
          <a:prstGeom prst="ellipse">
            <a:avLst/>
          </a:prstGeom>
          <a:solidFill>
            <a:srgbClr val="C9922E"/>
          </a:solidFill>
          <a:ln w="12700">
            <a:solidFill>
              <a:srgbClr val="FFFFFF"/>
            </a:solidFill>
            <a:prstDash val="solid"/>
          </a:ln>
        </p:spPr>
        <p:txBody>
          <a:bodyPr/>
          <a:lstStyle/>
          <a:p>
            <a:endParaRPr/>
          </a:p>
        </p:txBody>
      </p:sp>
      <p:sp>
        <p:nvSpPr>
          <p:cNvPr id="31" name="Text 24"/>
          <p:cNvSpPr txBox="1"/>
          <p:nvPr/>
        </p:nvSpPr>
        <p:spPr>
          <a:xfrm>
            <a:off x="8449056" y="3072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4</a:t>
            </a:r>
            <a:endParaRPr lang="en-US" sz="1400" dirty="0"/>
          </a:p>
        </p:txBody>
      </p:sp>
      <p:sp>
        <p:nvSpPr>
          <p:cNvPr id="32" name="Text 25"/>
          <p:cNvSpPr txBox="1"/>
          <p:nvPr/>
        </p:nvSpPr>
        <p:spPr>
          <a:xfrm>
            <a:off x="7223760" y="4105656"/>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Work</a:t>
            </a:r>
            <a:endParaRPr lang="en-US" sz="1500" dirty="0"/>
          </a:p>
        </p:txBody>
      </p:sp>
      <p:sp>
        <p:nvSpPr>
          <p:cNvPr id="33" name="Text 26"/>
          <p:cNvSpPr txBox="1"/>
          <p:nvPr/>
        </p:nvSpPr>
        <p:spPr>
          <a:xfrm>
            <a:off x="7315200" y="4453128"/>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Monitored live; suspend, extend or renew as needed</a:t>
            </a:r>
            <a:endParaRPr lang="en-US" sz="1100" dirty="0"/>
          </a:p>
        </p:txBody>
      </p:sp>
      <p:sp>
        <p:nvSpPr>
          <p:cNvPr id="34" name="Shape 27"/>
          <p:cNvSpPr/>
          <p:nvPr/>
        </p:nvSpPr>
        <p:spPr>
          <a:xfrm>
            <a:off x="10085832" y="3127248"/>
            <a:ext cx="868680" cy="868680"/>
          </a:xfrm>
          <a:prstGeom prst="ellipse">
            <a:avLst/>
          </a:prstGeom>
          <a:solidFill>
            <a:srgbClr val="111111"/>
          </a:solidFill>
          <a:ln w="12700">
            <a:solidFill>
              <a:srgbClr val="3A3A3A"/>
            </a:solidFill>
            <a:prstDash val="solid"/>
          </a:ln>
        </p:spPr>
        <p:txBody>
          <a:bodyPr/>
          <a:lstStyle/>
          <a:p>
            <a:endParaRPr/>
          </a:p>
        </p:txBody>
      </p:sp>
      <p:pic>
        <p:nvPicPr>
          <p:cNvPr id="35" name="Image 5" descr="orig/ppt/media/image12.png"/>
          <p:cNvPicPr>
            <a:picLocks noChangeAspect="1"/>
          </p:cNvPicPr>
          <p:nvPr/>
        </p:nvPicPr>
        <p:blipFill>
          <a:blip r:embed="rId8"/>
          <a:stretch>
            <a:fillRect/>
          </a:stretch>
        </p:blipFill>
        <p:spPr>
          <a:xfrm>
            <a:off x="10328148" y="3369564"/>
            <a:ext cx="384048" cy="384048"/>
          </a:xfrm>
          <a:prstGeom prst="rect">
            <a:avLst/>
          </a:prstGeom>
        </p:spPr>
      </p:pic>
      <p:sp>
        <p:nvSpPr>
          <p:cNvPr id="36" name="Shape 28"/>
          <p:cNvSpPr/>
          <p:nvPr/>
        </p:nvSpPr>
        <p:spPr>
          <a:xfrm>
            <a:off x="10643616" y="3072384"/>
            <a:ext cx="384048" cy="384048"/>
          </a:xfrm>
          <a:prstGeom prst="ellipse">
            <a:avLst/>
          </a:prstGeom>
          <a:solidFill>
            <a:srgbClr val="C9922E"/>
          </a:solidFill>
          <a:ln w="12700">
            <a:solidFill>
              <a:srgbClr val="FFFFFF"/>
            </a:solidFill>
            <a:prstDash val="solid"/>
          </a:ln>
        </p:spPr>
        <p:txBody>
          <a:bodyPr/>
          <a:lstStyle/>
          <a:p>
            <a:endParaRPr/>
          </a:p>
        </p:txBody>
      </p:sp>
      <p:sp>
        <p:nvSpPr>
          <p:cNvPr id="37" name="Text 29"/>
          <p:cNvSpPr txBox="1"/>
          <p:nvPr/>
        </p:nvSpPr>
        <p:spPr>
          <a:xfrm>
            <a:off x="10643616" y="3072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5</a:t>
            </a:r>
            <a:endParaRPr lang="en-US" sz="1400" dirty="0"/>
          </a:p>
        </p:txBody>
      </p:sp>
      <p:sp>
        <p:nvSpPr>
          <p:cNvPr id="38" name="Text 30"/>
          <p:cNvSpPr txBox="1"/>
          <p:nvPr/>
        </p:nvSpPr>
        <p:spPr>
          <a:xfrm>
            <a:off x="9418320" y="4105656"/>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Close</a:t>
            </a:r>
            <a:endParaRPr lang="en-US" sz="1500" dirty="0"/>
          </a:p>
        </p:txBody>
      </p:sp>
      <p:sp>
        <p:nvSpPr>
          <p:cNvPr id="39" name="Text 31"/>
          <p:cNvSpPr txBox="1"/>
          <p:nvPr/>
        </p:nvSpPr>
        <p:spPr>
          <a:xfrm>
            <a:off x="9509760" y="4453128"/>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Signed off, closure PDF, everyone notified</a:t>
            </a:r>
            <a:endParaRPr lang="en-US" sz="1100" dirty="0"/>
          </a:p>
        </p:txBody>
      </p:sp>
      <p:sp>
        <p:nvSpPr>
          <p:cNvPr id="40" name="Shape 32"/>
          <p:cNvSpPr/>
          <p:nvPr/>
        </p:nvSpPr>
        <p:spPr>
          <a:xfrm>
            <a:off x="502920" y="5596128"/>
            <a:ext cx="11183112" cy="768096"/>
          </a:xfrm>
          <a:prstGeom prst="roundRect">
            <a:avLst>
              <a:gd name="adj" fmla="val 11905"/>
            </a:avLst>
          </a:prstGeom>
          <a:solidFill>
            <a:srgbClr val="F3F3F3"/>
          </a:solidFill>
          <a:ln w="12700">
            <a:solidFill>
              <a:srgbClr val="E3E3E3"/>
            </a:solidFill>
            <a:prstDash val="solid"/>
          </a:ln>
        </p:spPr>
        <p:txBody>
          <a:bodyPr/>
          <a:lstStyle/>
          <a:p>
            <a:endParaRPr/>
          </a:p>
        </p:txBody>
      </p:sp>
      <p:sp>
        <p:nvSpPr>
          <p:cNvPr id="41" name="Shape 33"/>
          <p:cNvSpPr/>
          <p:nvPr/>
        </p:nvSpPr>
        <p:spPr>
          <a:xfrm>
            <a:off x="777240" y="5788152"/>
            <a:ext cx="384048" cy="384048"/>
          </a:xfrm>
          <a:prstGeom prst="ellipse">
            <a:avLst/>
          </a:prstGeom>
          <a:solidFill>
            <a:srgbClr val="111111"/>
          </a:solidFill>
          <a:ln/>
        </p:spPr>
        <p:txBody>
          <a:bodyPr/>
          <a:lstStyle/>
          <a:p>
            <a:endParaRPr/>
          </a:p>
        </p:txBody>
      </p:sp>
      <p:pic>
        <p:nvPicPr>
          <p:cNvPr id="42" name="Image 6" descr="orig/ppt/media/image13.png"/>
          <p:cNvPicPr>
            <a:picLocks noChangeAspect="1"/>
          </p:cNvPicPr>
          <p:nvPr/>
        </p:nvPicPr>
        <p:blipFill>
          <a:blip r:embed="rId9"/>
          <a:stretch>
            <a:fillRect/>
          </a:stretch>
        </p:blipFill>
        <p:spPr>
          <a:xfrm>
            <a:off x="886968" y="5897880"/>
            <a:ext cx="164592" cy="164592"/>
          </a:xfrm>
          <a:prstGeom prst="rect">
            <a:avLst/>
          </a:prstGeom>
        </p:spPr>
      </p:pic>
      <p:sp>
        <p:nvSpPr>
          <p:cNvPr id="43" name="Text 34"/>
          <p:cNvSpPr txBox="1"/>
          <p:nvPr/>
        </p:nvSpPr>
        <p:spPr>
          <a:xfrm>
            <a:off x="1371600" y="5632704"/>
            <a:ext cx="10149840" cy="694944"/>
          </a:xfrm>
          <a:prstGeom prst="rect">
            <a:avLst/>
          </a:prstGeom>
          <a:noFill/>
          <a:ln/>
        </p:spPr>
        <p:txBody>
          <a:bodyPr wrap="square" lIns="0" tIns="0" rIns="0" bIns="0" rtlCol="0" anchor="ctr"/>
          <a:lstStyle/>
          <a:p>
            <a:pPr marL="0" indent="0">
              <a:lnSpc>
                <a:spcPct val="105000"/>
              </a:lnSpc>
              <a:buNone/>
            </a:pPr>
            <a:r>
              <a:rPr lang="en-US" sz="1250" b="1" dirty="0">
                <a:solidFill>
                  <a:srgbClr val="111111"/>
                </a:solidFill>
                <a:latin typeface="Calibri" pitchFamily="34" charset="0"/>
                <a:ea typeface="Calibri" pitchFamily="34" charset="-122"/>
                <a:cs typeface="Calibri" pitchFamily="34" charset="-120"/>
              </a:rPr>
              <a:t>Everything is configurable, not hard-coded.</a:t>
            </a:r>
            <a:r>
              <a:rPr lang="en-US" sz="1250" dirty="0">
                <a:solidFill>
                  <a:srgbClr val="0A0A0A"/>
                </a:solidFill>
                <a:latin typeface="Calibri" pitchFamily="34" charset="0"/>
                <a:ea typeface="Calibri" pitchFamily="34" charset="-122"/>
                <a:cs typeface="Calibri" pitchFamily="34" charset="-120"/>
              </a:rPr>
              <a:t>  Your team builds its own permit forms and approval routing, its own permit types, fields and isolation stages, with no developers required.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WHY TEAMS CHOOSE PERMIT</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Everything your permit team needs, in one place</a:t>
            </a:r>
            <a:endParaRPr lang="en-US" sz="3300" dirty="0"/>
          </a:p>
        </p:txBody>
      </p:sp>
      <p:sp>
        <p:nvSpPr>
          <p:cNvPr id="5" name="Text 2"/>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6" name="Text 3"/>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02920" y="1737360"/>
            <a:ext cx="3639312" cy="2048256"/>
          </a:xfrm>
          <a:prstGeom prst="roundRect">
            <a:avLst>
              <a:gd name="adj" fmla="val 5357"/>
            </a:avLst>
          </a:prstGeom>
          <a:solidFill>
            <a:srgbClr val="FFFFFF"/>
          </a:solidFill>
          <a:ln w="12700">
            <a:solidFill>
              <a:srgbClr val="E3E3E3"/>
            </a:solidFill>
            <a:prstDash val="solid"/>
          </a:ln>
        </p:spPr>
        <p:txBody>
          <a:bodyPr/>
          <a:lstStyle/>
          <a:p>
            <a:endParaRPr/>
          </a:p>
        </p:txBody>
      </p:sp>
      <p:sp>
        <p:nvSpPr>
          <p:cNvPr id="8" name="Shape 5"/>
          <p:cNvSpPr/>
          <p:nvPr/>
        </p:nvSpPr>
        <p:spPr>
          <a:xfrm>
            <a:off x="795528" y="1975104"/>
            <a:ext cx="658368" cy="658368"/>
          </a:xfrm>
          <a:prstGeom prst="ellipse">
            <a:avLst/>
          </a:prstGeom>
          <a:solidFill>
            <a:srgbClr val="EFEFEF"/>
          </a:solidFill>
          <a:ln/>
        </p:spPr>
        <p:txBody>
          <a:bodyPr/>
          <a:lstStyle/>
          <a:p>
            <a:endParaRPr/>
          </a:p>
        </p:txBody>
      </p:sp>
      <p:pic>
        <p:nvPicPr>
          <p:cNvPr id="9" name="Image 1" descr="orig/ppt/media/image14.png"/>
          <p:cNvPicPr>
            <a:picLocks noChangeAspect="1"/>
          </p:cNvPicPr>
          <p:nvPr/>
        </p:nvPicPr>
        <p:blipFill>
          <a:blip r:embed="rId4"/>
          <a:stretch>
            <a:fillRect/>
          </a:stretch>
        </p:blipFill>
        <p:spPr>
          <a:xfrm>
            <a:off x="986455" y="2166031"/>
            <a:ext cx="276515" cy="276515"/>
          </a:xfrm>
          <a:prstGeom prst="rect">
            <a:avLst/>
          </a:prstGeom>
        </p:spPr>
      </p:pic>
      <p:sp>
        <p:nvSpPr>
          <p:cNvPr id="10" name="Text 6"/>
          <p:cNvSpPr txBox="1"/>
          <p:nvPr/>
        </p:nvSpPr>
        <p:spPr>
          <a:xfrm>
            <a:off x="795528" y="2724912"/>
            <a:ext cx="3090672" cy="45720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Simple and easy to use</a:t>
            </a:r>
            <a:endParaRPr lang="en-US" sz="1500" dirty="0"/>
          </a:p>
        </p:txBody>
      </p:sp>
      <p:sp>
        <p:nvSpPr>
          <p:cNvPr id="11" name="Text 7"/>
          <p:cNvSpPr txBox="1"/>
          <p:nvPr/>
        </p:nvSpPr>
        <p:spPr>
          <a:xfrm>
            <a:off x="795528" y="3108960"/>
            <a:ext cx="3090672" cy="603504"/>
          </a:xfrm>
          <a:prstGeom prst="rect">
            <a:avLst/>
          </a:prstGeom>
          <a:noFill/>
          <a:ln/>
        </p:spPr>
        <p:txBody>
          <a:bodyPr wrap="square" lIns="0" tIns="0" rIns="0" bIns="0" rtlCol="0" anchor="ctr"/>
          <a:lstStyle/>
          <a:p>
            <a:pPr marL="0" indent="0">
              <a:lnSpc>
                <a:spcPct val="106000"/>
              </a:lnSpc>
              <a:buNone/>
            </a:pPr>
            <a:r>
              <a:rPr lang="en-US" sz="1130" dirty="0">
                <a:solidFill>
                  <a:srgbClr val="6B6B6B"/>
                </a:solidFill>
                <a:latin typeface="Calibri" pitchFamily="34" charset="0"/>
                <a:ea typeface="Calibri" pitchFamily="34" charset="-122"/>
                <a:cs typeface="Calibri" pitchFamily="34" charset="-120"/>
              </a:rPr>
              <a:t>A guided create wizard walks anyone on site through a permit in minutes, with no training needed.</a:t>
            </a:r>
            <a:endParaRPr lang="en-US" sz="1130" dirty="0"/>
          </a:p>
        </p:txBody>
      </p:sp>
      <p:sp>
        <p:nvSpPr>
          <p:cNvPr id="12" name="Shape 8"/>
          <p:cNvSpPr/>
          <p:nvPr/>
        </p:nvSpPr>
        <p:spPr>
          <a:xfrm>
            <a:off x="4443984" y="1737360"/>
            <a:ext cx="3639312" cy="2048256"/>
          </a:xfrm>
          <a:prstGeom prst="roundRect">
            <a:avLst>
              <a:gd name="adj" fmla="val 5357"/>
            </a:avLst>
          </a:prstGeom>
          <a:solidFill>
            <a:srgbClr val="FFFFFF"/>
          </a:solidFill>
          <a:ln w="12700">
            <a:solidFill>
              <a:srgbClr val="E3E3E3"/>
            </a:solidFill>
            <a:prstDash val="solid"/>
          </a:ln>
        </p:spPr>
        <p:txBody>
          <a:bodyPr/>
          <a:lstStyle/>
          <a:p>
            <a:endParaRPr/>
          </a:p>
        </p:txBody>
      </p:sp>
      <p:sp>
        <p:nvSpPr>
          <p:cNvPr id="13" name="Shape 9"/>
          <p:cNvSpPr/>
          <p:nvPr/>
        </p:nvSpPr>
        <p:spPr>
          <a:xfrm>
            <a:off x="4736592" y="1975104"/>
            <a:ext cx="658368" cy="658368"/>
          </a:xfrm>
          <a:prstGeom prst="ellipse">
            <a:avLst/>
          </a:prstGeom>
          <a:solidFill>
            <a:srgbClr val="EFEFEF"/>
          </a:solidFill>
          <a:ln/>
        </p:spPr>
        <p:txBody>
          <a:bodyPr/>
          <a:lstStyle/>
          <a:p>
            <a:endParaRPr/>
          </a:p>
        </p:txBody>
      </p:sp>
      <p:pic>
        <p:nvPicPr>
          <p:cNvPr id="14" name="Image 2" descr="orig/ppt/media/image15.png"/>
          <p:cNvPicPr>
            <a:picLocks noChangeAspect="1"/>
          </p:cNvPicPr>
          <p:nvPr/>
        </p:nvPicPr>
        <p:blipFill>
          <a:blip r:embed="rId5"/>
          <a:stretch>
            <a:fillRect/>
          </a:stretch>
        </p:blipFill>
        <p:spPr>
          <a:xfrm>
            <a:off x="4927519" y="2166031"/>
            <a:ext cx="276515" cy="276515"/>
          </a:xfrm>
          <a:prstGeom prst="rect">
            <a:avLst/>
          </a:prstGeom>
        </p:spPr>
      </p:pic>
      <p:sp>
        <p:nvSpPr>
          <p:cNvPr id="15" name="Text 10"/>
          <p:cNvSpPr txBox="1"/>
          <p:nvPr/>
        </p:nvSpPr>
        <p:spPr>
          <a:xfrm>
            <a:off x="4736592" y="2724912"/>
            <a:ext cx="3090672" cy="45720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Fully configurable</a:t>
            </a:r>
            <a:endParaRPr lang="en-US" sz="1500" dirty="0"/>
          </a:p>
        </p:txBody>
      </p:sp>
      <p:sp>
        <p:nvSpPr>
          <p:cNvPr id="16" name="Text 11"/>
          <p:cNvSpPr txBox="1"/>
          <p:nvPr/>
        </p:nvSpPr>
        <p:spPr>
          <a:xfrm>
            <a:off x="4736592" y="3108960"/>
            <a:ext cx="3090672" cy="603504"/>
          </a:xfrm>
          <a:prstGeom prst="rect">
            <a:avLst/>
          </a:prstGeom>
          <a:noFill/>
          <a:ln/>
        </p:spPr>
        <p:txBody>
          <a:bodyPr wrap="square" lIns="0" tIns="0" rIns="0" bIns="0" rtlCol="0" anchor="ctr"/>
          <a:lstStyle/>
          <a:p>
            <a:pPr marL="0" indent="0">
              <a:lnSpc>
                <a:spcPct val="106000"/>
              </a:lnSpc>
              <a:buNone/>
            </a:pPr>
            <a:r>
              <a:rPr lang="en-US" sz="1130" dirty="0">
                <a:solidFill>
                  <a:srgbClr val="6B6B6B"/>
                </a:solidFill>
                <a:latin typeface="Calibri" pitchFamily="34" charset="0"/>
                <a:ea typeface="Calibri" pitchFamily="34" charset="-122"/>
                <a:cs typeface="Calibri" pitchFamily="34" charset="-120"/>
              </a:rPr>
              <a:t>Build your own permit forms and approval routing, your own permit types and fields, without code.</a:t>
            </a:r>
            <a:endParaRPr lang="en-US" sz="1130" dirty="0"/>
          </a:p>
        </p:txBody>
      </p:sp>
      <p:sp>
        <p:nvSpPr>
          <p:cNvPr id="17" name="Shape 12"/>
          <p:cNvSpPr/>
          <p:nvPr/>
        </p:nvSpPr>
        <p:spPr>
          <a:xfrm>
            <a:off x="8385048" y="1737360"/>
            <a:ext cx="3639312" cy="2048256"/>
          </a:xfrm>
          <a:prstGeom prst="roundRect">
            <a:avLst>
              <a:gd name="adj" fmla="val 5357"/>
            </a:avLst>
          </a:prstGeom>
          <a:solidFill>
            <a:srgbClr val="FFFFFF"/>
          </a:solidFill>
          <a:ln w="12700">
            <a:solidFill>
              <a:srgbClr val="E3E3E3"/>
            </a:solidFill>
            <a:prstDash val="solid"/>
          </a:ln>
        </p:spPr>
        <p:txBody>
          <a:bodyPr/>
          <a:lstStyle/>
          <a:p>
            <a:endParaRPr/>
          </a:p>
        </p:txBody>
      </p:sp>
      <p:sp>
        <p:nvSpPr>
          <p:cNvPr id="18" name="Shape 13"/>
          <p:cNvSpPr/>
          <p:nvPr/>
        </p:nvSpPr>
        <p:spPr>
          <a:xfrm>
            <a:off x="8677656" y="1975104"/>
            <a:ext cx="658368" cy="658368"/>
          </a:xfrm>
          <a:prstGeom prst="ellipse">
            <a:avLst/>
          </a:prstGeom>
          <a:solidFill>
            <a:srgbClr val="EFEFEF"/>
          </a:solidFill>
          <a:ln/>
        </p:spPr>
        <p:txBody>
          <a:bodyPr/>
          <a:lstStyle/>
          <a:p>
            <a:endParaRPr/>
          </a:p>
        </p:txBody>
      </p:sp>
      <p:pic>
        <p:nvPicPr>
          <p:cNvPr id="19" name="Image 3" descr="orig/ppt/media/image16.png"/>
          <p:cNvPicPr>
            <a:picLocks noChangeAspect="1"/>
          </p:cNvPicPr>
          <p:nvPr/>
        </p:nvPicPr>
        <p:blipFill>
          <a:blip r:embed="rId6"/>
          <a:stretch>
            <a:fillRect/>
          </a:stretch>
        </p:blipFill>
        <p:spPr>
          <a:xfrm>
            <a:off x="8868583" y="2166031"/>
            <a:ext cx="276515" cy="276515"/>
          </a:xfrm>
          <a:prstGeom prst="rect">
            <a:avLst/>
          </a:prstGeom>
        </p:spPr>
      </p:pic>
      <p:sp>
        <p:nvSpPr>
          <p:cNvPr id="20" name="Text 14"/>
          <p:cNvSpPr txBox="1"/>
          <p:nvPr/>
        </p:nvSpPr>
        <p:spPr>
          <a:xfrm>
            <a:off x="8677656" y="2724912"/>
            <a:ext cx="3090672" cy="45720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Permits and isolation together</a:t>
            </a:r>
            <a:endParaRPr lang="en-US" sz="1500" dirty="0"/>
          </a:p>
        </p:txBody>
      </p:sp>
      <p:sp>
        <p:nvSpPr>
          <p:cNvPr id="21" name="Text 15"/>
          <p:cNvSpPr txBox="1"/>
          <p:nvPr/>
        </p:nvSpPr>
        <p:spPr>
          <a:xfrm>
            <a:off x="8677656" y="3108960"/>
            <a:ext cx="3090672" cy="603504"/>
          </a:xfrm>
          <a:prstGeom prst="rect">
            <a:avLst/>
          </a:prstGeom>
          <a:noFill/>
          <a:ln/>
        </p:spPr>
        <p:txBody>
          <a:bodyPr wrap="square" lIns="0" tIns="0" rIns="0" bIns="0" rtlCol="0" anchor="ctr"/>
          <a:lstStyle/>
          <a:p>
            <a:pPr marL="0" indent="0">
              <a:lnSpc>
                <a:spcPct val="106000"/>
              </a:lnSpc>
              <a:buNone/>
            </a:pPr>
            <a:r>
              <a:rPr lang="en-US" sz="1130" dirty="0">
                <a:solidFill>
                  <a:srgbClr val="6B6B6B"/>
                </a:solidFill>
                <a:latin typeface="Calibri" pitchFamily="34" charset="0"/>
                <a:ea typeface="Calibri" pitchFamily="34" charset="-122"/>
                <a:cs typeface="Calibri" pitchFamily="34" charset="-120"/>
              </a:rPr>
              <a:t>Lockout/tagout, the equipment register and the permit that needs them live in one interlocked system.</a:t>
            </a:r>
            <a:endParaRPr lang="en-US" sz="1130" dirty="0"/>
          </a:p>
        </p:txBody>
      </p:sp>
      <p:sp>
        <p:nvSpPr>
          <p:cNvPr id="22" name="Shape 16"/>
          <p:cNvSpPr/>
          <p:nvPr/>
        </p:nvSpPr>
        <p:spPr>
          <a:xfrm>
            <a:off x="502920" y="4023360"/>
            <a:ext cx="3639312" cy="2048256"/>
          </a:xfrm>
          <a:prstGeom prst="roundRect">
            <a:avLst>
              <a:gd name="adj" fmla="val 5357"/>
            </a:avLst>
          </a:prstGeom>
          <a:solidFill>
            <a:srgbClr val="FFFFFF"/>
          </a:solidFill>
          <a:ln w="12700">
            <a:solidFill>
              <a:srgbClr val="E3E3E3"/>
            </a:solidFill>
            <a:prstDash val="solid"/>
          </a:ln>
        </p:spPr>
        <p:txBody>
          <a:bodyPr/>
          <a:lstStyle/>
          <a:p>
            <a:endParaRPr/>
          </a:p>
        </p:txBody>
      </p:sp>
      <p:sp>
        <p:nvSpPr>
          <p:cNvPr id="23" name="Shape 17"/>
          <p:cNvSpPr/>
          <p:nvPr/>
        </p:nvSpPr>
        <p:spPr>
          <a:xfrm>
            <a:off x="795528" y="4261104"/>
            <a:ext cx="658368" cy="658368"/>
          </a:xfrm>
          <a:prstGeom prst="ellipse">
            <a:avLst/>
          </a:prstGeom>
          <a:solidFill>
            <a:srgbClr val="EFEFEF"/>
          </a:solidFill>
          <a:ln/>
        </p:spPr>
        <p:txBody>
          <a:bodyPr/>
          <a:lstStyle/>
          <a:p>
            <a:endParaRPr/>
          </a:p>
        </p:txBody>
      </p:sp>
      <p:pic>
        <p:nvPicPr>
          <p:cNvPr id="24" name="Image 4" descr="orig/ppt/media/image17.png"/>
          <p:cNvPicPr>
            <a:picLocks noChangeAspect="1"/>
          </p:cNvPicPr>
          <p:nvPr/>
        </p:nvPicPr>
        <p:blipFill>
          <a:blip r:embed="rId7"/>
          <a:stretch>
            <a:fillRect/>
          </a:stretch>
        </p:blipFill>
        <p:spPr>
          <a:xfrm>
            <a:off x="986455" y="4452031"/>
            <a:ext cx="276515" cy="276515"/>
          </a:xfrm>
          <a:prstGeom prst="rect">
            <a:avLst/>
          </a:prstGeom>
        </p:spPr>
      </p:pic>
      <p:sp>
        <p:nvSpPr>
          <p:cNvPr id="25" name="Text 18"/>
          <p:cNvSpPr txBox="1"/>
          <p:nvPr/>
        </p:nvSpPr>
        <p:spPr>
          <a:xfrm>
            <a:off x="795528" y="5010912"/>
            <a:ext cx="3090672" cy="45720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Live dashboards and KPIs</a:t>
            </a:r>
            <a:endParaRPr lang="en-US" sz="1500" dirty="0"/>
          </a:p>
        </p:txBody>
      </p:sp>
      <p:sp>
        <p:nvSpPr>
          <p:cNvPr id="26" name="Text 19"/>
          <p:cNvSpPr txBox="1"/>
          <p:nvPr/>
        </p:nvSpPr>
        <p:spPr>
          <a:xfrm>
            <a:off x="795528" y="5394960"/>
            <a:ext cx="3090672" cy="603504"/>
          </a:xfrm>
          <a:prstGeom prst="rect">
            <a:avLst/>
          </a:prstGeom>
          <a:noFill/>
          <a:ln/>
        </p:spPr>
        <p:txBody>
          <a:bodyPr wrap="square" lIns="0" tIns="0" rIns="0" bIns="0" rtlCol="0" anchor="ctr"/>
          <a:lstStyle/>
          <a:p>
            <a:pPr marL="0" indent="0">
              <a:lnSpc>
                <a:spcPct val="106000"/>
              </a:lnSpc>
              <a:buNone/>
            </a:pPr>
            <a:r>
              <a:rPr lang="en-US" sz="1130" dirty="0">
                <a:solidFill>
                  <a:srgbClr val="6B6B6B"/>
                </a:solidFill>
                <a:latin typeface="Calibri" pitchFamily="34" charset="0"/>
                <a:ea typeface="Calibri" pitchFamily="34" charset="-122"/>
                <a:cs typeface="Calibri" pitchFamily="34" charset="-120"/>
              </a:rPr>
              <a:t>Real-time counts, approval turnaround and expiry tracking give supervisors and EHS a clear picture.</a:t>
            </a:r>
            <a:endParaRPr lang="en-US" sz="1130" dirty="0"/>
          </a:p>
        </p:txBody>
      </p:sp>
      <p:sp>
        <p:nvSpPr>
          <p:cNvPr id="27" name="Shape 20"/>
          <p:cNvSpPr/>
          <p:nvPr/>
        </p:nvSpPr>
        <p:spPr>
          <a:xfrm>
            <a:off x="4443984" y="4023360"/>
            <a:ext cx="3639312" cy="2048256"/>
          </a:xfrm>
          <a:prstGeom prst="roundRect">
            <a:avLst>
              <a:gd name="adj" fmla="val 5357"/>
            </a:avLst>
          </a:prstGeom>
          <a:solidFill>
            <a:srgbClr val="FFFFFF"/>
          </a:solidFill>
          <a:ln w="12700">
            <a:solidFill>
              <a:srgbClr val="E3E3E3"/>
            </a:solidFill>
            <a:prstDash val="solid"/>
          </a:ln>
        </p:spPr>
        <p:txBody>
          <a:bodyPr/>
          <a:lstStyle/>
          <a:p>
            <a:endParaRPr/>
          </a:p>
        </p:txBody>
      </p:sp>
      <p:sp>
        <p:nvSpPr>
          <p:cNvPr id="28" name="Shape 21"/>
          <p:cNvSpPr/>
          <p:nvPr/>
        </p:nvSpPr>
        <p:spPr>
          <a:xfrm>
            <a:off x="4736592" y="4261104"/>
            <a:ext cx="658368" cy="658368"/>
          </a:xfrm>
          <a:prstGeom prst="ellipse">
            <a:avLst/>
          </a:prstGeom>
          <a:solidFill>
            <a:srgbClr val="EFEFEF"/>
          </a:solidFill>
          <a:ln/>
        </p:spPr>
        <p:txBody>
          <a:bodyPr/>
          <a:lstStyle/>
          <a:p>
            <a:endParaRPr/>
          </a:p>
        </p:txBody>
      </p:sp>
      <p:pic>
        <p:nvPicPr>
          <p:cNvPr id="29" name="Image 5" descr="orig/ppt/media/image18.png"/>
          <p:cNvPicPr>
            <a:picLocks noChangeAspect="1"/>
          </p:cNvPicPr>
          <p:nvPr/>
        </p:nvPicPr>
        <p:blipFill>
          <a:blip r:embed="rId8"/>
          <a:stretch>
            <a:fillRect/>
          </a:stretch>
        </p:blipFill>
        <p:spPr>
          <a:xfrm>
            <a:off x="4927519" y="4452031"/>
            <a:ext cx="276515" cy="276515"/>
          </a:xfrm>
          <a:prstGeom prst="rect">
            <a:avLst/>
          </a:prstGeom>
        </p:spPr>
      </p:pic>
      <p:sp>
        <p:nvSpPr>
          <p:cNvPr id="30" name="Text 22"/>
          <p:cNvSpPr txBox="1"/>
          <p:nvPr/>
        </p:nvSpPr>
        <p:spPr>
          <a:xfrm>
            <a:off x="4736592" y="5010912"/>
            <a:ext cx="3090672" cy="45720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Cloud-based, 24×7 access</a:t>
            </a:r>
            <a:endParaRPr lang="en-US" sz="1500" dirty="0"/>
          </a:p>
        </p:txBody>
      </p:sp>
      <p:sp>
        <p:nvSpPr>
          <p:cNvPr id="31" name="Text 23"/>
          <p:cNvSpPr txBox="1"/>
          <p:nvPr/>
        </p:nvSpPr>
        <p:spPr>
          <a:xfrm>
            <a:off x="4736592" y="5394960"/>
            <a:ext cx="3090672" cy="603504"/>
          </a:xfrm>
          <a:prstGeom prst="rect">
            <a:avLst/>
          </a:prstGeom>
          <a:noFill/>
          <a:ln/>
        </p:spPr>
        <p:txBody>
          <a:bodyPr wrap="square" lIns="0" tIns="0" rIns="0" bIns="0" rtlCol="0" anchor="ctr"/>
          <a:lstStyle/>
          <a:p>
            <a:pPr marL="0" indent="0">
              <a:lnSpc>
                <a:spcPct val="106000"/>
              </a:lnSpc>
              <a:buNone/>
            </a:pPr>
            <a:r>
              <a:rPr lang="en-US" sz="1130" dirty="0">
                <a:solidFill>
                  <a:srgbClr val="6B6B6B"/>
                </a:solidFill>
                <a:latin typeface="Calibri" pitchFamily="34" charset="0"/>
                <a:ea typeface="Calibri" pitchFamily="34" charset="-122"/>
                <a:cs typeface="Calibri" pitchFamily="34" charset="-120"/>
              </a:rPr>
              <a:t>One cloud app across web, mobile and plant-floor kiosk, reachable anytime, nothing to install.</a:t>
            </a:r>
            <a:endParaRPr lang="en-US" sz="1130" dirty="0"/>
          </a:p>
        </p:txBody>
      </p:sp>
      <p:sp>
        <p:nvSpPr>
          <p:cNvPr id="32" name="Shape 24"/>
          <p:cNvSpPr/>
          <p:nvPr/>
        </p:nvSpPr>
        <p:spPr>
          <a:xfrm>
            <a:off x="8385048" y="4023360"/>
            <a:ext cx="3639312" cy="2048256"/>
          </a:xfrm>
          <a:prstGeom prst="roundRect">
            <a:avLst>
              <a:gd name="adj" fmla="val 5357"/>
            </a:avLst>
          </a:prstGeom>
          <a:solidFill>
            <a:srgbClr val="FFFFFF"/>
          </a:solidFill>
          <a:ln w="12700">
            <a:solidFill>
              <a:srgbClr val="E3E3E3"/>
            </a:solidFill>
            <a:prstDash val="solid"/>
          </a:ln>
        </p:spPr>
        <p:txBody>
          <a:bodyPr/>
          <a:lstStyle/>
          <a:p>
            <a:endParaRPr/>
          </a:p>
        </p:txBody>
      </p:sp>
      <p:sp>
        <p:nvSpPr>
          <p:cNvPr id="33" name="Shape 25"/>
          <p:cNvSpPr/>
          <p:nvPr/>
        </p:nvSpPr>
        <p:spPr>
          <a:xfrm>
            <a:off x="8677656" y="4261104"/>
            <a:ext cx="658368" cy="658368"/>
          </a:xfrm>
          <a:prstGeom prst="ellipse">
            <a:avLst/>
          </a:prstGeom>
          <a:solidFill>
            <a:srgbClr val="EFEFEF"/>
          </a:solidFill>
          <a:ln/>
        </p:spPr>
        <p:txBody>
          <a:bodyPr/>
          <a:lstStyle/>
          <a:p>
            <a:endParaRPr/>
          </a:p>
        </p:txBody>
      </p:sp>
      <p:pic>
        <p:nvPicPr>
          <p:cNvPr id="34" name="Image 6" descr="orig/ppt/media/image19.png"/>
          <p:cNvPicPr>
            <a:picLocks noChangeAspect="1"/>
          </p:cNvPicPr>
          <p:nvPr/>
        </p:nvPicPr>
        <p:blipFill>
          <a:blip r:embed="rId9"/>
          <a:stretch>
            <a:fillRect/>
          </a:stretch>
        </p:blipFill>
        <p:spPr>
          <a:xfrm>
            <a:off x="8868583" y="4452031"/>
            <a:ext cx="276515" cy="276515"/>
          </a:xfrm>
          <a:prstGeom prst="rect">
            <a:avLst/>
          </a:prstGeom>
        </p:spPr>
      </p:pic>
      <p:sp>
        <p:nvSpPr>
          <p:cNvPr id="35" name="Text 26"/>
          <p:cNvSpPr txBox="1"/>
          <p:nvPr/>
        </p:nvSpPr>
        <p:spPr>
          <a:xfrm>
            <a:off x="8677656" y="5010912"/>
            <a:ext cx="3090672" cy="45720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Secure and recoverable</a:t>
            </a:r>
            <a:endParaRPr lang="en-US" sz="1500" dirty="0"/>
          </a:p>
        </p:txBody>
      </p:sp>
      <p:sp>
        <p:nvSpPr>
          <p:cNvPr id="36" name="Text 27"/>
          <p:cNvSpPr txBox="1"/>
          <p:nvPr/>
        </p:nvSpPr>
        <p:spPr>
          <a:xfrm>
            <a:off x="8677656" y="5394960"/>
            <a:ext cx="3090672" cy="603504"/>
          </a:xfrm>
          <a:prstGeom prst="rect">
            <a:avLst/>
          </a:prstGeom>
          <a:noFill/>
          <a:ln/>
        </p:spPr>
        <p:txBody>
          <a:bodyPr wrap="square" lIns="0" tIns="0" rIns="0" bIns="0" rtlCol="0" anchor="ctr"/>
          <a:lstStyle/>
          <a:p>
            <a:pPr marL="0" indent="0">
              <a:lnSpc>
                <a:spcPct val="106000"/>
              </a:lnSpc>
              <a:buNone/>
            </a:pPr>
            <a:r>
              <a:rPr lang="en-US" sz="1130" dirty="0">
                <a:solidFill>
                  <a:srgbClr val="6B6B6B"/>
                </a:solidFill>
                <a:latin typeface="Calibri" pitchFamily="34" charset="0"/>
                <a:ea typeface="Calibri" pitchFamily="34" charset="-122"/>
                <a:cs typeface="Calibri" pitchFamily="34" charset="-120"/>
              </a:rPr>
              <a:t>Per-company isolation, a full audit trail, a 90-day recycle bin and automatic cloud backup.</a:t>
            </a:r>
            <a:endParaRPr lang="en-US" sz="11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PERMIT · BUILD IT YOUR WAY</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Design your own permits &amp; approvals</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Your safety team controls exactly what each permit asks and who signs it off, and can change it any time, without waiting on IT.</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
        <p:nvSpPr>
          <p:cNvPr id="8" name="Shape 5"/>
          <p:cNvSpPr/>
          <p:nvPr/>
        </p:nvSpPr>
        <p:spPr>
          <a:xfrm>
            <a:off x="502920"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566928" cy="566928"/>
          </a:xfrm>
          <a:prstGeom prst="ellipse">
            <a:avLst/>
          </a:prstGeom>
          <a:solidFill>
            <a:srgbClr val="EFEFEF"/>
          </a:solidFill>
          <a:ln/>
        </p:spPr>
        <p:txBody>
          <a:bodyPr/>
          <a:lstStyle/>
          <a:p>
            <a:endParaRPr/>
          </a:p>
        </p:txBody>
      </p:sp>
      <p:pic>
        <p:nvPicPr>
          <p:cNvPr id="10" name="Image 1" descr="orig/ppt/media/image37.png"/>
          <p:cNvPicPr>
            <a:picLocks noChangeAspect="1"/>
          </p:cNvPicPr>
          <p:nvPr/>
        </p:nvPicPr>
        <p:blipFill>
          <a:blip r:embed="rId4"/>
          <a:stretch>
            <a:fillRect/>
          </a:stretch>
        </p:blipFill>
        <p:spPr>
          <a:xfrm>
            <a:off x="987369" y="2706441"/>
            <a:ext cx="238110" cy="238110"/>
          </a:xfrm>
          <a:prstGeom prst="rect">
            <a:avLst/>
          </a:prstGeom>
        </p:spPr>
      </p:pic>
      <p:sp>
        <p:nvSpPr>
          <p:cNvPr id="11" name="Text 7"/>
          <p:cNvSpPr txBox="1"/>
          <p:nvPr/>
        </p:nvSpPr>
        <p:spPr>
          <a:xfrm>
            <a:off x="1554480"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Permit templates: the form builder</a:t>
            </a:r>
            <a:endParaRPr lang="en-US" sz="1700" dirty="0"/>
          </a:p>
        </p:txBody>
      </p:sp>
      <p:sp>
        <p:nvSpPr>
          <p:cNvPr id="12" name="Shape 8"/>
          <p:cNvSpPr/>
          <p:nvPr/>
        </p:nvSpPr>
        <p:spPr>
          <a:xfrm>
            <a:off x="886968" y="3245205"/>
            <a:ext cx="118872" cy="118872"/>
          </a:xfrm>
          <a:prstGeom prst="ellipse">
            <a:avLst/>
          </a:prstGeom>
          <a:solidFill>
            <a:srgbClr val="C9922E"/>
          </a:solidFill>
          <a:ln/>
        </p:spPr>
        <p:txBody>
          <a:bodyPr/>
          <a:lstStyle/>
          <a:p>
            <a:endParaRPr/>
          </a:p>
        </p:txBody>
      </p:sp>
      <p:sp>
        <p:nvSpPr>
          <p:cNvPr id="13" name="Text 9"/>
          <p:cNvSpPr txBox="1"/>
          <p:nvPr/>
        </p:nvSpPr>
        <p:spPr>
          <a:xfrm>
            <a:off x="1161288"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Your own permit types</a:t>
            </a:r>
            <a:r>
              <a:rPr lang="en-US" sz="1180" dirty="0">
                <a:solidFill>
                  <a:srgbClr val="6B6B6B"/>
                </a:solidFill>
                <a:latin typeface="Calibri" pitchFamily="34" charset="0"/>
                <a:ea typeface="Calibri" pitchFamily="34" charset="-122"/>
                <a:cs typeface="Calibri" pitchFamily="34" charset="-120"/>
              </a:rPr>
              <a:t>  hot work, confined space, height, electrical, excavation, radiography and more</a:t>
            </a:r>
            <a:endParaRPr lang="en-US" sz="1180" dirty="0"/>
          </a:p>
        </p:txBody>
      </p:sp>
      <p:sp>
        <p:nvSpPr>
          <p:cNvPr id="16" name="Shape 12"/>
          <p:cNvSpPr/>
          <p:nvPr/>
        </p:nvSpPr>
        <p:spPr>
          <a:xfrm>
            <a:off x="886968" y="3729837"/>
            <a:ext cx="118872" cy="118872"/>
          </a:xfrm>
          <a:prstGeom prst="ellipse">
            <a:avLst/>
          </a:prstGeom>
          <a:solidFill>
            <a:srgbClr val="C9922E"/>
          </a:solidFill>
          <a:ln/>
        </p:spPr>
        <p:txBody>
          <a:bodyPr/>
          <a:lstStyle/>
          <a:p>
            <a:endParaRPr/>
          </a:p>
        </p:txBody>
      </p:sp>
      <p:sp>
        <p:nvSpPr>
          <p:cNvPr id="17" name="Text 13"/>
          <p:cNvSpPr txBox="1"/>
          <p:nvPr/>
        </p:nvSpPr>
        <p:spPr>
          <a:xfrm>
            <a:off x="1161288" y="370332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Smart fields</a:t>
            </a:r>
            <a:r>
              <a:rPr lang="en-US" sz="1180" dirty="0">
                <a:solidFill>
                  <a:srgbClr val="6B6B6B"/>
                </a:solidFill>
                <a:latin typeface="Calibri" pitchFamily="34" charset="0"/>
                <a:ea typeface="Calibri" pitchFamily="34" charset="-122"/>
                <a:cs typeface="Calibri" pitchFamily="34" charset="-120"/>
              </a:rPr>
              <a:t>  auto-fill from context, plus searchable dropdowns validated on the server</a:t>
            </a:r>
            <a:endParaRPr lang="en-US" sz="1180" dirty="0"/>
          </a:p>
        </p:txBody>
      </p:sp>
      <p:sp>
        <p:nvSpPr>
          <p:cNvPr id="18" name="Shape 14"/>
          <p:cNvSpPr/>
          <p:nvPr/>
        </p:nvSpPr>
        <p:spPr>
          <a:xfrm>
            <a:off x="886968" y="4214469"/>
            <a:ext cx="118872" cy="118872"/>
          </a:xfrm>
          <a:prstGeom prst="ellipse">
            <a:avLst/>
          </a:prstGeom>
          <a:solidFill>
            <a:srgbClr val="C9922E"/>
          </a:solidFill>
          <a:ln/>
        </p:spPr>
        <p:txBody>
          <a:bodyPr/>
          <a:lstStyle/>
          <a:p>
            <a:endParaRPr/>
          </a:p>
        </p:txBody>
      </p:sp>
      <p:sp>
        <p:nvSpPr>
          <p:cNvPr id="19" name="Text 15"/>
          <p:cNvSpPr txBox="1"/>
          <p:nvPr/>
        </p:nvSpPr>
        <p:spPr>
          <a:xfrm>
            <a:off x="1161288" y="418795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Section ownership</a:t>
            </a:r>
            <a:r>
              <a:rPr lang="en-US" sz="1180" dirty="0">
                <a:solidFill>
                  <a:srgbClr val="6B6B6B"/>
                </a:solidFill>
                <a:latin typeface="Calibri" pitchFamily="34" charset="0"/>
                <a:ea typeface="Calibri" pitchFamily="34" charset="-122"/>
                <a:cs typeface="Calibri" pitchFamily="34" charset="-120"/>
              </a:rPr>
              <a:t>  each section names who fills it: the requester, an approval step, or the executor</a:t>
            </a:r>
            <a:endParaRPr lang="en-US" sz="1180" dirty="0"/>
          </a:p>
        </p:txBody>
      </p:sp>
      <p:sp>
        <p:nvSpPr>
          <p:cNvPr id="20" name="Shape 16"/>
          <p:cNvSpPr/>
          <p:nvPr/>
        </p:nvSpPr>
        <p:spPr>
          <a:xfrm>
            <a:off x="886968" y="4699101"/>
            <a:ext cx="118872" cy="118872"/>
          </a:xfrm>
          <a:prstGeom prst="ellipse">
            <a:avLst/>
          </a:prstGeom>
          <a:solidFill>
            <a:srgbClr val="C9922E"/>
          </a:solidFill>
          <a:ln/>
        </p:spPr>
        <p:txBody>
          <a:bodyPr/>
          <a:lstStyle/>
          <a:p>
            <a:endParaRPr/>
          </a:p>
        </p:txBody>
      </p:sp>
      <p:sp>
        <p:nvSpPr>
          <p:cNvPr id="21" name="Text 17"/>
          <p:cNvSpPr txBox="1"/>
          <p:nvPr/>
        </p:nvSpPr>
        <p:spPr>
          <a:xfrm>
            <a:off x="1161288" y="4672584"/>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Built-in validation</a:t>
            </a:r>
            <a:r>
              <a:rPr lang="en-US" sz="1180" dirty="0">
                <a:solidFill>
                  <a:srgbClr val="6B6B6B"/>
                </a:solidFill>
                <a:latin typeface="Calibri" pitchFamily="34" charset="0"/>
                <a:ea typeface="Calibri" pitchFamily="34" charset="-122"/>
                <a:cs typeface="Calibri" pitchFamily="34" charset="-120"/>
              </a:rPr>
              <a:t>  an incomplete permit cannot be submitted</a:t>
            </a:r>
            <a:endParaRPr lang="en-US" sz="1180" dirty="0"/>
          </a:p>
        </p:txBody>
      </p:sp>
      <p:sp>
        <p:nvSpPr>
          <p:cNvPr id="22" name="Shape 18"/>
          <p:cNvSpPr/>
          <p:nvPr/>
        </p:nvSpPr>
        <p:spPr>
          <a:xfrm>
            <a:off x="886968" y="5000853"/>
            <a:ext cx="118872" cy="118872"/>
          </a:xfrm>
          <a:prstGeom prst="ellipse">
            <a:avLst/>
          </a:prstGeom>
          <a:solidFill>
            <a:srgbClr val="C9922E"/>
          </a:solidFill>
          <a:ln/>
        </p:spPr>
        <p:txBody>
          <a:bodyPr/>
          <a:lstStyle/>
          <a:p>
            <a:endParaRPr/>
          </a:p>
        </p:txBody>
      </p:sp>
      <p:sp>
        <p:nvSpPr>
          <p:cNvPr id="23" name="Text 19"/>
          <p:cNvSpPr txBox="1"/>
          <p:nvPr/>
        </p:nvSpPr>
        <p:spPr>
          <a:xfrm>
            <a:off x="1161288" y="497433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Extension policy</a:t>
            </a:r>
            <a:r>
              <a:rPr lang="en-US" sz="1180" dirty="0">
                <a:solidFill>
                  <a:srgbClr val="6B6B6B"/>
                </a:solidFill>
                <a:latin typeface="Calibri" pitchFamily="34" charset="0"/>
                <a:ea typeface="Calibri" pitchFamily="34" charset="-122"/>
                <a:cs typeface="Calibri" pitchFamily="34" charset="-120"/>
              </a:rPr>
              <a:t>  the template decides whether extending a live permit needs fresh approval</a:t>
            </a:r>
            <a:endParaRPr lang="en-US" sz="1180" dirty="0"/>
          </a:p>
        </p:txBody>
      </p:sp>
      <p:sp>
        <p:nvSpPr>
          <p:cNvPr id="24" name="Shape 20"/>
          <p:cNvSpPr/>
          <p:nvPr/>
        </p:nvSpPr>
        <p:spPr>
          <a:xfrm>
            <a:off x="886968" y="5485485"/>
            <a:ext cx="118872" cy="118872"/>
          </a:xfrm>
          <a:prstGeom prst="ellipse">
            <a:avLst/>
          </a:prstGeom>
          <a:solidFill>
            <a:srgbClr val="C9922E"/>
          </a:solidFill>
          <a:ln/>
        </p:spPr>
        <p:txBody>
          <a:bodyPr/>
          <a:lstStyle/>
          <a:p>
            <a:endParaRPr/>
          </a:p>
        </p:txBody>
      </p:sp>
      <p:sp>
        <p:nvSpPr>
          <p:cNvPr id="25" name="Text 21"/>
          <p:cNvSpPr txBox="1"/>
          <p:nvPr/>
        </p:nvSpPr>
        <p:spPr>
          <a:xfrm>
            <a:off x="1161288" y="545896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Versioning and clone</a:t>
            </a:r>
            <a:r>
              <a:rPr lang="en-US" sz="1180" dirty="0">
                <a:solidFill>
                  <a:srgbClr val="6B6B6B"/>
                </a:solidFill>
                <a:latin typeface="Calibri" pitchFamily="34" charset="0"/>
                <a:ea typeface="Calibri" pitchFamily="34" charset="-122"/>
                <a:cs typeface="Calibri" pitchFamily="34" charset="-120"/>
              </a:rPr>
              <a:t>  publishing freezes a version so in-flight permits stay intact</a:t>
            </a:r>
            <a:endParaRPr lang="en-US" sz="1180" dirty="0"/>
          </a:p>
        </p:txBody>
      </p:sp>
      <p:sp>
        <p:nvSpPr>
          <p:cNvPr id="26" name="Shape 22"/>
          <p:cNvSpPr/>
          <p:nvPr/>
        </p:nvSpPr>
        <p:spPr>
          <a:xfrm>
            <a:off x="6199632"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27" name="Shape 23"/>
          <p:cNvSpPr/>
          <p:nvPr/>
        </p:nvSpPr>
        <p:spPr>
          <a:xfrm>
            <a:off x="6519672" y="2542032"/>
            <a:ext cx="566928" cy="566928"/>
          </a:xfrm>
          <a:prstGeom prst="ellipse">
            <a:avLst/>
          </a:prstGeom>
          <a:solidFill>
            <a:srgbClr val="EFEFEF"/>
          </a:solidFill>
          <a:ln/>
        </p:spPr>
        <p:txBody>
          <a:bodyPr/>
          <a:lstStyle/>
          <a:p>
            <a:endParaRPr/>
          </a:p>
        </p:txBody>
      </p:sp>
      <p:pic>
        <p:nvPicPr>
          <p:cNvPr id="28" name="Image 2" descr="orig/ppt/media/image28.png"/>
          <p:cNvPicPr>
            <a:picLocks noChangeAspect="1"/>
          </p:cNvPicPr>
          <p:nvPr/>
        </p:nvPicPr>
        <p:blipFill>
          <a:blip r:embed="rId5"/>
          <a:stretch>
            <a:fillRect/>
          </a:stretch>
        </p:blipFill>
        <p:spPr>
          <a:xfrm>
            <a:off x="6684081" y="2706441"/>
            <a:ext cx="238110" cy="238110"/>
          </a:xfrm>
          <a:prstGeom prst="rect">
            <a:avLst/>
          </a:prstGeom>
        </p:spPr>
      </p:pic>
      <p:sp>
        <p:nvSpPr>
          <p:cNvPr id="29" name="Text 24"/>
          <p:cNvSpPr txBox="1"/>
          <p:nvPr/>
        </p:nvSpPr>
        <p:spPr>
          <a:xfrm>
            <a:off x="7251192"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Approval flows: the workflow designer</a:t>
            </a:r>
            <a:endParaRPr lang="en-US" sz="1700" dirty="0"/>
          </a:p>
        </p:txBody>
      </p:sp>
      <p:sp>
        <p:nvSpPr>
          <p:cNvPr id="30" name="Shape 25"/>
          <p:cNvSpPr/>
          <p:nvPr/>
        </p:nvSpPr>
        <p:spPr>
          <a:xfrm>
            <a:off x="6583680" y="3245205"/>
            <a:ext cx="118872" cy="118872"/>
          </a:xfrm>
          <a:prstGeom prst="ellipse">
            <a:avLst/>
          </a:prstGeom>
          <a:solidFill>
            <a:srgbClr val="C9922E"/>
          </a:solidFill>
          <a:ln/>
        </p:spPr>
        <p:txBody>
          <a:bodyPr/>
          <a:lstStyle/>
          <a:p>
            <a:endParaRPr/>
          </a:p>
        </p:txBody>
      </p:sp>
      <p:sp>
        <p:nvSpPr>
          <p:cNvPr id="31" name="Text 26"/>
          <p:cNvSpPr txBox="1"/>
          <p:nvPr/>
        </p:nvSpPr>
        <p:spPr>
          <a:xfrm>
            <a:off x="6858000"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Who signs, and in what order</a:t>
            </a:r>
            <a:r>
              <a:rPr lang="en-US" sz="1180" dirty="0">
                <a:solidFill>
                  <a:srgbClr val="6B6B6B"/>
                </a:solidFill>
                <a:latin typeface="Calibri" pitchFamily="34" charset="0"/>
                <a:ea typeface="Calibri" pitchFamily="34" charset="-122"/>
                <a:cs typeface="Calibri" pitchFamily="34" charset="-120"/>
              </a:rPr>
              <a:t>  steps run in sequence or in parallel, each naming an approver, a role, or a person picked when the permit is raised</a:t>
            </a:r>
            <a:endParaRPr lang="en-US" sz="1180" dirty="0"/>
          </a:p>
        </p:txBody>
      </p:sp>
      <p:sp>
        <p:nvSpPr>
          <p:cNvPr id="36" name="Shape 31"/>
          <p:cNvSpPr/>
          <p:nvPr/>
        </p:nvSpPr>
        <p:spPr>
          <a:xfrm>
            <a:off x="6583680" y="3729837"/>
            <a:ext cx="118872" cy="118872"/>
          </a:xfrm>
          <a:prstGeom prst="ellipse">
            <a:avLst/>
          </a:prstGeom>
          <a:solidFill>
            <a:srgbClr val="C9922E"/>
          </a:solidFill>
          <a:ln/>
        </p:spPr>
        <p:txBody>
          <a:bodyPr/>
          <a:lstStyle/>
          <a:p>
            <a:endParaRPr/>
          </a:p>
        </p:txBody>
      </p:sp>
      <p:sp>
        <p:nvSpPr>
          <p:cNvPr id="37" name="Text 32"/>
          <p:cNvSpPr txBox="1"/>
          <p:nvPr/>
        </p:nvSpPr>
        <p:spPr>
          <a:xfrm>
            <a:off x="6858000" y="370332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Timeouts and escalation</a:t>
            </a:r>
            <a:r>
              <a:rPr lang="en-US" sz="1180" dirty="0">
                <a:solidFill>
                  <a:srgbClr val="6B6B6B"/>
                </a:solidFill>
                <a:latin typeface="Calibri" pitchFamily="34" charset="0"/>
                <a:ea typeface="Calibri" pitchFamily="34" charset="-122"/>
                <a:cs typeface="Calibri" pitchFamily="34" charset="-120"/>
              </a:rPr>
              <a:t>  an overdue approval alerts the approver and the issuer, who can reassign it</a:t>
            </a:r>
            <a:endParaRPr lang="en-US" sz="1180" dirty="0"/>
          </a:p>
        </p:txBody>
      </p:sp>
      <p:sp>
        <p:nvSpPr>
          <p:cNvPr id="38" name="Shape 33"/>
          <p:cNvSpPr/>
          <p:nvPr/>
        </p:nvSpPr>
        <p:spPr>
          <a:xfrm>
            <a:off x="6583680" y="4214469"/>
            <a:ext cx="118872" cy="118872"/>
          </a:xfrm>
          <a:prstGeom prst="ellipse">
            <a:avLst/>
          </a:prstGeom>
          <a:solidFill>
            <a:srgbClr val="C9922E"/>
          </a:solidFill>
          <a:ln/>
        </p:spPr>
        <p:txBody>
          <a:bodyPr/>
          <a:lstStyle/>
          <a:p>
            <a:endParaRPr/>
          </a:p>
        </p:txBody>
      </p:sp>
      <p:sp>
        <p:nvSpPr>
          <p:cNvPr id="39" name="Text 34"/>
          <p:cNvSpPr txBox="1"/>
          <p:nvPr/>
        </p:nvSpPr>
        <p:spPr>
          <a:xfrm>
            <a:off x="6858000" y="418795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Delegation built in</a:t>
            </a:r>
            <a:r>
              <a:rPr lang="en-US" sz="1180" dirty="0">
                <a:solidFill>
                  <a:srgbClr val="6B6B6B"/>
                </a:solidFill>
                <a:latin typeface="Calibri" pitchFamily="34" charset="0"/>
                <a:ea typeface="Calibri" pitchFamily="34" charset="-122"/>
                <a:cs typeface="Calibri" pitchFamily="34" charset="-120"/>
              </a:rPr>
              <a:t>  hand your approvals to a substitute while you are away</a:t>
            </a:r>
            <a:endParaRPr lang="en-US" sz="1180" dirty="0"/>
          </a:p>
        </p:txBody>
      </p:sp>
      <p:sp>
        <p:nvSpPr>
          <p:cNvPr id="40" name="Shape 35"/>
          <p:cNvSpPr/>
          <p:nvPr/>
        </p:nvSpPr>
        <p:spPr>
          <a:xfrm>
            <a:off x="6583680" y="4699101"/>
            <a:ext cx="118872" cy="118872"/>
          </a:xfrm>
          <a:prstGeom prst="ellipse">
            <a:avLst/>
          </a:prstGeom>
          <a:solidFill>
            <a:srgbClr val="C9922E"/>
          </a:solidFill>
          <a:ln/>
        </p:spPr>
        <p:txBody>
          <a:bodyPr/>
          <a:lstStyle/>
          <a:p>
            <a:endParaRPr/>
          </a:p>
        </p:txBody>
      </p:sp>
      <p:sp>
        <p:nvSpPr>
          <p:cNvPr id="41" name="Text 36"/>
          <p:cNvSpPr txBox="1"/>
          <p:nvPr/>
        </p:nvSpPr>
        <p:spPr>
          <a:xfrm>
            <a:off x="6858000" y="467258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Extension approvers</a:t>
            </a:r>
            <a:r>
              <a:rPr lang="en-US" sz="1180" dirty="0">
                <a:solidFill>
                  <a:srgbClr val="6B6B6B"/>
                </a:solidFill>
                <a:latin typeface="Calibri" pitchFamily="34" charset="0"/>
                <a:ea typeface="Calibri" pitchFamily="34" charset="-122"/>
                <a:cs typeface="Calibri" pitchFamily="34" charset="-120"/>
              </a:rPr>
              <a:t>  the role that may approve 8, 12 or 24 more hours, never the requester</a:t>
            </a:r>
            <a:endParaRPr lang="en-US" sz="1180" dirty="0"/>
          </a:p>
        </p:txBody>
      </p:sp>
      <p:sp>
        <p:nvSpPr>
          <p:cNvPr id="42" name="Shape 37"/>
          <p:cNvSpPr/>
          <p:nvPr/>
        </p:nvSpPr>
        <p:spPr>
          <a:xfrm>
            <a:off x="6583680" y="5183733"/>
            <a:ext cx="118872" cy="118872"/>
          </a:xfrm>
          <a:prstGeom prst="ellipse">
            <a:avLst/>
          </a:prstGeom>
          <a:solidFill>
            <a:srgbClr val="C9922E"/>
          </a:solidFill>
          <a:ln/>
        </p:spPr>
        <p:txBody>
          <a:bodyPr/>
          <a:lstStyle/>
          <a:p>
            <a:endParaRPr/>
          </a:p>
        </p:txBody>
      </p:sp>
      <p:sp>
        <p:nvSpPr>
          <p:cNvPr id="43" name="Text 38"/>
          <p:cNvSpPr txBox="1"/>
          <p:nvPr/>
        </p:nvSpPr>
        <p:spPr>
          <a:xfrm>
            <a:off x="6858000" y="515721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Frozen on publish</a:t>
            </a:r>
            <a:r>
              <a:rPr lang="en-US" sz="1180" dirty="0">
                <a:solidFill>
                  <a:srgbClr val="6B6B6B"/>
                </a:solidFill>
                <a:latin typeface="Calibri" pitchFamily="34" charset="0"/>
                <a:ea typeface="Calibri" pitchFamily="34" charset="-122"/>
                <a:cs typeface="Calibri" pitchFamily="34" charset="-120"/>
              </a:rPr>
              <a:t>  a permit carries the flow version it was raised under, forever</a:t>
            </a:r>
            <a:endParaRPr lang="en-US" sz="11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PERMIT · THE LIFECYCLE</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The permit lifecycle, fully governed</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The heart of the product: the complete, auditable record of a piece of work from request to closure.</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9198864"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
        <p:nvSpPr>
          <p:cNvPr id="8" name="Shape 5"/>
          <p:cNvSpPr/>
          <p:nvPr/>
        </p:nvSpPr>
        <p:spPr>
          <a:xfrm>
            <a:off x="502920" y="2194560"/>
            <a:ext cx="736092" cy="365760"/>
          </a:xfrm>
          <a:prstGeom prst="roundRect">
            <a:avLst>
              <a:gd name="adj" fmla="val 50000"/>
            </a:avLst>
          </a:prstGeom>
          <a:solidFill>
            <a:srgbClr val="EFEFEF"/>
          </a:solidFill>
          <a:ln/>
        </p:spPr>
        <p:txBody>
          <a:bodyPr/>
          <a:lstStyle/>
          <a:p>
            <a:endParaRPr/>
          </a:p>
        </p:txBody>
      </p:sp>
      <p:sp>
        <p:nvSpPr>
          <p:cNvPr id="9" name="Text 6"/>
          <p:cNvSpPr txBox="1"/>
          <p:nvPr/>
        </p:nvSpPr>
        <p:spPr>
          <a:xfrm>
            <a:off x="502920" y="2194560"/>
            <a:ext cx="736092" cy="365760"/>
          </a:xfrm>
          <a:prstGeom prst="rect">
            <a:avLst/>
          </a:prstGeom>
          <a:noFill/>
          <a:ln/>
        </p:spPr>
        <p:txBody>
          <a:bodyPr wrap="square" lIns="0" tIns="0" rIns="0" bIns="0" rtlCol="0" anchor="ctr"/>
          <a:lstStyle/>
          <a:p>
            <a:pPr marL="0" indent="0" algn="ctr">
              <a:buNone/>
            </a:pPr>
            <a:r>
              <a:rPr lang="en-US" sz="1100" b="1" dirty="0">
                <a:solidFill>
                  <a:srgbClr val="6B6B6B"/>
                </a:solidFill>
                <a:latin typeface="Calibri" pitchFamily="34" charset="0"/>
                <a:ea typeface="Calibri" pitchFamily="34" charset="-122"/>
                <a:cs typeface="Calibri" pitchFamily="34" charset="-120"/>
              </a:rPr>
              <a:t>draft</a:t>
            </a:r>
            <a:endParaRPr lang="en-US" sz="1100" dirty="0"/>
          </a:p>
        </p:txBody>
      </p:sp>
      <p:sp>
        <p:nvSpPr>
          <p:cNvPr id="10" name="Shape 7"/>
          <p:cNvSpPr/>
          <p:nvPr/>
        </p:nvSpPr>
        <p:spPr>
          <a:xfrm>
            <a:off x="1403604" y="2194560"/>
            <a:ext cx="1228954" cy="365760"/>
          </a:xfrm>
          <a:prstGeom prst="roundRect">
            <a:avLst>
              <a:gd name="adj" fmla="val 50000"/>
            </a:avLst>
          </a:prstGeom>
          <a:solidFill>
            <a:srgbClr val="FBEAD0"/>
          </a:solidFill>
          <a:ln/>
        </p:spPr>
        <p:txBody>
          <a:bodyPr/>
          <a:lstStyle/>
          <a:p>
            <a:endParaRPr/>
          </a:p>
        </p:txBody>
      </p:sp>
      <p:sp>
        <p:nvSpPr>
          <p:cNvPr id="11" name="Text 8"/>
          <p:cNvSpPr txBox="1"/>
          <p:nvPr/>
        </p:nvSpPr>
        <p:spPr>
          <a:xfrm>
            <a:off x="1403604" y="2194560"/>
            <a:ext cx="1228954" cy="365760"/>
          </a:xfrm>
          <a:prstGeom prst="rect">
            <a:avLst/>
          </a:prstGeom>
          <a:noFill/>
          <a:ln/>
        </p:spPr>
        <p:txBody>
          <a:bodyPr wrap="square" lIns="0" tIns="0" rIns="0" bIns="0" rtlCol="0" anchor="ctr"/>
          <a:lstStyle/>
          <a:p>
            <a:pPr marL="0" indent="0" algn="ctr">
              <a:buNone/>
            </a:pPr>
            <a:r>
              <a:rPr lang="en-US" sz="1100" b="1" dirty="0">
                <a:solidFill>
                  <a:srgbClr val="9A6B14"/>
                </a:solidFill>
                <a:latin typeface="Calibri" pitchFamily="34" charset="0"/>
                <a:ea typeface="Calibri" pitchFamily="34" charset="-122"/>
                <a:cs typeface="Calibri" pitchFamily="34" charset="-120"/>
              </a:rPr>
              <a:t>under review</a:t>
            </a:r>
            <a:endParaRPr lang="en-US" sz="1100" dirty="0"/>
          </a:p>
        </p:txBody>
      </p:sp>
      <p:sp>
        <p:nvSpPr>
          <p:cNvPr id="12" name="Shape 9"/>
          <p:cNvSpPr/>
          <p:nvPr/>
        </p:nvSpPr>
        <p:spPr>
          <a:xfrm>
            <a:off x="2797149" y="2194560"/>
            <a:ext cx="947318" cy="365760"/>
          </a:xfrm>
          <a:prstGeom prst="roundRect">
            <a:avLst>
              <a:gd name="adj" fmla="val 50000"/>
            </a:avLst>
          </a:prstGeom>
          <a:solidFill>
            <a:srgbClr val="DCEBDC"/>
          </a:solidFill>
          <a:ln/>
        </p:spPr>
        <p:txBody>
          <a:bodyPr/>
          <a:lstStyle/>
          <a:p>
            <a:endParaRPr/>
          </a:p>
        </p:txBody>
      </p:sp>
      <p:sp>
        <p:nvSpPr>
          <p:cNvPr id="13" name="Text 10"/>
          <p:cNvSpPr txBox="1"/>
          <p:nvPr/>
        </p:nvSpPr>
        <p:spPr>
          <a:xfrm>
            <a:off x="2797149" y="2194560"/>
            <a:ext cx="947318" cy="365760"/>
          </a:xfrm>
          <a:prstGeom prst="rect">
            <a:avLst/>
          </a:prstGeom>
          <a:noFill/>
          <a:ln/>
        </p:spPr>
        <p:txBody>
          <a:bodyPr wrap="square" lIns="0" tIns="0" rIns="0" bIns="0" rtlCol="0" anchor="ctr"/>
          <a:lstStyle/>
          <a:p>
            <a:pPr marL="0" indent="0" algn="ctr">
              <a:buNone/>
            </a:pPr>
            <a:r>
              <a:rPr lang="en-US" sz="1100" b="1" dirty="0">
                <a:solidFill>
                  <a:srgbClr val="3B6B3B"/>
                </a:solidFill>
                <a:latin typeface="Calibri" pitchFamily="34" charset="0"/>
                <a:ea typeface="Calibri" pitchFamily="34" charset="-122"/>
                <a:cs typeface="Calibri" pitchFamily="34" charset="-120"/>
              </a:rPr>
              <a:t>approved</a:t>
            </a:r>
            <a:endParaRPr lang="en-US" sz="1100" dirty="0"/>
          </a:p>
        </p:txBody>
      </p:sp>
      <p:sp>
        <p:nvSpPr>
          <p:cNvPr id="14" name="Shape 11"/>
          <p:cNvSpPr/>
          <p:nvPr/>
        </p:nvSpPr>
        <p:spPr>
          <a:xfrm>
            <a:off x="3909060" y="2194560"/>
            <a:ext cx="806501" cy="365760"/>
          </a:xfrm>
          <a:prstGeom prst="roundRect">
            <a:avLst>
              <a:gd name="adj" fmla="val 50000"/>
            </a:avLst>
          </a:prstGeom>
          <a:solidFill>
            <a:srgbClr val="D3E6D6"/>
          </a:solidFill>
          <a:ln/>
        </p:spPr>
        <p:txBody>
          <a:bodyPr/>
          <a:lstStyle/>
          <a:p>
            <a:endParaRPr/>
          </a:p>
        </p:txBody>
      </p:sp>
      <p:sp>
        <p:nvSpPr>
          <p:cNvPr id="15" name="Text 12"/>
          <p:cNvSpPr txBox="1"/>
          <p:nvPr/>
        </p:nvSpPr>
        <p:spPr>
          <a:xfrm>
            <a:off x="3909060" y="2194560"/>
            <a:ext cx="806501" cy="365760"/>
          </a:xfrm>
          <a:prstGeom prst="rect">
            <a:avLst/>
          </a:prstGeom>
          <a:noFill/>
          <a:ln/>
        </p:spPr>
        <p:txBody>
          <a:bodyPr wrap="square" lIns="0" tIns="0" rIns="0" bIns="0" rtlCol="0" anchor="ctr"/>
          <a:lstStyle/>
          <a:p>
            <a:pPr marL="0" indent="0" algn="ctr">
              <a:buNone/>
            </a:pPr>
            <a:r>
              <a:rPr lang="en-US" sz="1100" b="1" dirty="0">
                <a:solidFill>
                  <a:srgbClr val="2E6B45"/>
                </a:solidFill>
                <a:latin typeface="Calibri" pitchFamily="34" charset="0"/>
                <a:ea typeface="Calibri" pitchFamily="34" charset="-122"/>
                <a:cs typeface="Calibri" pitchFamily="34" charset="-120"/>
              </a:rPr>
              <a:t>active</a:t>
            </a:r>
            <a:endParaRPr lang="en-US" sz="1100" dirty="0"/>
          </a:p>
        </p:txBody>
      </p:sp>
      <p:sp>
        <p:nvSpPr>
          <p:cNvPr id="18" name="Shape 15"/>
          <p:cNvSpPr/>
          <p:nvPr/>
        </p:nvSpPr>
        <p:spPr>
          <a:xfrm>
            <a:off x="4880152" y="2194560"/>
            <a:ext cx="876910" cy="365760"/>
          </a:xfrm>
          <a:prstGeom prst="roundRect">
            <a:avLst>
              <a:gd name="adj" fmla="val 50000"/>
            </a:avLst>
          </a:prstGeom>
          <a:solidFill>
            <a:srgbClr val="F3D6D6"/>
          </a:solidFill>
          <a:ln/>
        </p:spPr>
        <p:txBody>
          <a:bodyPr/>
          <a:lstStyle/>
          <a:p>
            <a:endParaRPr/>
          </a:p>
        </p:txBody>
      </p:sp>
      <p:sp>
        <p:nvSpPr>
          <p:cNvPr id="19" name="Text 16"/>
          <p:cNvSpPr txBox="1"/>
          <p:nvPr/>
        </p:nvSpPr>
        <p:spPr>
          <a:xfrm>
            <a:off x="4880152" y="2194560"/>
            <a:ext cx="876910" cy="365760"/>
          </a:xfrm>
          <a:prstGeom prst="rect">
            <a:avLst/>
          </a:prstGeom>
          <a:noFill/>
          <a:ln/>
        </p:spPr>
        <p:txBody>
          <a:bodyPr wrap="square" lIns="0" tIns="0" rIns="0" bIns="0" rtlCol="0" anchor="ctr"/>
          <a:lstStyle/>
          <a:p>
            <a:pPr marL="0" indent="0" algn="ctr">
              <a:buNone/>
            </a:pPr>
            <a:r>
              <a:rPr lang="en-US" sz="1100" b="1" dirty="0">
                <a:solidFill>
                  <a:srgbClr val="9A3B3B"/>
                </a:solidFill>
                <a:latin typeface="Calibri" pitchFamily="34" charset="0"/>
                <a:ea typeface="Calibri" pitchFamily="34" charset="-122"/>
                <a:cs typeface="Calibri" pitchFamily="34" charset="-120"/>
              </a:rPr>
              <a:t>expired</a:t>
            </a:r>
            <a:endParaRPr lang="en-US" sz="1100" dirty="0"/>
          </a:p>
        </p:txBody>
      </p:sp>
      <p:sp>
        <p:nvSpPr>
          <p:cNvPr id="20" name="Shape 17"/>
          <p:cNvSpPr/>
          <p:nvPr/>
        </p:nvSpPr>
        <p:spPr>
          <a:xfrm>
            <a:off x="5921654" y="2194560"/>
            <a:ext cx="806501" cy="365760"/>
          </a:xfrm>
          <a:prstGeom prst="roundRect">
            <a:avLst>
              <a:gd name="adj" fmla="val 50000"/>
            </a:avLst>
          </a:prstGeom>
          <a:solidFill>
            <a:srgbClr val="EFEFEF"/>
          </a:solidFill>
          <a:ln/>
        </p:spPr>
        <p:txBody>
          <a:bodyPr/>
          <a:lstStyle/>
          <a:p>
            <a:endParaRPr/>
          </a:p>
        </p:txBody>
      </p:sp>
      <p:sp>
        <p:nvSpPr>
          <p:cNvPr id="21" name="Text 18"/>
          <p:cNvSpPr txBox="1"/>
          <p:nvPr/>
        </p:nvSpPr>
        <p:spPr>
          <a:xfrm>
            <a:off x="5921654" y="2194560"/>
            <a:ext cx="806501" cy="365760"/>
          </a:xfrm>
          <a:prstGeom prst="rect">
            <a:avLst/>
          </a:prstGeom>
          <a:noFill/>
          <a:ln/>
        </p:spPr>
        <p:txBody>
          <a:bodyPr wrap="square" lIns="0" tIns="0" rIns="0" bIns="0" rtlCol="0" anchor="ctr"/>
          <a:lstStyle/>
          <a:p>
            <a:pPr marL="0" indent="0" algn="ctr">
              <a:buNone/>
            </a:pPr>
            <a:r>
              <a:rPr lang="en-US" sz="1100" b="1" dirty="0">
                <a:solidFill>
                  <a:srgbClr val="6B6B6B"/>
                </a:solidFill>
                <a:latin typeface="Calibri" pitchFamily="34" charset="0"/>
                <a:ea typeface="Calibri" pitchFamily="34" charset="-122"/>
                <a:cs typeface="Calibri" pitchFamily="34" charset="-120"/>
              </a:rPr>
              <a:t>closed</a:t>
            </a:r>
            <a:endParaRPr lang="en-US" sz="1100" dirty="0"/>
          </a:p>
        </p:txBody>
      </p:sp>
      <p:sp>
        <p:nvSpPr>
          <p:cNvPr id="24" name="Shape 21"/>
          <p:cNvSpPr/>
          <p:nvPr/>
        </p:nvSpPr>
        <p:spPr>
          <a:xfrm>
            <a:off x="6892747" y="2194560"/>
            <a:ext cx="947318" cy="365760"/>
          </a:xfrm>
          <a:prstGeom prst="roundRect">
            <a:avLst>
              <a:gd name="adj" fmla="val 50000"/>
            </a:avLst>
          </a:prstGeom>
          <a:solidFill>
            <a:srgbClr val="F3D6D6"/>
          </a:solidFill>
          <a:ln/>
        </p:spPr>
        <p:txBody>
          <a:bodyPr/>
          <a:lstStyle/>
          <a:p>
            <a:endParaRPr/>
          </a:p>
        </p:txBody>
      </p:sp>
      <p:sp>
        <p:nvSpPr>
          <p:cNvPr id="25" name="Text 22"/>
          <p:cNvSpPr txBox="1"/>
          <p:nvPr/>
        </p:nvSpPr>
        <p:spPr>
          <a:xfrm>
            <a:off x="6892747" y="2194560"/>
            <a:ext cx="947318" cy="365760"/>
          </a:xfrm>
          <a:prstGeom prst="rect">
            <a:avLst/>
          </a:prstGeom>
          <a:noFill/>
          <a:ln/>
        </p:spPr>
        <p:txBody>
          <a:bodyPr wrap="square" lIns="0" tIns="0" rIns="0" bIns="0" rtlCol="0" anchor="ctr"/>
          <a:lstStyle/>
          <a:p>
            <a:pPr marL="0" indent="0" algn="ctr">
              <a:buNone/>
            </a:pPr>
            <a:r>
              <a:rPr lang="en-US" sz="1100" b="1" dirty="0">
                <a:solidFill>
                  <a:srgbClr val="9A3B3B"/>
                </a:solidFill>
                <a:latin typeface="Calibri" pitchFamily="34" charset="0"/>
                <a:ea typeface="Calibri" pitchFamily="34" charset="-122"/>
                <a:cs typeface="Calibri" pitchFamily="34" charset="-120"/>
              </a:rPr>
              <a:t>rejected</a:t>
            </a:r>
            <a:endParaRPr lang="en-US" sz="1100" dirty="0"/>
          </a:p>
        </p:txBody>
      </p:sp>
      <p:sp>
        <p:nvSpPr>
          <p:cNvPr id="26" name="Shape 23"/>
          <p:cNvSpPr/>
          <p:nvPr/>
        </p:nvSpPr>
        <p:spPr>
          <a:xfrm>
            <a:off x="502920" y="2788920"/>
            <a:ext cx="3639312" cy="1609344"/>
          </a:xfrm>
          <a:prstGeom prst="roundRect">
            <a:avLst>
              <a:gd name="adj" fmla="val 6818"/>
            </a:avLst>
          </a:prstGeom>
          <a:solidFill>
            <a:srgbClr val="FFFFFF"/>
          </a:solidFill>
          <a:ln w="12700">
            <a:solidFill>
              <a:srgbClr val="E3E3E3"/>
            </a:solidFill>
            <a:prstDash val="solid"/>
          </a:ln>
        </p:spPr>
        <p:txBody>
          <a:bodyPr/>
          <a:lstStyle/>
          <a:p>
            <a:endParaRPr/>
          </a:p>
        </p:txBody>
      </p:sp>
      <p:sp>
        <p:nvSpPr>
          <p:cNvPr id="27" name="Shape 24"/>
          <p:cNvSpPr/>
          <p:nvPr/>
        </p:nvSpPr>
        <p:spPr>
          <a:xfrm>
            <a:off x="777240" y="3026664"/>
            <a:ext cx="548640" cy="548640"/>
          </a:xfrm>
          <a:prstGeom prst="ellipse">
            <a:avLst/>
          </a:prstGeom>
          <a:solidFill>
            <a:srgbClr val="EFEFEF"/>
          </a:solidFill>
          <a:ln/>
        </p:spPr>
        <p:txBody>
          <a:bodyPr/>
          <a:lstStyle/>
          <a:p>
            <a:endParaRPr/>
          </a:p>
        </p:txBody>
      </p:sp>
      <p:pic>
        <p:nvPicPr>
          <p:cNvPr id="28" name="Image 1" descr="orig/ppt/media/image37.png"/>
          <p:cNvPicPr>
            <a:picLocks noChangeAspect="1"/>
          </p:cNvPicPr>
          <p:nvPr/>
        </p:nvPicPr>
        <p:blipFill>
          <a:blip r:embed="rId4"/>
          <a:stretch>
            <a:fillRect/>
          </a:stretch>
        </p:blipFill>
        <p:spPr>
          <a:xfrm>
            <a:off x="936346" y="3185770"/>
            <a:ext cx="230429" cy="230429"/>
          </a:xfrm>
          <a:prstGeom prst="rect">
            <a:avLst/>
          </a:prstGeom>
        </p:spPr>
      </p:pic>
      <p:sp>
        <p:nvSpPr>
          <p:cNvPr id="29" name="Text 25"/>
          <p:cNvSpPr txBox="1"/>
          <p:nvPr/>
        </p:nvSpPr>
        <p:spPr>
          <a:xfrm>
            <a:off x="1435608" y="3044952"/>
            <a:ext cx="2523744" cy="512064"/>
          </a:xfrm>
          <a:prstGeom prst="rect">
            <a:avLst/>
          </a:prstGeom>
          <a:noFill/>
          <a:ln/>
        </p:spPr>
        <p:txBody>
          <a:bodyPr wrap="square" lIns="0" tIns="0" rIns="0" bIns="0" rtlCol="0" anchor="ctr"/>
          <a:lstStyle/>
          <a:p>
            <a:pPr marL="0" indent="0">
              <a:buNone/>
            </a:pPr>
            <a:r>
              <a:rPr lang="en-US" sz="1400" b="1" dirty="0">
                <a:solidFill>
                  <a:srgbClr val="0A0A0A"/>
                </a:solidFill>
                <a:latin typeface="Calibri" pitchFamily="34" charset="0"/>
                <a:ea typeface="Calibri" pitchFamily="34" charset="-122"/>
                <a:cs typeface="Calibri" pitchFamily="34" charset="-120"/>
              </a:rPr>
              <a:t>Submit and number</a:t>
            </a:r>
            <a:endParaRPr lang="en-US" sz="1400" dirty="0"/>
          </a:p>
        </p:txBody>
      </p:sp>
      <p:sp>
        <p:nvSpPr>
          <p:cNvPr id="30" name="Text 26"/>
          <p:cNvSpPr txBox="1"/>
          <p:nvPr/>
        </p:nvSpPr>
        <p:spPr>
          <a:xfrm>
            <a:off x="777240" y="3666744"/>
            <a:ext cx="3136392" cy="658368"/>
          </a:xfrm>
          <a:prstGeom prst="rect">
            <a:avLst/>
          </a:prstGeom>
          <a:noFill/>
          <a:ln/>
        </p:spPr>
        <p:txBody>
          <a:bodyPr wrap="square" lIns="0" tIns="0" rIns="0" bIns="0" rtlCol="0" anchor="ctr"/>
          <a:lstStyle/>
          <a:p>
            <a:pPr marL="0" indent="0">
              <a:lnSpc>
                <a:spcPct val="105000"/>
              </a:lnSpc>
              <a:buNone/>
            </a:pPr>
            <a:r>
              <a:rPr lang="en-US" sz="1100" dirty="0">
                <a:solidFill>
                  <a:srgbClr val="6B6B6B"/>
                </a:solidFill>
                <a:latin typeface="Calibri" pitchFamily="34" charset="0"/>
                <a:ea typeface="Calibri" pitchFamily="34" charset="-122"/>
                <a:cs typeface="Calibri" pitchFamily="34" charset="-120"/>
              </a:rPr>
              <a:t>Validates the form and mints a structured permit number, for example MAIN/2026/HW/000001.</a:t>
            </a:r>
            <a:endParaRPr lang="en-US" sz="1100" dirty="0"/>
          </a:p>
        </p:txBody>
      </p:sp>
      <p:sp>
        <p:nvSpPr>
          <p:cNvPr id="31" name="Shape 27"/>
          <p:cNvSpPr/>
          <p:nvPr/>
        </p:nvSpPr>
        <p:spPr>
          <a:xfrm>
            <a:off x="4443984" y="2788920"/>
            <a:ext cx="3639312" cy="1609344"/>
          </a:xfrm>
          <a:prstGeom prst="roundRect">
            <a:avLst>
              <a:gd name="adj" fmla="val 6818"/>
            </a:avLst>
          </a:prstGeom>
          <a:solidFill>
            <a:srgbClr val="FFFFFF"/>
          </a:solidFill>
          <a:ln w="12700">
            <a:solidFill>
              <a:srgbClr val="E3E3E3"/>
            </a:solidFill>
            <a:prstDash val="solid"/>
          </a:ln>
        </p:spPr>
        <p:txBody>
          <a:bodyPr/>
          <a:lstStyle/>
          <a:p>
            <a:endParaRPr/>
          </a:p>
        </p:txBody>
      </p:sp>
      <p:sp>
        <p:nvSpPr>
          <p:cNvPr id="32" name="Shape 28"/>
          <p:cNvSpPr/>
          <p:nvPr/>
        </p:nvSpPr>
        <p:spPr>
          <a:xfrm>
            <a:off x="4718304" y="3026664"/>
            <a:ext cx="548640" cy="548640"/>
          </a:xfrm>
          <a:prstGeom prst="ellipse">
            <a:avLst/>
          </a:prstGeom>
          <a:solidFill>
            <a:srgbClr val="EFEFEF"/>
          </a:solidFill>
          <a:ln/>
        </p:spPr>
        <p:txBody>
          <a:bodyPr/>
          <a:lstStyle/>
          <a:p>
            <a:endParaRPr/>
          </a:p>
        </p:txBody>
      </p:sp>
      <p:pic>
        <p:nvPicPr>
          <p:cNvPr id="33" name="Image 2" descr="orig/ppt/media/image30.png"/>
          <p:cNvPicPr>
            <a:picLocks noChangeAspect="1"/>
          </p:cNvPicPr>
          <p:nvPr/>
        </p:nvPicPr>
        <p:blipFill>
          <a:blip r:embed="rId5"/>
          <a:stretch>
            <a:fillRect/>
          </a:stretch>
        </p:blipFill>
        <p:spPr>
          <a:xfrm>
            <a:off x="4877410" y="3185770"/>
            <a:ext cx="230429" cy="230429"/>
          </a:xfrm>
          <a:prstGeom prst="rect">
            <a:avLst/>
          </a:prstGeom>
        </p:spPr>
      </p:pic>
      <p:sp>
        <p:nvSpPr>
          <p:cNvPr id="34" name="Text 29"/>
          <p:cNvSpPr txBox="1"/>
          <p:nvPr/>
        </p:nvSpPr>
        <p:spPr>
          <a:xfrm>
            <a:off x="5376672" y="3044952"/>
            <a:ext cx="2523744" cy="512064"/>
          </a:xfrm>
          <a:prstGeom prst="rect">
            <a:avLst/>
          </a:prstGeom>
          <a:noFill/>
          <a:ln/>
        </p:spPr>
        <p:txBody>
          <a:bodyPr wrap="square" lIns="0" tIns="0" rIns="0" bIns="0" rtlCol="0" anchor="ctr"/>
          <a:lstStyle/>
          <a:p>
            <a:pPr marL="0" indent="0">
              <a:buNone/>
            </a:pPr>
            <a:r>
              <a:rPr lang="en-US" sz="1400" b="1" dirty="0">
                <a:solidFill>
                  <a:srgbClr val="0A0A0A"/>
                </a:solidFill>
                <a:latin typeface="Calibri" pitchFamily="34" charset="0"/>
                <a:ea typeface="Calibri" pitchFamily="34" charset="-122"/>
                <a:cs typeface="Calibri" pitchFamily="34" charset="-120"/>
              </a:rPr>
              <a:t>Approve or reject</a:t>
            </a:r>
            <a:endParaRPr lang="en-US" sz="1400" dirty="0"/>
          </a:p>
        </p:txBody>
      </p:sp>
      <p:sp>
        <p:nvSpPr>
          <p:cNvPr id="35" name="Text 30"/>
          <p:cNvSpPr txBox="1"/>
          <p:nvPr/>
        </p:nvSpPr>
        <p:spPr>
          <a:xfrm>
            <a:off x="4718304" y="3666744"/>
            <a:ext cx="3136392" cy="658368"/>
          </a:xfrm>
          <a:prstGeom prst="rect">
            <a:avLst/>
          </a:prstGeom>
          <a:noFill/>
          <a:ln/>
        </p:spPr>
        <p:txBody>
          <a:bodyPr wrap="square" lIns="0" tIns="0" rIns="0" bIns="0" rtlCol="0" anchor="ctr"/>
          <a:lstStyle/>
          <a:p>
            <a:pPr marL="0" indent="0">
              <a:lnSpc>
                <a:spcPct val="105000"/>
              </a:lnSpc>
              <a:buNone/>
            </a:pPr>
            <a:r>
              <a:rPr lang="en-US" sz="1100" dirty="0">
                <a:solidFill>
                  <a:srgbClr val="6B6B6B"/>
                </a:solidFill>
                <a:latin typeface="Calibri" pitchFamily="34" charset="0"/>
                <a:ea typeface="Calibri" pitchFamily="34" charset="-122"/>
                <a:cs typeface="Calibri" pitchFamily="34" charset="-120"/>
              </a:rPr>
              <a:t>Each approver decides with comments and a signature; a single rejection stops the permit.</a:t>
            </a:r>
            <a:endParaRPr lang="en-US" sz="1100" dirty="0"/>
          </a:p>
        </p:txBody>
      </p:sp>
      <p:sp>
        <p:nvSpPr>
          <p:cNvPr id="36" name="Shape 31"/>
          <p:cNvSpPr/>
          <p:nvPr/>
        </p:nvSpPr>
        <p:spPr>
          <a:xfrm>
            <a:off x="8385048" y="2788920"/>
            <a:ext cx="3639312" cy="1609344"/>
          </a:xfrm>
          <a:prstGeom prst="roundRect">
            <a:avLst>
              <a:gd name="adj" fmla="val 6818"/>
            </a:avLst>
          </a:prstGeom>
          <a:solidFill>
            <a:srgbClr val="FFFFFF"/>
          </a:solidFill>
          <a:ln w="12700">
            <a:solidFill>
              <a:srgbClr val="E3E3E3"/>
            </a:solidFill>
            <a:prstDash val="solid"/>
          </a:ln>
        </p:spPr>
        <p:txBody>
          <a:bodyPr/>
          <a:lstStyle/>
          <a:p>
            <a:endParaRPr/>
          </a:p>
        </p:txBody>
      </p:sp>
      <p:sp>
        <p:nvSpPr>
          <p:cNvPr id="37" name="Shape 32"/>
          <p:cNvSpPr/>
          <p:nvPr/>
        </p:nvSpPr>
        <p:spPr>
          <a:xfrm>
            <a:off x="8659368" y="3026664"/>
            <a:ext cx="548640" cy="548640"/>
          </a:xfrm>
          <a:prstGeom prst="ellipse">
            <a:avLst/>
          </a:prstGeom>
          <a:solidFill>
            <a:srgbClr val="EFEFEF"/>
          </a:solidFill>
          <a:ln/>
        </p:spPr>
        <p:txBody>
          <a:bodyPr/>
          <a:lstStyle/>
          <a:p>
            <a:endParaRPr/>
          </a:p>
        </p:txBody>
      </p:sp>
      <p:pic>
        <p:nvPicPr>
          <p:cNvPr id="38" name="Image 3" descr="orig/ppt/media/image31.png"/>
          <p:cNvPicPr>
            <a:picLocks noChangeAspect="1"/>
          </p:cNvPicPr>
          <p:nvPr/>
        </p:nvPicPr>
        <p:blipFill>
          <a:blip r:embed="rId6"/>
          <a:stretch>
            <a:fillRect/>
          </a:stretch>
        </p:blipFill>
        <p:spPr>
          <a:xfrm>
            <a:off x="8818474" y="3185770"/>
            <a:ext cx="230429" cy="230429"/>
          </a:xfrm>
          <a:prstGeom prst="rect">
            <a:avLst/>
          </a:prstGeom>
        </p:spPr>
      </p:pic>
      <p:sp>
        <p:nvSpPr>
          <p:cNvPr id="39" name="Text 33"/>
          <p:cNvSpPr txBox="1"/>
          <p:nvPr/>
        </p:nvSpPr>
        <p:spPr>
          <a:xfrm>
            <a:off x="9317736" y="3044952"/>
            <a:ext cx="2523744" cy="512064"/>
          </a:xfrm>
          <a:prstGeom prst="rect">
            <a:avLst/>
          </a:prstGeom>
          <a:noFill/>
          <a:ln/>
        </p:spPr>
        <p:txBody>
          <a:bodyPr wrap="square" lIns="0" tIns="0" rIns="0" bIns="0" rtlCol="0" anchor="ctr"/>
          <a:lstStyle/>
          <a:p>
            <a:pPr marL="0" indent="0">
              <a:buNone/>
            </a:pPr>
            <a:r>
              <a:rPr lang="en-US" sz="1400" b="1" dirty="0">
                <a:solidFill>
                  <a:srgbClr val="0A0A0A"/>
                </a:solidFill>
                <a:latin typeface="Calibri" pitchFamily="34" charset="0"/>
                <a:ea typeface="Calibri" pitchFamily="34" charset="-122"/>
                <a:cs typeface="Calibri" pitchFamily="34" charset="-120"/>
              </a:rPr>
              <a:t>Activate with PDF</a:t>
            </a:r>
            <a:endParaRPr lang="en-US" sz="1400" dirty="0"/>
          </a:p>
        </p:txBody>
      </p:sp>
      <p:sp>
        <p:nvSpPr>
          <p:cNvPr id="40" name="Text 34"/>
          <p:cNvSpPr txBox="1"/>
          <p:nvPr/>
        </p:nvSpPr>
        <p:spPr>
          <a:xfrm>
            <a:off x="8659368" y="3666744"/>
            <a:ext cx="3136392" cy="658368"/>
          </a:xfrm>
          <a:prstGeom prst="rect">
            <a:avLst/>
          </a:prstGeom>
          <a:noFill/>
          <a:ln/>
        </p:spPr>
        <p:txBody>
          <a:bodyPr wrap="square" lIns="0" tIns="0" rIns="0" bIns="0" rtlCol="0" anchor="ctr"/>
          <a:lstStyle/>
          <a:p>
            <a:pPr marL="0" indent="0">
              <a:lnSpc>
                <a:spcPct val="105000"/>
              </a:lnSpc>
              <a:buNone/>
            </a:pPr>
            <a:r>
              <a:rPr lang="en-US" sz="1100" dirty="0">
                <a:solidFill>
                  <a:srgbClr val="6B6B6B"/>
                </a:solidFill>
                <a:latin typeface="Calibri" pitchFamily="34" charset="0"/>
                <a:ea typeface="Calibri" pitchFamily="34" charset="-122"/>
                <a:cs typeface="Calibri" pitchFamily="34" charset="-120"/>
              </a:rPr>
              <a:t>Issues the permit, sets the validity window and generates an activation PDF. A site can auto-activate on final approval.</a:t>
            </a:r>
            <a:endParaRPr lang="en-US" sz="1100" dirty="0"/>
          </a:p>
        </p:txBody>
      </p:sp>
      <p:sp>
        <p:nvSpPr>
          <p:cNvPr id="46" name="Shape 39"/>
          <p:cNvSpPr/>
          <p:nvPr/>
        </p:nvSpPr>
        <p:spPr>
          <a:xfrm>
            <a:off x="2304288" y="4562856"/>
            <a:ext cx="3639312" cy="1609344"/>
          </a:xfrm>
          <a:prstGeom prst="roundRect">
            <a:avLst>
              <a:gd name="adj" fmla="val 6818"/>
            </a:avLst>
          </a:prstGeom>
          <a:solidFill>
            <a:srgbClr val="FFFFFF"/>
          </a:solidFill>
          <a:ln w="12700">
            <a:solidFill>
              <a:srgbClr val="E3E3E3"/>
            </a:solidFill>
            <a:prstDash val="solid"/>
          </a:ln>
        </p:spPr>
        <p:txBody>
          <a:bodyPr/>
          <a:lstStyle/>
          <a:p>
            <a:endParaRPr/>
          </a:p>
        </p:txBody>
      </p:sp>
      <p:sp>
        <p:nvSpPr>
          <p:cNvPr id="47" name="Shape 40"/>
          <p:cNvSpPr/>
          <p:nvPr/>
        </p:nvSpPr>
        <p:spPr>
          <a:xfrm>
            <a:off x="2578608" y="4800600"/>
            <a:ext cx="548640" cy="548640"/>
          </a:xfrm>
          <a:prstGeom prst="ellipse">
            <a:avLst/>
          </a:prstGeom>
          <a:solidFill>
            <a:srgbClr val="EFEFEF"/>
          </a:solidFill>
          <a:ln/>
        </p:spPr>
        <p:txBody>
          <a:bodyPr/>
          <a:lstStyle/>
          <a:p>
            <a:endParaRPr/>
          </a:p>
        </p:txBody>
      </p:sp>
      <p:pic>
        <p:nvPicPr>
          <p:cNvPr id="48" name="Image 5" descr="icons/link-navy.png"/>
          <p:cNvPicPr>
            <a:picLocks noChangeAspect="1"/>
          </p:cNvPicPr>
          <p:nvPr/>
        </p:nvPicPr>
        <p:blipFill>
          <a:blip r:embed="rId7"/>
          <a:stretch>
            <a:fillRect/>
          </a:stretch>
        </p:blipFill>
        <p:spPr>
          <a:xfrm>
            <a:off x="2737713" y="4959706"/>
            <a:ext cx="230429" cy="230429"/>
          </a:xfrm>
          <a:prstGeom prst="rect">
            <a:avLst/>
          </a:prstGeom>
        </p:spPr>
      </p:pic>
      <p:sp>
        <p:nvSpPr>
          <p:cNvPr id="49" name="Text 41"/>
          <p:cNvSpPr txBox="1"/>
          <p:nvPr/>
        </p:nvSpPr>
        <p:spPr>
          <a:xfrm>
            <a:off x="3236976" y="4818888"/>
            <a:ext cx="2523744" cy="512064"/>
          </a:xfrm>
          <a:prstGeom prst="rect">
            <a:avLst/>
          </a:prstGeom>
          <a:noFill/>
          <a:ln/>
        </p:spPr>
        <p:txBody>
          <a:bodyPr wrap="square" lIns="0" tIns="0" rIns="0" bIns="0" rtlCol="0" anchor="ctr"/>
          <a:lstStyle/>
          <a:p>
            <a:pPr marL="0" indent="0">
              <a:buNone/>
            </a:pPr>
            <a:r>
              <a:rPr lang="en-US" sz="1400" b="1" dirty="0">
                <a:solidFill>
                  <a:srgbClr val="0A0A0A"/>
                </a:solidFill>
                <a:latin typeface="Calibri" pitchFamily="34" charset="0"/>
                <a:ea typeface="Calibri" pitchFamily="34" charset="-122"/>
                <a:cs typeface="Calibri" pitchFamily="34" charset="-120"/>
              </a:rPr>
              <a:t>Link, extend and renew</a:t>
            </a:r>
            <a:endParaRPr lang="en-US" sz="1400" dirty="0"/>
          </a:p>
        </p:txBody>
      </p:sp>
      <p:sp>
        <p:nvSpPr>
          <p:cNvPr id="50" name="Text 42"/>
          <p:cNvSpPr txBox="1"/>
          <p:nvPr/>
        </p:nvSpPr>
        <p:spPr>
          <a:xfrm>
            <a:off x="2578608" y="5440680"/>
            <a:ext cx="3136392" cy="658368"/>
          </a:xfrm>
          <a:prstGeom prst="rect">
            <a:avLst/>
          </a:prstGeom>
          <a:noFill/>
          <a:ln/>
        </p:spPr>
        <p:txBody>
          <a:bodyPr wrap="square" lIns="0" tIns="0" rIns="0" bIns="0" rtlCol="0" anchor="ctr"/>
          <a:lstStyle/>
          <a:p>
            <a:pPr marL="0" indent="0">
              <a:lnSpc>
                <a:spcPct val="105000"/>
              </a:lnSpc>
              <a:buNone/>
            </a:pPr>
            <a:r>
              <a:rPr lang="en-US" sz="1100" dirty="0">
                <a:solidFill>
                  <a:srgbClr val="6B6B6B"/>
                </a:solidFill>
                <a:latin typeface="Calibri" pitchFamily="34" charset="0"/>
                <a:ea typeface="Calibri" pitchFamily="34" charset="-122"/>
                <a:cs typeface="Calibri" pitchFamily="34" charset="-120"/>
              </a:rPr>
              <a:t>Link permits so a job needing several is tracked as one. Extend in place by 8, 12 or 24 hours, or renew into a fresh permit.</a:t>
            </a:r>
            <a:endParaRPr lang="en-US" sz="1100" dirty="0"/>
          </a:p>
        </p:txBody>
      </p:sp>
      <p:sp>
        <p:nvSpPr>
          <p:cNvPr id="51" name="Shape 43"/>
          <p:cNvSpPr/>
          <p:nvPr/>
        </p:nvSpPr>
        <p:spPr>
          <a:xfrm>
            <a:off x="6245352" y="4562856"/>
            <a:ext cx="3639312" cy="1609344"/>
          </a:xfrm>
          <a:prstGeom prst="roundRect">
            <a:avLst>
              <a:gd name="adj" fmla="val 6818"/>
            </a:avLst>
          </a:prstGeom>
          <a:solidFill>
            <a:srgbClr val="FFFFFF"/>
          </a:solidFill>
          <a:ln w="12700">
            <a:solidFill>
              <a:srgbClr val="E3E3E3"/>
            </a:solidFill>
            <a:prstDash val="solid"/>
          </a:ln>
        </p:spPr>
        <p:txBody>
          <a:bodyPr/>
          <a:lstStyle/>
          <a:p>
            <a:endParaRPr/>
          </a:p>
        </p:txBody>
      </p:sp>
      <p:sp>
        <p:nvSpPr>
          <p:cNvPr id="52" name="Shape 44"/>
          <p:cNvSpPr/>
          <p:nvPr/>
        </p:nvSpPr>
        <p:spPr>
          <a:xfrm>
            <a:off x="6519672" y="4800600"/>
            <a:ext cx="548640" cy="548640"/>
          </a:xfrm>
          <a:prstGeom prst="ellipse">
            <a:avLst/>
          </a:prstGeom>
          <a:solidFill>
            <a:srgbClr val="EFEFEF"/>
          </a:solidFill>
          <a:ln/>
        </p:spPr>
        <p:txBody>
          <a:bodyPr/>
          <a:lstStyle/>
          <a:p>
            <a:endParaRPr/>
          </a:p>
        </p:txBody>
      </p:sp>
      <p:pic>
        <p:nvPicPr>
          <p:cNvPr id="53" name="Image 6" descr="orig/ppt/media/image33.png"/>
          <p:cNvPicPr>
            <a:picLocks noChangeAspect="1"/>
          </p:cNvPicPr>
          <p:nvPr/>
        </p:nvPicPr>
        <p:blipFill>
          <a:blip r:embed="rId8"/>
          <a:stretch>
            <a:fillRect/>
          </a:stretch>
        </p:blipFill>
        <p:spPr>
          <a:xfrm>
            <a:off x="6678777" y="4959706"/>
            <a:ext cx="230429" cy="230429"/>
          </a:xfrm>
          <a:prstGeom prst="rect">
            <a:avLst/>
          </a:prstGeom>
        </p:spPr>
      </p:pic>
      <p:sp>
        <p:nvSpPr>
          <p:cNvPr id="54" name="Text 45"/>
          <p:cNvSpPr txBox="1"/>
          <p:nvPr/>
        </p:nvSpPr>
        <p:spPr>
          <a:xfrm>
            <a:off x="7178040" y="4818888"/>
            <a:ext cx="2523744" cy="512064"/>
          </a:xfrm>
          <a:prstGeom prst="rect">
            <a:avLst/>
          </a:prstGeom>
          <a:noFill/>
          <a:ln/>
        </p:spPr>
        <p:txBody>
          <a:bodyPr wrap="square" lIns="0" tIns="0" rIns="0" bIns="0" rtlCol="0" anchor="ctr"/>
          <a:lstStyle/>
          <a:p>
            <a:pPr marL="0" indent="0">
              <a:buNone/>
            </a:pPr>
            <a:r>
              <a:rPr lang="en-US" sz="1400" b="1" dirty="0">
                <a:solidFill>
                  <a:srgbClr val="0A0A0A"/>
                </a:solidFill>
                <a:latin typeface="Calibri" pitchFamily="34" charset="0"/>
                <a:ea typeface="Calibri" pitchFamily="34" charset="-122"/>
                <a:cs typeface="Calibri" pitchFamily="34" charset="-120"/>
              </a:rPr>
              <a:t>Expire and archive</a:t>
            </a:r>
            <a:endParaRPr lang="en-US" sz="1400" dirty="0"/>
          </a:p>
        </p:txBody>
      </p:sp>
      <p:sp>
        <p:nvSpPr>
          <p:cNvPr id="55" name="Text 46"/>
          <p:cNvSpPr txBox="1"/>
          <p:nvPr/>
        </p:nvSpPr>
        <p:spPr>
          <a:xfrm>
            <a:off x="6519672" y="5440680"/>
            <a:ext cx="3136392" cy="658368"/>
          </a:xfrm>
          <a:prstGeom prst="rect">
            <a:avLst/>
          </a:prstGeom>
          <a:noFill/>
          <a:ln/>
        </p:spPr>
        <p:txBody>
          <a:bodyPr wrap="square" lIns="0" tIns="0" rIns="0" bIns="0" rtlCol="0" anchor="ctr"/>
          <a:lstStyle/>
          <a:p>
            <a:pPr marL="0" indent="0">
              <a:lnSpc>
                <a:spcPct val="105000"/>
              </a:lnSpc>
              <a:buNone/>
            </a:pPr>
            <a:r>
              <a:rPr lang="en-US" sz="1100" dirty="0">
                <a:solidFill>
                  <a:srgbClr val="6B6B6B"/>
                </a:solidFill>
                <a:latin typeface="Calibri" pitchFamily="34" charset="0"/>
                <a:ea typeface="Calibri" pitchFamily="34" charset="-122"/>
                <a:cs typeface="Calibri" pitchFamily="34" charset="-120"/>
              </a:rPr>
              <a:t>Permits past their validity window expire on their own, with pre-expiry warnings, and old records archive automatically.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PERMIT · EQUIPMENT &amp; ISOLATION</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Isolation, tied to the permit that needs it</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The plant’s asset register and its isolation records sit in the same system as the permit, so a permit cannot authorise work on equipment nobody verified isolated.</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
        <p:nvSpPr>
          <p:cNvPr id="8" name="Shape 5"/>
          <p:cNvSpPr/>
          <p:nvPr/>
        </p:nvSpPr>
        <p:spPr>
          <a:xfrm>
            <a:off x="502920"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566928" cy="566928"/>
          </a:xfrm>
          <a:prstGeom prst="ellipse">
            <a:avLst/>
          </a:prstGeom>
          <a:solidFill>
            <a:srgbClr val="EFEFEF"/>
          </a:solidFill>
          <a:ln/>
        </p:spPr>
        <p:txBody>
          <a:bodyPr/>
          <a:lstStyle/>
          <a:p>
            <a:endParaRPr/>
          </a:p>
        </p:txBody>
      </p:sp>
      <p:pic>
        <p:nvPicPr>
          <p:cNvPr id="10" name="Image 1" descr="orig/ppt/media/image27.png"/>
          <p:cNvPicPr>
            <a:picLocks noChangeAspect="1"/>
          </p:cNvPicPr>
          <p:nvPr/>
        </p:nvPicPr>
        <p:blipFill>
          <a:blip r:embed="rId4"/>
          <a:stretch>
            <a:fillRect/>
          </a:stretch>
        </p:blipFill>
        <p:spPr>
          <a:xfrm>
            <a:off x="987369" y="2706441"/>
            <a:ext cx="238110" cy="238110"/>
          </a:xfrm>
          <a:prstGeom prst="rect">
            <a:avLst/>
          </a:prstGeom>
        </p:spPr>
      </p:pic>
      <p:sp>
        <p:nvSpPr>
          <p:cNvPr id="11" name="Text 7"/>
          <p:cNvSpPr txBox="1"/>
          <p:nvPr/>
        </p:nvSpPr>
        <p:spPr>
          <a:xfrm>
            <a:off x="1554480"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Equipment register</a:t>
            </a:r>
            <a:endParaRPr lang="en-US" sz="1700" dirty="0"/>
          </a:p>
        </p:txBody>
      </p:sp>
      <p:sp>
        <p:nvSpPr>
          <p:cNvPr id="12" name="Shape 8"/>
          <p:cNvSpPr/>
          <p:nvPr/>
        </p:nvSpPr>
        <p:spPr>
          <a:xfrm>
            <a:off x="886968" y="3245205"/>
            <a:ext cx="118872" cy="118872"/>
          </a:xfrm>
          <a:prstGeom prst="ellipse">
            <a:avLst/>
          </a:prstGeom>
          <a:solidFill>
            <a:srgbClr val="C9922E"/>
          </a:solidFill>
          <a:ln/>
        </p:spPr>
        <p:txBody>
          <a:bodyPr/>
          <a:lstStyle/>
          <a:p>
            <a:endParaRPr/>
          </a:p>
        </p:txBody>
      </p:sp>
      <p:sp>
        <p:nvSpPr>
          <p:cNvPr id="13" name="Text 9"/>
          <p:cNvSpPr txBox="1"/>
          <p:nvPr/>
        </p:nvSpPr>
        <p:spPr>
          <a:xfrm>
            <a:off x="1161288"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Two identities</a:t>
            </a:r>
            <a:r>
              <a:rPr lang="en-US" sz="1180" dirty="0">
                <a:solidFill>
                  <a:srgbClr val="6B6B6B"/>
                </a:solidFill>
                <a:latin typeface="Calibri" pitchFamily="34" charset="0"/>
                <a:ea typeface="Calibri" pitchFamily="34" charset="-122"/>
                <a:cs typeface="Calibri" pitchFamily="34" charset="-120"/>
              </a:rPr>
              <a:t>  our equipment number plus the plant’s own tag number, both searchable</a:t>
            </a:r>
            <a:endParaRPr lang="en-US" sz="1180" dirty="0"/>
          </a:p>
        </p:txBody>
      </p:sp>
      <p:sp>
        <p:nvSpPr>
          <p:cNvPr id="14" name="Shape 10"/>
          <p:cNvSpPr/>
          <p:nvPr/>
        </p:nvSpPr>
        <p:spPr>
          <a:xfrm>
            <a:off x="886968" y="3729837"/>
            <a:ext cx="118872" cy="118872"/>
          </a:xfrm>
          <a:prstGeom prst="ellipse">
            <a:avLst/>
          </a:prstGeom>
          <a:solidFill>
            <a:srgbClr val="C9922E"/>
          </a:solidFill>
          <a:ln/>
        </p:spPr>
        <p:txBody>
          <a:bodyPr/>
          <a:lstStyle/>
          <a:p>
            <a:endParaRPr/>
          </a:p>
        </p:txBody>
      </p:sp>
      <p:sp>
        <p:nvSpPr>
          <p:cNvPr id="15" name="Text 11"/>
          <p:cNvSpPr txBox="1"/>
          <p:nvPr/>
        </p:nvSpPr>
        <p:spPr>
          <a:xfrm>
            <a:off x="1161288" y="370332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Bulk import</a:t>
            </a:r>
            <a:r>
              <a:rPr lang="en-US" sz="1180" dirty="0">
                <a:solidFill>
                  <a:srgbClr val="6B6B6B"/>
                </a:solidFill>
                <a:latin typeface="Calibri" pitchFamily="34" charset="0"/>
                <a:ea typeface="Calibri" pitchFamily="34" charset="-122"/>
                <a:cs typeface="Calibri" pitchFamily="34" charset="-120"/>
              </a:rPr>
              <a:t>  load the whole register from a CSV or Excel file in one pass</a:t>
            </a:r>
            <a:endParaRPr lang="en-US" sz="1180" dirty="0"/>
          </a:p>
        </p:txBody>
      </p:sp>
      <p:sp>
        <p:nvSpPr>
          <p:cNvPr id="16" name="Shape 12"/>
          <p:cNvSpPr/>
          <p:nvPr/>
        </p:nvSpPr>
        <p:spPr>
          <a:xfrm>
            <a:off x="886968" y="4031589"/>
            <a:ext cx="118872" cy="118872"/>
          </a:xfrm>
          <a:prstGeom prst="ellipse">
            <a:avLst/>
          </a:prstGeom>
          <a:solidFill>
            <a:srgbClr val="C9922E"/>
          </a:solidFill>
          <a:ln/>
        </p:spPr>
        <p:txBody>
          <a:bodyPr/>
          <a:lstStyle/>
          <a:p>
            <a:endParaRPr/>
          </a:p>
        </p:txBody>
      </p:sp>
      <p:sp>
        <p:nvSpPr>
          <p:cNvPr id="17" name="Text 13"/>
          <p:cNvSpPr txBox="1"/>
          <p:nvPr/>
        </p:nvSpPr>
        <p:spPr>
          <a:xfrm>
            <a:off x="1161288" y="4005072"/>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QR labels</a:t>
            </a:r>
            <a:r>
              <a:rPr lang="en-US" sz="1180" dirty="0">
                <a:solidFill>
                  <a:srgbClr val="6B6B6B"/>
                </a:solidFill>
                <a:latin typeface="Calibri" pitchFamily="34" charset="0"/>
                <a:ea typeface="Calibri" pitchFamily="34" charset="-122"/>
                <a:cs typeface="Calibri" pitchFamily="34" charset="-120"/>
              </a:rPr>
              <a:t>  print a code for the asset, then scan it on a phone to open it</a:t>
            </a:r>
            <a:endParaRPr lang="en-US" sz="1180" dirty="0"/>
          </a:p>
        </p:txBody>
      </p:sp>
      <p:sp>
        <p:nvSpPr>
          <p:cNvPr id="18" name="Shape 14"/>
          <p:cNvSpPr/>
          <p:nvPr/>
        </p:nvSpPr>
        <p:spPr>
          <a:xfrm>
            <a:off x="886968" y="4333341"/>
            <a:ext cx="118872" cy="118872"/>
          </a:xfrm>
          <a:prstGeom prst="ellipse">
            <a:avLst/>
          </a:prstGeom>
          <a:solidFill>
            <a:srgbClr val="C9922E"/>
          </a:solidFill>
          <a:ln/>
        </p:spPr>
        <p:txBody>
          <a:bodyPr/>
          <a:lstStyle/>
          <a:p>
            <a:endParaRPr/>
          </a:p>
        </p:txBody>
      </p:sp>
      <p:sp>
        <p:nvSpPr>
          <p:cNvPr id="19" name="Text 15"/>
          <p:cNvSpPr txBox="1"/>
          <p:nvPr/>
        </p:nvSpPr>
        <p:spPr>
          <a:xfrm>
            <a:off x="1161288" y="4306824"/>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Custom fields</a:t>
            </a:r>
            <a:r>
              <a:rPr lang="en-US" sz="1180" dirty="0">
                <a:solidFill>
                  <a:srgbClr val="6B6B6B"/>
                </a:solidFill>
                <a:latin typeface="Calibri" pitchFamily="34" charset="0"/>
                <a:ea typeface="Calibri" pitchFamily="34" charset="-122"/>
                <a:cs typeface="Calibri" pitchFamily="34" charset="-120"/>
              </a:rPr>
              <a:t>  add the attributes your plant tracks, with no code</a:t>
            </a:r>
            <a:endParaRPr lang="en-US" sz="1180" dirty="0"/>
          </a:p>
        </p:txBody>
      </p:sp>
      <p:sp>
        <p:nvSpPr>
          <p:cNvPr id="20" name="Shape 16"/>
          <p:cNvSpPr/>
          <p:nvPr/>
        </p:nvSpPr>
        <p:spPr>
          <a:xfrm>
            <a:off x="886968" y="4635093"/>
            <a:ext cx="118872" cy="118872"/>
          </a:xfrm>
          <a:prstGeom prst="ellipse">
            <a:avLst/>
          </a:prstGeom>
          <a:solidFill>
            <a:srgbClr val="C9922E"/>
          </a:solidFill>
          <a:ln/>
        </p:spPr>
        <p:txBody>
          <a:bodyPr/>
          <a:lstStyle/>
          <a:p>
            <a:endParaRPr/>
          </a:p>
        </p:txBody>
      </p:sp>
      <p:sp>
        <p:nvSpPr>
          <p:cNvPr id="21" name="Text 17"/>
          <p:cNvSpPr txBox="1"/>
          <p:nvPr/>
        </p:nvSpPr>
        <p:spPr>
          <a:xfrm>
            <a:off x="1161288" y="460857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Live availability</a:t>
            </a:r>
            <a:r>
              <a:rPr lang="en-US" sz="1180" dirty="0">
                <a:solidFill>
                  <a:srgbClr val="6B6B6B"/>
                </a:solidFill>
                <a:latin typeface="Calibri" pitchFamily="34" charset="0"/>
                <a:ea typeface="Calibri" pitchFamily="34" charset="-122"/>
                <a:cs typeface="Calibri" pitchFamily="34" charset="-120"/>
              </a:rPr>
              <a:t>  free or isolated is derived from open lockouts, never a stale flag</a:t>
            </a:r>
            <a:endParaRPr lang="en-US" sz="1180" dirty="0"/>
          </a:p>
        </p:txBody>
      </p:sp>
      <p:sp>
        <p:nvSpPr>
          <p:cNvPr id="22" name="Shape 18"/>
          <p:cNvSpPr/>
          <p:nvPr/>
        </p:nvSpPr>
        <p:spPr>
          <a:xfrm>
            <a:off x="886968" y="5119725"/>
            <a:ext cx="118872" cy="118872"/>
          </a:xfrm>
          <a:prstGeom prst="ellipse">
            <a:avLst/>
          </a:prstGeom>
          <a:solidFill>
            <a:srgbClr val="C9922E"/>
          </a:solidFill>
          <a:ln/>
        </p:spPr>
        <p:txBody>
          <a:bodyPr/>
          <a:lstStyle/>
          <a:p>
            <a:endParaRPr/>
          </a:p>
        </p:txBody>
      </p:sp>
      <p:sp>
        <p:nvSpPr>
          <p:cNvPr id="23" name="Text 19"/>
          <p:cNvSpPr txBox="1"/>
          <p:nvPr/>
        </p:nvSpPr>
        <p:spPr>
          <a:xfrm>
            <a:off x="1161288" y="509320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Full history</a:t>
            </a:r>
            <a:r>
              <a:rPr lang="en-US" sz="1180" dirty="0">
                <a:solidFill>
                  <a:srgbClr val="6B6B6B"/>
                </a:solidFill>
                <a:latin typeface="Calibri" pitchFamily="34" charset="0"/>
                <a:ea typeface="Calibri" pitchFamily="34" charset="-122"/>
                <a:cs typeface="Calibri" pitchFamily="34" charset="-120"/>
              </a:rPr>
              <a:t>  every lockout and every permit that asset has ever carried</a:t>
            </a:r>
            <a:endParaRPr lang="en-US" sz="1180" dirty="0"/>
          </a:p>
        </p:txBody>
      </p:sp>
      <p:sp>
        <p:nvSpPr>
          <p:cNvPr id="24" name="Shape 20"/>
          <p:cNvSpPr/>
          <p:nvPr/>
        </p:nvSpPr>
        <p:spPr>
          <a:xfrm>
            <a:off x="6199632"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25" name="Shape 21"/>
          <p:cNvSpPr/>
          <p:nvPr/>
        </p:nvSpPr>
        <p:spPr>
          <a:xfrm>
            <a:off x="6519672" y="2542032"/>
            <a:ext cx="566928" cy="566928"/>
          </a:xfrm>
          <a:prstGeom prst="ellipse">
            <a:avLst/>
          </a:prstGeom>
          <a:solidFill>
            <a:srgbClr val="EFEFEF"/>
          </a:solidFill>
          <a:ln/>
        </p:spPr>
        <p:txBody>
          <a:bodyPr/>
          <a:lstStyle/>
          <a:p>
            <a:endParaRPr/>
          </a:p>
        </p:txBody>
      </p:sp>
      <p:pic>
        <p:nvPicPr>
          <p:cNvPr id="26" name="Image 2" descr="orig/ppt/media/image16.png"/>
          <p:cNvPicPr>
            <a:picLocks noChangeAspect="1"/>
          </p:cNvPicPr>
          <p:nvPr/>
        </p:nvPicPr>
        <p:blipFill>
          <a:blip r:embed="rId5"/>
          <a:stretch>
            <a:fillRect/>
          </a:stretch>
        </p:blipFill>
        <p:spPr>
          <a:xfrm>
            <a:off x="6684081" y="2706441"/>
            <a:ext cx="238110" cy="238110"/>
          </a:xfrm>
          <a:prstGeom prst="rect">
            <a:avLst/>
          </a:prstGeom>
        </p:spPr>
      </p:pic>
      <p:sp>
        <p:nvSpPr>
          <p:cNvPr id="27" name="Text 22"/>
          <p:cNvSpPr txBox="1"/>
          <p:nvPr/>
        </p:nvSpPr>
        <p:spPr>
          <a:xfrm>
            <a:off x="7251192"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Lockout / Tagout</a:t>
            </a:r>
            <a:endParaRPr lang="en-US" sz="1700" dirty="0"/>
          </a:p>
        </p:txBody>
      </p:sp>
      <p:sp>
        <p:nvSpPr>
          <p:cNvPr id="28" name="Shape 23"/>
          <p:cNvSpPr/>
          <p:nvPr/>
        </p:nvSpPr>
        <p:spPr>
          <a:xfrm>
            <a:off x="6583680" y="3245205"/>
            <a:ext cx="118872" cy="118872"/>
          </a:xfrm>
          <a:prstGeom prst="ellipse">
            <a:avLst/>
          </a:prstGeom>
          <a:solidFill>
            <a:srgbClr val="C9922E"/>
          </a:solidFill>
          <a:ln/>
        </p:spPr>
        <p:txBody>
          <a:bodyPr/>
          <a:lstStyle/>
          <a:p>
            <a:endParaRPr/>
          </a:p>
        </p:txBody>
      </p:sp>
      <p:sp>
        <p:nvSpPr>
          <p:cNvPr id="29" name="Text 24"/>
          <p:cNvSpPr txBox="1"/>
          <p:nvPr/>
        </p:nvSpPr>
        <p:spPr>
          <a:xfrm>
            <a:off x="6858000"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Locks go on first</a:t>
            </a:r>
            <a:r>
              <a:rPr lang="en-US" sz="1180" dirty="0">
                <a:solidFill>
                  <a:srgbClr val="6B6B6B"/>
                </a:solidFill>
                <a:latin typeface="Calibri" pitchFamily="34" charset="0"/>
                <a:ea typeface="Calibri" pitchFamily="34" charset="-122"/>
                <a:cs typeface="Calibri" pitchFamily="34" charset="-120"/>
              </a:rPr>
              <a:t>  the record starts applied, and the flow verifies an isolation already physical</a:t>
            </a:r>
            <a:endParaRPr lang="en-US" sz="1180" dirty="0"/>
          </a:p>
        </p:txBody>
      </p:sp>
      <p:sp>
        <p:nvSpPr>
          <p:cNvPr id="30" name="Shape 25"/>
          <p:cNvSpPr/>
          <p:nvPr/>
        </p:nvSpPr>
        <p:spPr>
          <a:xfrm>
            <a:off x="6583680" y="3729837"/>
            <a:ext cx="118872" cy="118872"/>
          </a:xfrm>
          <a:prstGeom prst="ellipse">
            <a:avLst/>
          </a:prstGeom>
          <a:solidFill>
            <a:srgbClr val="C9922E"/>
          </a:solidFill>
          <a:ln/>
        </p:spPr>
        <p:txBody>
          <a:bodyPr/>
          <a:lstStyle/>
          <a:p>
            <a:endParaRPr/>
          </a:p>
        </p:txBody>
      </p:sp>
      <p:sp>
        <p:nvSpPr>
          <p:cNvPr id="31" name="Text 26"/>
          <p:cNvSpPr txBox="1"/>
          <p:nvPr/>
        </p:nvSpPr>
        <p:spPr>
          <a:xfrm>
            <a:off x="6858000" y="370332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One open lockout per asset</a:t>
            </a:r>
            <a:r>
              <a:rPr lang="en-US" sz="1180" dirty="0">
                <a:solidFill>
                  <a:srgbClr val="6B6B6B"/>
                </a:solidFill>
                <a:latin typeface="Calibri" pitchFamily="34" charset="0"/>
                <a:ea typeface="Calibri" pitchFamily="34" charset="-122"/>
                <a:cs typeface="Calibri" pitchFamily="34" charset="-120"/>
              </a:rPr>
              <a:t>  enforced by the database, not a screen check</a:t>
            </a:r>
            <a:endParaRPr lang="en-US" sz="1180" dirty="0"/>
          </a:p>
        </p:txBody>
      </p:sp>
      <p:sp>
        <p:nvSpPr>
          <p:cNvPr id="32" name="Shape 27"/>
          <p:cNvSpPr/>
          <p:nvPr/>
        </p:nvSpPr>
        <p:spPr>
          <a:xfrm>
            <a:off x="6583680" y="4031589"/>
            <a:ext cx="118872" cy="118872"/>
          </a:xfrm>
          <a:prstGeom prst="ellipse">
            <a:avLst/>
          </a:prstGeom>
          <a:solidFill>
            <a:srgbClr val="C9922E"/>
          </a:solidFill>
          <a:ln/>
        </p:spPr>
        <p:txBody>
          <a:bodyPr/>
          <a:lstStyle/>
          <a:p>
            <a:endParaRPr/>
          </a:p>
        </p:txBody>
      </p:sp>
      <p:sp>
        <p:nvSpPr>
          <p:cNvPr id="33" name="Text 28"/>
          <p:cNvSpPr txBox="1"/>
          <p:nvPr/>
        </p:nvSpPr>
        <p:spPr>
          <a:xfrm>
            <a:off x="6858000" y="400507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Photo evidence</a:t>
            </a:r>
            <a:r>
              <a:rPr lang="en-US" sz="1180" dirty="0">
                <a:solidFill>
                  <a:srgbClr val="6B6B6B"/>
                </a:solidFill>
                <a:latin typeface="Calibri" pitchFamily="34" charset="0"/>
                <a:ea typeface="Calibri" pitchFamily="34" charset="-122"/>
                <a:cs typeface="Calibri" pitchFamily="34" charset="-120"/>
              </a:rPr>
              <a:t>  a photo when locks go on and a second at release, stored on the record</a:t>
            </a:r>
            <a:endParaRPr lang="en-US" sz="1180" dirty="0"/>
          </a:p>
        </p:txBody>
      </p:sp>
      <p:sp>
        <p:nvSpPr>
          <p:cNvPr id="34" name="Shape 29"/>
          <p:cNvSpPr/>
          <p:nvPr/>
        </p:nvSpPr>
        <p:spPr>
          <a:xfrm>
            <a:off x="6583680" y="4516221"/>
            <a:ext cx="118872" cy="118872"/>
          </a:xfrm>
          <a:prstGeom prst="ellipse">
            <a:avLst/>
          </a:prstGeom>
          <a:solidFill>
            <a:srgbClr val="C9922E"/>
          </a:solidFill>
          <a:ln/>
        </p:spPr>
        <p:txBody>
          <a:bodyPr/>
          <a:lstStyle/>
          <a:p>
            <a:endParaRPr/>
          </a:p>
        </p:txBody>
      </p:sp>
      <p:sp>
        <p:nvSpPr>
          <p:cNvPr id="35" name="Text 30"/>
          <p:cNvSpPr txBox="1"/>
          <p:nvPr/>
        </p:nvSpPr>
        <p:spPr>
          <a:xfrm>
            <a:off x="6858000" y="448970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Signed release</a:t>
            </a:r>
            <a:r>
              <a:rPr lang="en-US" sz="1180" dirty="0">
                <a:solidFill>
                  <a:srgbClr val="6B6B6B"/>
                </a:solidFill>
                <a:latin typeface="Calibri" pitchFamily="34" charset="0"/>
                <a:ea typeface="Calibri" pitchFamily="34" charset="-122"/>
                <a:cs typeface="Calibri" pitchFamily="34" charset="-120"/>
              </a:rPr>
              <a:t>  only the person who applied the lockout may release it, and it is signed</a:t>
            </a:r>
            <a:endParaRPr lang="en-US" sz="1180" dirty="0"/>
          </a:p>
        </p:txBody>
      </p:sp>
      <p:sp>
        <p:nvSpPr>
          <p:cNvPr id="36" name="Shape 31"/>
          <p:cNvSpPr/>
          <p:nvPr/>
        </p:nvSpPr>
        <p:spPr>
          <a:xfrm>
            <a:off x="6583680" y="5000853"/>
            <a:ext cx="118872" cy="118872"/>
          </a:xfrm>
          <a:prstGeom prst="ellipse">
            <a:avLst/>
          </a:prstGeom>
          <a:solidFill>
            <a:srgbClr val="C9922E"/>
          </a:solidFill>
          <a:ln/>
        </p:spPr>
        <p:txBody>
          <a:bodyPr/>
          <a:lstStyle/>
          <a:p>
            <a:endParaRPr/>
          </a:p>
        </p:txBody>
      </p:sp>
      <p:sp>
        <p:nvSpPr>
          <p:cNvPr id="37" name="Text 32"/>
          <p:cNvSpPr txBox="1"/>
          <p:nvPr/>
        </p:nvSpPr>
        <p:spPr>
          <a:xfrm>
            <a:off x="6858000" y="497433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Linked and in step</a:t>
            </a:r>
            <a:r>
              <a:rPr lang="en-US" sz="1180" dirty="0">
                <a:solidFill>
                  <a:srgbClr val="6B6B6B"/>
                </a:solidFill>
                <a:latin typeface="Calibri" pitchFamily="34" charset="0"/>
                <a:ea typeface="Calibri" pitchFamily="34" charset="-122"/>
                <a:cs typeface="Calibri" pitchFamily="34" charset="-120"/>
              </a:rPr>
              <a:t>  activating the permit turns its verified isolations active in one move</a:t>
            </a:r>
            <a:endParaRPr lang="en-US" sz="1180" dirty="0"/>
          </a:p>
        </p:txBody>
      </p:sp>
      <p:sp>
        <p:nvSpPr>
          <p:cNvPr id="38" name="Shape 33"/>
          <p:cNvSpPr/>
          <p:nvPr/>
        </p:nvSpPr>
        <p:spPr>
          <a:xfrm>
            <a:off x="6583680" y="5485485"/>
            <a:ext cx="118872" cy="118872"/>
          </a:xfrm>
          <a:prstGeom prst="ellipse">
            <a:avLst/>
          </a:prstGeom>
          <a:solidFill>
            <a:srgbClr val="C9922E"/>
          </a:solidFill>
          <a:ln/>
        </p:spPr>
        <p:txBody>
          <a:bodyPr/>
          <a:lstStyle/>
          <a:p>
            <a:endParaRPr/>
          </a:p>
        </p:txBody>
      </p:sp>
      <p:sp>
        <p:nvSpPr>
          <p:cNvPr id="39" name="Text 34"/>
          <p:cNvSpPr txBox="1"/>
          <p:nvPr/>
        </p:nvSpPr>
        <p:spPr>
          <a:xfrm>
            <a:off x="6858000" y="545896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Interlocked both ways</a:t>
            </a:r>
            <a:r>
              <a:rPr lang="en-US" sz="1180" dirty="0">
                <a:solidFill>
                  <a:srgbClr val="6B6B6B"/>
                </a:solidFill>
                <a:latin typeface="Calibri" pitchFamily="34" charset="0"/>
                <a:ea typeface="Calibri" pitchFamily="34" charset="-122"/>
                <a:cs typeface="Calibri" pitchFamily="34" charset="-120"/>
              </a:rPr>
              <a:t>  no approval while an isolation is unverified, no release until the permit closes</a:t>
            </a:r>
            <a:endParaRPr lang="en-US" sz="11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ENTRYHUB · THE PRODUCT</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Every person on site, in one movement log</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EntryHub controls the two populations a plant does not employ: the contractors who work there and the visitors who come to see someone. One record per person, one pass or one badge, and one log that says who is inside right now.</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
        <p:nvSpPr>
          <p:cNvPr id="8" name="Shape 5"/>
          <p:cNvSpPr/>
          <p:nvPr/>
        </p:nvSpPr>
        <p:spPr>
          <a:xfrm>
            <a:off x="502920"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603504" cy="603504"/>
          </a:xfrm>
          <a:prstGeom prst="ellipse">
            <a:avLst/>
          </a:prstGeom>
          <a:solidFill>
            <a:srgbClr val="EFEFEF"/>
          </a:solidFill>
          <a:ln/>
        </p:spPr>
        <p:txBody>
          <a:bodyPr/>
          <a:lstStyle/>
          <a:p>
            <a:endParaRPr/>
          </a:p>
        </p:txBody>
      </p:sp>
      <p:pic>
        <p:nvPicPr>
          <p:cNvPr id="10" name="Image 1" descr="icons/users-navy.png"/>
          <p:cNvPicPr>
            <a:picLocks noChangeAspect="1"/>
          </p:cNvPicPr>
          <p:nvPr/>
        </p:nvPicPr>
        <p:blipFill>
          <a:blip r:embed="rId4"/>
          <a:stretch>
            <a:fillRect/>
          </a:stretch>
        </p:blipFill>
        <p:spPr>
          <a:xfrm>
            <a:off x="997976" y="2717048"/>
            <a:ext cx="253472" cy="253472"/>
          </a:xfrm>
          <a:prstGeom prst="rect">
            <a:avLst/>
          </a:prstGeom>
        </p:spPr>
      </p:pic>
      <p:sp>
        <p:nvSpPr>
          <p:cNvPr id="11" name="Text 7"/>
          <p:cNvSpPr txBox="1"/>
          <p:nvPr/>
        </p:nvSpPr>
        <p:spPr>
          <a:xfrm>
            <a:off x="795528"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Two populations</a:t>
            </a:r>
            <a:endParaRPr lang="en-US" sz="1600" dirty="0"/>
          </a:p>
        </p:txBody>
      </p:sp>
      <p:sp>
        <p:nvSpPr>
          <p:cNvPr id="12" name="Shape 8"/>
          <p:cNvSpPr/>
          <p:nvPr/>
        </p:nvSpPr>
        <p:spPr>
          <a:xfrm>
            <a:off x="832104" y="3594506"/>
            <a:ext cx="100584" cy="100584"/>
          </a:xfrm>
          <a:prstGeom prst="ellipse">
            <a:avLst/>
          </a:prstGeom>
          <a:solidFill>
            <a:srgbClr val="C9922E"/>
          </a:solidFill>
          <a:ln/>
        </p:spPr>
        <p:txBody>
          <a:bodyPr/>
          <a:lstStyle/>
          <a:p>
            <a:endParaRPr/>
          </a:p>
        </p:txBody>
      </p:sp>
      <p:sp>
        <p:nvSpPr>
          <p:cNvPr id="13" name="Text 9"/>
          <p:cNvSpPr txBox="1"/>
          <p:nvPr/>
        </p:nvSpPr>
        <p:spPr>
          <a:xfrm>
            <a:off x="1069848"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Contract workers</a:t>
            </a:r>
            <a:r>
              <a:rPr lang="en-US" sz="1080" dirty="0">
                <a:solidFill>
                  <a:srgbClr val="6B6B6B"/>
                </a:solidFill>
                <a:latin typeface="Calibri" pitchFamily="34" charset="0"/>
                <a:ea typeface="Calibri" pitchFamily="34" charset="-122"/>
                <a:cs typeface="Calibri" pitchFamily="34" charset="-120"/>
              </a:rPr>
              <a:t>  a firm, a worker record and a gate pass that carries the authority</a:t>
            </a:r>
            <a:endParaRPr lang="en-US" sz="1080" dirty="0"/>
          </a:p>
        </p:txBody>
      </p:sp>
      <p:sp>
        <p:nvSpPr>
          <p:cNvPr id="14" name="Shape 10"/>
          <p:cNvSpPr/>
          <p:nvPr/>
        </p:nvSpPr>
        <p:spPr>
          <a:xfrm>
            <a:off x="832104" y="4048048"/>
            <a:ext cx="100584" cy="100584"/>
          </a:xfrm>
          <a:prstGeom prst="ellipse">
            <a:avLst/>
          </a:prstGeom>
          <a:solidFill>
            <a:srgbClr val="C9922E"/>
          </a:solidFill>
          <a:ln/>
        </p:spPr>
        <p:txBody>
          <a:bodyPr/>
          <a:lstStyle/>
          <a:p>
            <a:endParaRPr/>
          </a:p>
        </p:txBody>
      </p:sp>
      <p:sp>
        <p:nvSpPr>
          <p:cNvPr id="15" name="Text 11"/>
          <p:cNvSpPr txBox="1"/>
          <p:nvPr/>
        </p:nvSpPr>
        <p:spPr>
          <a:xfrm>
            <a:off x="1069848"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Visitors</a:t>
            </a:r>
            <a:r>
              <a:rPr lang="en-US" sz="1080" dirty="0">
                <a:solidFill>
                  <a:srgbClr val="6B6B6B"/>
                </a:solidFill>
                <a:latin typeface="Calibri" pitchFamily="34" charset="0"/>
                <a:ea typeface="Calibri" pitchFamily="34" charset="-122"/>
                <a:cs typeface="Calibri" pitchFamily="34" charset="-120"/>
              </a:rPr>
              <a:t>  pre-registered or walk-in, admitted once the host is satisfied</a:t>
            </a:r>
            <a:endParaRPr lang="en-US" sz="1080" dirty="0"/>
          </a:p>
        </p:txBody>
      </p:sp>
      <p:sp>
        <p:nvSpPr>
          <p:cNvPr id="18" name="Shape 14"/>
          <p:cNvSpPr/>
          <p:nvPr/>
        </p:nvSpPr>
        <p:spPr>
          <a:xfrm>
            <a:off x="832104" y="4501591"/>
            <a:ext cx="100584" cy="100584"/>
          </a:xfrm>
          <a:prstGeom prst="ellipse">
            <a:avLst/>
          </a:prstGeom>
          <a:solidFill>
            <a:srgbClr val="C9922E"/>
          </a:solidFill>
          <a:ln/>
        </p:spPr>
        <p:txBody>
          <a:bodyPr/>
          <a:lstStyle/>
          <a:p>
            <a:endParaRPr/>
          </a:p>
        </p:txBody>
      </p:sp>
      <p:sp>
        <p:nvSpPr>
          <p:cNvPr id="19" name="Text 15"/>
          <p:cNvSpPr txBox="1"/>
          <p:nvPr/>
        </p:nvSpPr>
        <p:spPr>
          <a:xfrm>
            <a:off x="1069848"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Barred once, barred everywhere</a:t>
            </a:r>
            <a:r>
              <a:rPr lang="en-US" sz="1080" dirty="0">
                <a:solidFill>
                  <a:srgbClr val="6B6B6B"/>
                </a:solidFill>
                <a:latin typeface="Calibri" pitchFamily="34" charset="0"/>
                <a:ea typeface="Calibri" pitchFamily="34" charset="-122"/>
                <a:cs typeface="Calibri" pitchFamily="34" charset="-120"/>
              </a:rPr>
              <a:t>  a block follows the person across firms and plants</a:t>
            </a:r>
            <a:endParaRPr lang="en-US" sz="1080" dirty="0"/>
          </a:p>
        </p:txBody>
      </p:sp>
      <p:sp>
        <p:nvSpPr>
          <p:cNvPr id="20" name="Shape 16"/>
          <p:cNvSpPr/>
          <p:nvPr/>
        </p:nvSpPr>
        <p:spPr>
          <a:xfrm>
            <a:off x="832104" y="4955133"/>
            <a:ext cx="100584" cy="100584"/>
          </a:xfrm>
          <a:prstGeom prst="ellipse">
            <a:avLst/>
          </a:prstGeom>
          <a:solidFill>
            <a:srgbClr val="C9922E"/>
          </a:solidFill>
          <a:ln/>
        </p:spPr>
        <p:txBody>
          <a:bodyPr/>
          <a:lstStyle/>
          <a:p>
            <a:endParaRPr/>
          </a:p>
        </p:txBody>
      </p:sp>
      <p:sp>
        <p:nvSpPr>
          <p:cNvPr id="21" name="Text 17"/>
          <p:cNvSpPr txBox="1"/>
          <p:nvPr/>
        </p:nvSpPr>
        <p:spPr>
          <a:xfrm>
            <a:off x="1069848"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Numbered plainly</a:t>
            </a:r>
            <a:r>
              <a:rPr lang="en-US" sz="1080" dirty="0">
                <a:solidFill>
                  <a:srgbClr val="6B6B6B"/>
                </a:solidFill>
                <a:latin typeface="Calibri" pitchFamily="34" charset="0"/>
                <a:ea typeface="Calibri" pitchFamily="34" charset="-122"/>
                <a:cs typeface="Calibri" pitchFamily="34" charset="-120"/>
              </a:rPr>
              <a:t>  VS-000012 for a visitor, ACME/U2/CW/000023 for a worker</a:t>
            </a:r>
            <a:endParaRPr lang="en-US" sz="1080" dirty="0"/>
          </a:p>
        </p:txBody>
      </p:sp>
      <p:sp>
        <p:nvSpPr>
          <p:cNvPr id="22" name="Shape 18"/>
          <p:cNvSpPr/>
          <p:nvPr/>
        </p:nvSpPr>
        <p:spPr>
          <a:xfrm>
            <a:off x="4462272"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23" name="Shape 19"/>
          <p:cNvSpPr/>
          <p:nvPr/>
        </p:nvSpPr>
        <p:spPr>
          <a:xfrm>
            <a:off x="4782312" y="2542032"/>
            <a:ext cx="603504" cy="603504"/>
          </a:xfrm>
          <a:prstGeom prst="ellipse">
            <a:avLst/>
          </a:prstGeom>
          <a:solidFill>
            <a:srgbClr val="EFEFEF"/>
          </a:solidFill>
          <a:ln/>
        </p:spPr>
        <p:txBody>
          <a:bodyPr/>
          <a:lstStyle/>
          <a:p>
            <a:endParaRPr/>
          </a:p>
        </p:txBody>
      </p:sp>
      <p:pic>
        <p:nvPicPr>
          <p:cNvPr id="24" name="Image 2" descr="icons/layers-navy.png"/>
          <p:cNvPicPr>
            <a:picLocks noChangeAspect="1"/>
          </p:cNvPicPr>
          <p:nvPr/>
        </p:nvPicPr>
        <p:blipFill>
          <a:blip r:embed="rId5"/>
          <a:stretch>
            <a:fillRect/>
          </a:stretch>
        </p:blipFill>
        <p:spPr>
          <a:xfrm>
            <a:off x="4957328" y="2717048"/>
            <a:ext cx="253472" cy="253472"/>
          </a:xfrm>
          <a:prstGeom prst="rect">
            <a:avLst/>
          </a:prstGeom>
        </p:spPr>
      </p:pic>
      <p:sp>
        <p:nvSpPr>
          <p:cNvPr id="25" name="Text 20"/>
          <p:cNvSpPr txBox="1"/>
          <p:nvPr/>
        </p:nvSpPr>
        <p:spPr>
          <a:xfrm>
            <a:off x="4754880"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One movement log</a:t>
            </a:r>
            <a:endParaRPr lang="en-US" sz="1600" dirty="0"/>
          </a:p>
        </p:txBody>
      </p:sp>
      <p:sp>
        <p:nvSpPr>
          <p:cNvPr id="28" name="Shape 23"/>
          <p:cNvSpPr/>
          <p:nvPr/>
        </p:nvSpPr>
        <p:spPr>
          <a:xfrm>
            <a:off x="4791456" y="3594506"/>
            <a:ext cx="100584" cy="100584"/>
          </a:xfrm>
          <a:prstGeom prst="ellipse">
            <a:avLst/>
          </a:prstGeom>
          <a:solidFill>
            <a:srgbClr val="C9922E"/>
          </a:solidFill>
          <a:ln/>
        </p:spPr>
        <p:txBody>
          <a:bodyPr/>
          <a:lstStyle/>
          <a:p>
            <a:endParaRPr/>
          </a:p>
        </p:txBody>
      </p:sp>
      <p:sp>
        <p:nvSpPr>
          <p:cNvPr id="29" name="Text 24"/>
          <p:cNvSpPr txBox="1"/>
          <p:nvPr/>
        </p:nvSpPr>
        <p:spPr>
          <a:xfrm>
            <a:off x="5029200"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Presence is an index</a:t>
            </a:r>
            <a:r>
              <a:rPr lang="en-US" sz="1080" dirty="0">
                <a:solidFill>
                  <a:srgbClr val="6B6B6B"/>
                </a:solidFill>
                <a:latin typeface="Calibri" pitchFamily="34" charset="0"/>
                <a:ea typeface="Calibri" pitchFamily="34" charset="-122"/>
                <a:cs typeface="Calibri" pitchFamily="34" charset="-120"/>
              </a:rPr>
              <a:t>  who is inside is derived from the log, never a counter that drifts</a:t>
            </a:r>
            <a:endParaRPr lang="en-US" sz="1080" dirty="0"/>
          </a:p>
        </p:txBody>
      </p:sp>
      <p:sp>
        <p:nvSpPr>
          <p:cNvPr id="30" name="Shape 25"/>
          <p:cNvSpPr/>
          <p:nvPr/>
        </p:nvSpPr>
        <p:spPr>
          <a:xfrm>
            <a:off x="4791456" y="4048048"/>
            <a:ext cx="100584" cy="100584"/>
          </a:xfrm>
          <a:prstGeom prst="ellipse">
            <a:avLst/>
          </a:prstGeom>
          <a:solidFill>
            <a:srgbClr val="C9922E"/>
          </a:solidFill>
          <a:ln/>
        </p:spPr>
        <p:txBody>
          <a:bodyPr/>
          <a:lstStyle/>
          <a:p>
            <a:endParaRPr/>
          </a:p>
        </p:txBody>
      </p:sp>
      <p:sp>
        <p:nvSpPr>
          <p:cNvPr id="31" name="Text 26"/>
          <p:cNvSpPr txBox="1"/>
          <p:nvPr/>
        </p:nvSpPr>
        <p:spPr>
          <a:xfrm>
            <a:off x="5029200"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Live inside board</a:t>
            </a:r>
            <a:r>
              <a:rPr lang="en-US" sz="1080" dirty="0">
                <a:solidFill>
                  <a:srgbClr val="6B6B6B"/>
                </a:solidFill>
                <a:latin typeface="Calibri" pitchFamily="34" charset="0"/>
                <a:ea typeface="Calibri" pitchFamily="34" charset="-122"/>
                <a:cs typeface="Calibri" pitchFamily="34" charset="-120"/>
              </a:rPr>
              <a:t>  who is on site right now, and how long they have been in</a:t>
            </a:r>
            <a:endParaRPr lang="en-US" sz="1080" dirty="0"/>
          </a:p>
        </p:txBody>
      </p:sp>
      <p:sp>
        <p:nvSpPr>
          <p:cNvPr id="32" name="Shape 27"/>
          <p:cNvSpPr/>
          <p:nvPr/>
        </p:nvSpPr>
        <p:spPr>
          <a:xfrm>
            <a:off x="4791456" y="4501591"/>
            <a:ext cx="100584" cy="100584"/>
          </a:xfrm>
          <a:prstGeom prst="ellipse">
            <a:avLst/>
          </a:prstGeom>
          <a:solidFill>
            <a:srgbClr val="C9922E"/>
          </a:solidFill>
          <a:ln/>
        </p:spPr>
        <p:txBody>
          <a:bodyPr/>
          <a:lstStyle/>
          <a:p>
            <a:endParaRPr/>
          </a:p>
        </p:txBody>
      </p:sp>
      <p:sp>
        <p:nvSpPr>
          <p:cNvPr id="33" name="Text 28"/>
          <p:cNvSpPr txBox="1"/>
          <p:nvPr/>
        </p:nvSpPr>
        <p:spPr>
          <a:xfrm>
            <a:off x="5029200"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Photo on the event</a:t>
            </a:r>
            <a:r>
              <a:rPr lang="en-US" sz="1080" dirty="0">
                <a:solidFill>
                  <a:srgbClr val="6B6B6B"/>
                </a:solidFill>
                <a:latin typeface="Calibri" pitchFamily="34" charset="0"/>
                <a:ea typeface="Calibri" pitchFamily="34" charset="-122"/>
                <a:cs typeface="Calibri" pitchFamily="34" charset="-120"/>
              </a:rPr>
              <a:t>  the person at the barrier is photographed onto the movement</a:t>
            </a:r>
            <a:endParaRPr lang="en-US" sz="1080" dirty="0"/>
          </a:p>
        </p:txBody>
      </p:sp>
      <p:sp>
        <p:nvSpPr>
          <p:cNvPr id="34" name="Shape 29"/>
          <p:cNvSpPr/>
          <p:nvPr/>
        </p:nvSpPr>
        <p:spPr>
          <a:xfrm>
            <a:off x="4791456" y="4955133"/>
            <a:ext cx="100584" cy="100584"/>
          </a:xfrm>
          <a:prstGeom prst="ellipse">
            <a:avLst/>
          </a:prstGeom>
          <a:solidFill>
            <a:srgbClr val="C9922E"/>
          </a:solidFill>
          <a:ln/>
        </p:spPr>
        <p:txBody>
          <a:bodyPr/>
          <a:lstStyle/>
          <a:p>
            <a:endParaRPr/>
          </a:p>
        </p:txBody>
      </p:sp>
      <p:sp>
        <p:nvSpPr>
          <p:cNvPr id="35" name="Text 30"/>
          <p:cNvSpPr txBox="1"/>
          <p:nvPr/>
        </p:nvSpPr>
        <p:spPr>
          <a:xfrm>
            <a:off x="5029200"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Refusals kept too</a:t>
            </a:r>
            <a:r>
              <a:rPr lang="en-US" sz="1080" dirty="0">
                <a:solidFill>
                  <a:srgbClr val="6B6B6B"/>
                </a:solidFill>
                <a:latin typeface="Calibri" pitchFamily="34" charset="0"/>
                <a:ea typeface="Calibri" pitchFamily="34" charset="-122"/>
                <a:cs typeface="Calibri" pitchFamily="34" charset="-120"/>
              </a:rPr>
              <a:t>  a turn-away is a record with its reason, not a gap</a:t>
            </a:r>
            <a:endParaRPr lang="en-US" sz="1080" dirty="0"/>
          </a:p>
        </p:txBody>
      </p:sp>
      <p:sp>
        <p:nvSpPr>
          <p:cNvPr id="36" name="Shape 31"/>
          <p:cNvSpPr/>
          <p:nvPr/>
        </p:nvSpPr>
        <p:spPr>
          <a:xfrm>
            <a:off x="8421624"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37" name="Shape 32"/>
          <p:cNvSpPr/>
          <p:nvPr/>
        </p:nvSpPr>
        <p:spPr>
          <a:xfrm>
            <a:off x="8741664" y="2542032"/>
            <a:ext cx="603504" cy="603504"/>
          </a:xfrm>
          <a:prstGeom prst="ellipse">
            <a:avLst/>
          </a:prstGeom>
          <a:solidFill>
            <a:srgbClr val="EFEFEF"/>
          </a:solidFill>
          <a:ln/>
        </p:spPr>
        <p:txBody>
          <a:bodyPr/>
          <a:lstStyle/>
          <a:p>
            <a:endParaRPr/>
          </a:p>
        </p:txBody>
      </p:sp>
      <p:pic>
        <p:nvPicPr>
          <p:cNvPr id="38" name="Image 3" descr="icons/building-navy.png"/>
          <p:cNvPicPr>
            <a:picLocks noChangeAspect="1"/>
          </p:cNvPicPr>
          <p:nvPr/>
        </p:nvPicPr>
        <p:blipFill>
          <a:blip r:embed="rId6"/>
          <a:stretch>
            <a:fillRect/>
          </a:stretch>
        </p:blipFill>
        <p:spPr>
          <a:xfrm>
            <a:off x="8916680" y="2717048"/>
            <a:ext cx="253472" cy="253472"/>
          </a:xfrm>
          <a:prstGeom prst="rect">
            <a:avLst/>
          </a:prstGeom>
        </p:spPr>
      </p:pic>
      <p:sp>
        <p:nvSpPr>
          <p:cNvPr id="39" name="Text 33"/>
          <p:cNvSpPr txBox="1"/>
          <p:nvPr/>
        </p:nvSpPr>
        <p:spPr>
          <a:xfrm>
            <a:off x="8714232"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Built to stand alone</a:t>
            </a:r>
            <a:endParaRPr lang="en-US" sz="1600" dirty="0"/>
          </a:p>
        </p:txBody>
      </p:sp>
      <p:sp>
        <p:nvSpPr>
          <p:cNvPr id="40" name="Shape 34"/>
          <p:cNvSpPr/>
          <p:nvPr/>
        </p:nvSpPr>
        <p:spPr>
          <a:xfrm>
            <a:off x="8750808" y="3594506"/>
            <a:ext cx="100584" cy="100584"/>
          </a:xfrm>
          <a:prstGeom prst="ellipse">
            <a:avLst/>
          </a:prstGeom>
          <a:solidFill>
            <a:srgbClr val="C9922E"/>
          </a:solidFill>
          <a:ln/>
        </p:spPr>
        <p:txBody>
          <a:bodyPr/>
          <a:lstStyle/>
          <a:p>
            <a:endParaRPr/>
          </a:p>
        </p:txBody>
      </p:sp>
      <p:sp>
        <p:nvSpPr>
          <p:cNvPr id="41" name="Text 35"/>
          <p:cNvSpPr txBox="1"/>
          <p:nvPr/>
        </p:nvSpPr>
        <p:spPr>
          <a:xfrm>
            <a:off x="8988552"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Its own everything</a:t>
            </a:r>
            <a:r>
              <a:rPr lang="en-US" sz="1080" dirty="0">
                <a:solidFill>
                  <a:srgbClr val="6B6B6B"/>
                </a:solidFill>
                <a:latin typeface="Calibri" pitchFamily="34" charset="0"/>
                <a:ea typeface="Calibri" pitchFamily="34" charset="-122"/>
                <a:cs typeface="Calibri" pitchFamily="34" charset="-120"/>
              </a:rPr>
              <a:t>  database, users, roles, login and audit trail, separate from Permit</a:t>
            </a:r>
            <a:endParaRPr lang="en-US" sz="1080" dirty="0"/>
          </a:p>
        </p:txBody>
      </p:sp>
      <p:sp>
        <p:nvSpPr>
          <p:cNvPr id="42" name="Shape 36"/>
          <p:cNvSpPr/>
          <p:nvPr/>
        </p:nvSpPr>
        <p:spPr>
          <a:xfrm>
            <a:off x="8750808" y="4048048"/>
            <a:ext cx="100584" cy="100584"/>
          </a:xfrm>
          <a:prstGeom prst="ellipse">
            <a:avLst/>
          </a:prstGeom>
          <a:solidFill>
            <a:srgbClr val="C9922E"/>
          </a:solidFill>
          <a:ln/>
        </p:spPr>
        <p:txBody>
          <a:bodyPr/>
          <a:lstStyle/>
          <a:p>
            <a:endParaRPr/>
          </a:p>
        </p:txBody>
      </p:sp>
      <p:sp>
        <p:nvSpPr>
          <p:cNvPr id="43" name="Text 37"/>
          <p:cNvSpPr txBox="1"/>
          <p:nvPr/>
        </p:nvSpPr>
        <p:spPr>
          <a:xfrm>
            <a:off x="8988552"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Six permissions</a:t>
            </a:r>
            <a:r>
              <a:rPr lang="en-US" sz="1080" dirty="0">
                <a:solidFill>
                  <a:srgbClr val="6B6B6B"/>
                </a:solidFill>
                <a:latin typeface="Calibri" pitchFamily="34" charset="0"/>
                <a:ea typeface="Calibri" pitchFamily="34" charset="-122"/>
                <a:cs typeface="Calibri" pitchFamily="34" charset="-120"/>
              </a:rPr>
              <a:t>  the whole product, deliberately not twenty</a:t>
            </a:r>
            <a:endParaRPr lang="en-US" sz="1080" dirty="0"/>
          </a:p>
        </p:txBody>
      </p:sp>
      <p:sp>
        <p:nvSpPr>
          <p:cNvPr id="44" name="Shape 38"/>
          <p:cNvSpPr/>
          <p:nvPr/>
        </p:nvSpPr>
        <p:spPr>
          <a:xfrm>
            <a:off x="8750808" y="4501591"/>
            <a:ext cx="100584" cy="100584"/>
          </a:xfrm>
          <a:prstGeom prst="ellipse">
            <a:avLst/>
          </a:prstGeom>
          <a:solidFill>
            <a:srgbClr val="C9922E"/>
          </a:solidFill>
          <a:ln/>
        </p:spPr>
        <p:txBody>
          <a:bodyPr/>
          <a:lstStyle/>
          <a:p>
            <a:endParaRPr/>
          </a:p>
        </p:txBody>
      </p:sp>
      <p:sp>
        <p:nvSpPr>
          <p:cNvPr id="45" name="Text 39"/>
          <p:cNvSpPr txBox="1"/>
          <p:nvPr/>
        </p:nvSpPr>
        <p:spPr>
          <a:xfrm>
            <a:off x="8988552"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One customer, several plants</a:t>
            </a:r>
            <a:r>
              <a:rPr lang="en-US" sz="1080" dirty="0">
                <a:solidFill>
                  <a:srgbClr val="6B6B6B"/>
                </a:solidFill>
                <a:latin typeface="Calibri" pitchFamily="34" charset="0"/>
                <a:ea typeface="Calibri" pitchFamily="34" charset="-122"/>
                <a:cs typeface="Calibri" pitchFamily="34" charset="-120"/>
              </a:rPr>
              <a:t>  every record filtered by the plant it belongs to</a:t>
            </a:r>
            <a:endParaRPr lang="en-US" sz="1080" dirty="0"/>
          </a:p>
        </p:txBody>
      </p:sp>
      <p:sp>
        <p:nvSpPr>
          <p:cNvPr id="46" name="Shape 40"/>
          <p:cNvSpPr/>
          <p:nvPr/>
        </p:nvSpPr>
        <p:spPr>
          <a:xfrm>
            <a:off x="8750808" y="4955133"/>
            <a:ext cx="100584" cy="100584"/>
          </a:xfrm>
          <a:prstGeom prst="ellipse">
            <a:avLst/>
          </a:prstGeom>
          <a:solidFill>
            <a:srgbClr val="C9922E"/>
          </a:solidFill>
          <a:ln/>
        </p:spPr>
        <p:txBody>
          <a:bodyPr/>
          <a:lstStyle/>
          <a:p>
            <a:endParaRPr/>
          </a:p>
        </p:txBody>
      </p:sp>
      <p:sp>
        <p:nvSpPr>
          <p:cNvPr id="47" name="Text 41"/>
          <p:cNvSpPr txBox="1"/>
          <p:nvPr/>
        </p:nvSpPr>
        <p:spPr>
          <a:xfrm>
            <a:off x="8988552"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Runs with Permit or without</a:t>
            </a:r>
            <a:r>
              <a:rPr lang="en-US" sz="1080" dirty="0">
                <a:solidFill>
                  <a:srgbClr val="6B6B6B"/>
                </a:solidFill>
                <a:latin typeface="Calibri" pitchFamily="34" charset="0"/>
                <a:ea typeface="Calibri" pitchFamily="34" charset="-122"/>
                <a:cs typeface="Calibri" pitchFamily="34" charset="-120"/>
              </a:rPr>
              <a:t>  the same tenant and org tree when a customer owns both</a:t>
            </a:r>
            <a:endParaRPr lang="en-US" sz="1080" dirty="0"/>
          </a:p>
        </p:txBody>
      </p:sp>
      <p:sp>
        <p:nvSpPr>
          <p:cNvPr id="48" name="Shape 42"/>
          <p:cNvSpPr/>
          <p:nvPr/>
        </p:nvSpPr>
        <p:spPr>
          <a:xfrm>
            <a:off x="8750808" y="5409590"/>
            <a:ext cx="100584" cy="100584"/>
          </a:xfrm>
          <a:prstGeom prst="ellipse">
            <a:avLst/>
          </a:prstGeom>
          <a:solidFill>
            <a:srgbClr val="C9922E"/>
          </a:solidFill>
          <a:ln/>
        </p:spPr>
        <p:txBody>
          <a:bodyPr/>
          <a:lstStyle/>
          <a:p>
            <a:endParaRPr/>
          </a:p>
        </p:txBody>
      </p:sp>
      <p:sp>
        <p:nvSpPr>
          <p:cNvPr id="49" name="Text 43"/>
          <p:cNvSpPr txBox="1"/>
          <p:nvPr/>
        </p:nvSpPr>
        <p:spPr>
          <a:xfrm>
            <a:off x="8988552"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Sold on its own</a:t>
            </a:r>
            <a:r>
              <a:rPr lang="en-US" sz="1080" dirty="0">
                <a:solidFill>
                  <a:srgbClr val="6B6B6B"/>
                </a:solidFill>
                <a:latin typeface="Calibri" pitchFamily="34" charset="0"/>
                <a:ea typeface="Calibri" pitchFamily="34" charset="-122"/>
                <a:cs typeface="Calibri" pitchFamily="34" charset="-120"/>
              </a:rPr>
              <a:t>  a plant can buy the gate first and add permits later</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ENTRYHUB · CONTRACTOR MANAGEMENT</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Every firm, every worker, every paper</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The contractor side of the product: who is allowed to bring people onto your site, how many, and with which papers in date all of it judged at the barrier rather than filed and forgotten.</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
        <p:nvSpPr>
          <p:cNvPr id="8" name="Shape 5"/>
          <p:cNvSpPr/>
          <p:nvPr/>
        </p:nvSpPr>
        <p:spPr>
          <a:xfrm>
            <a:off x="502920"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566928" cy="566928"/>
          </a:xfrm>
          <a:prstGeom prst="ellipse">
            <a:avLst/>
          </a:prstGeom>
          <a:solidFill>
            <a:srgbClr val="EFEFEF"/>
          </a:solidFill>
          <a:ln/>
        </p:spPr>
        <p:txBody>
          <a:bodyPr/>
          <a:lstStyle/>
          <a:p>
            <a:endParaRPr/>
          </a:p>
        </p:txBody>
      </p:sp>
      <p:pic>
        <p:nvPicPr>
          <p:cNvPr id="10" name="Image 1" descr="icons/building-navy.png"/>
          <p:cNvPicPr>
            <a:picLocks noChangeAspect="1"/>
          </p:cNvPicPr>
          <p:nvPr/>
        </p:nvPicPr>
        <p:blipFill>
          <a:blip r:embed="rId4"/>
          <a:stretch>
            <a:fillRect/>
          </a:stretch>
        </p:blipFill>
        <p:spPr>
          <a:xfrm>
            <a:off x="987369" y="2706441"/>
            <a:ext cx="238110" cy="238110"/>
          </a:xfrm>
          <a:prstGeom prst="rect">
            <a:avLst/>
          </a:prstGeom>
        </p:spPr>
      </p:pic>
      <p:sp>
        <p:nvSpPr>
          <p:cNvPr id="11" name="Text 7"/>
          <p:cNvSpPr txBox="1"/>
          <p:nvPr/>
        </p:nvSpPr>
        <p:spPr>
          <a:xfrm>
            <a:off x="1554480"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Firms on your site</a:t>
            </a:r>
            <a:endParaRPr lang="en-US" sz="1700" dirty="0"/>
          </a:p>
        </p:txBody>
      </p:sp>
      <p:sp>
        <p:nvSpPr>
          <p:cNvPr id="12" name="Shape 8"/>
          <p:cNvSpPr/>
          <p:nvPr/>
        </p:nvSpPr>
        <p:spPr>
          <a:xfrm>
            <a:off x="886968" y="3245205"/>
            <a:ext cx="118872" cy="118872"/>
          </a:xfrm>
          <a:prstGeom prst="ellipse">
            <a:avLst/>
          </a:prstGeom>
          <a:solidFill>
            <a:srgbClr val="C9922E"/>
          </a:solidFill>
          <a:ln/>
        </p:spPr>
        <p:txBody>
          <a:bodyPr/>
          <a:lstStyle/>
          <a:p>
            <a:endParaRPr/>
          </a:p>
        </p:txBody>
      </p:sp>
      <p:sp>
        <p:nvSpPr>
          <p:cNvPr id="13" name="Text 9"/>
          <p:cNvSpPr txBox="1"/>
          <p:nvPr/>
        </p:nvSpPr>
        <p:spPr>
          <a:xfrm>
            <a:off x="1161288"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firm record</a:t>
            </a:r>
            <a:r>
              <a:rPr lang="en-US" sz="1180" dirty="0">
                <a:solidFill>
                  <a:srgbClr val="6B6B6B"/>
                </a:solidFill>
                <a:latin typeface="Calibri" pitchFamily="34" charset="0"/>
                <a:ea typeface="Calibri" pitchFamily="34" charset="-122"/>
                <a:cs typeface="Calibri" pitchFamily="34" charset="-120"/>
              </a:rPr>
              <a:t>  contact, trade, the papers your plant insists on, active or not</a:t>
            </a:r>
            <a:endParaRPr lang="en-US" sz="1180" dirty="0"/>
          </a:p>
        </p:txBody>
      </p:sp>
      <p:sp>
        <p:nvSpPr>
          <p:cNvPr id="14" name="Shape 10"/>
          <p:cNvSpPr/>
          <p:nvPr/>
        </p:nvSpPr>
        <p:spPr>
          <a:xfrm>
            <a:off x="886968" y="3729837"/>
            <a:ext cx="118872" cy="118872"/>
          </a:xfrm>
          <a:prstGeom prst="ellipse">
            <a:avLst/>
          </a:prstGeom>
          <a:solidFill>
            <a:srgbClr val="C9922E"/>
          </a:solidFill>
          <a:ln/>
        </p:spPr>
        <p:txBody>
          <a:bodyPr/>
          <a:lstStyle/>
          <a:p>
            <a:endParaRPr/>
          </a:p>
        </p:txBody>
      </p:sp>
      <p:sp>
        <p:nvSpPr>
          <p:cNvPr id="15" name="Text 11"/>
          <p:cNvSpPr txBox="1"/>
          <p:nvPr/>
        </p:nvSpPr>
        <p:spPr>
          <a:xfrm>
            <a:off x="1161288" y="370332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CLRA licence</a:t>
            </a:r>
            <a:r>
              <a:rPr lang="en-US" sz="1180" dirty="0">
                <a:solidFill>
                  <a:srgbClr val="6B6B6B"/>
                </a:solidFill>
                <a:latin typeface="Calibri" pitchFamily="34" charset="0"/>
                <a:ea typeface="Calibri" pitchFamily="34" charset="-122"/>
                <a:cs typeface="Calibri" pitchFamily="34" charset="-120"/>
              </a:rPr>
              <a:t>  its number, its expiry and the headcount cap it grants</a:t>
            </a:r>
            <a:endParaRPr lang="en-US" sz="1180" dirty="0"/>
          </a:p>
        </p:txBody>
      </p:sp>
      <p:sp>
        <p:nvSpPr>
          <p:cNvPr id="16" name="Shape 12"/>
          <p:cNvSpPr/>
          <p:nvPr/>
        </p:nvSpPr>
        <p:spPr>
          <a:xfrm>
            <a:off x="886968" y="4031589"/>
            <a:ext cx="118872" cy="118872"/>
          </a:xfrm>
          <a:prstGeom prst="ellipse">
            <a:avLst/>
          </a:prstGeom>
          <a:solidFill>
            <a:srgbClr val="C9922E"/>
          </a:solidFill>
          <a:ln/>
        </p:spPr>
        <p:txBody>
          <a:bodyPr/>
          <a:lstStyle/>
          <a:p>
            <a:endParaRPr/>
          </a:p>
        </p:txBody>
      </p:sp>
      <p:sp>
        <p:nvSpPr>
          <p:cNvPr id="17" name="Text 13"/>
          <p:cNvSpPr txBox="1"/>
          <p:nvPr/>
        </p:nvSpPr>
        <p:spPr>
          <a:xfrm>
            <a:off x="1161288" y="400507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Cap enforced at the gate</a:t>
            </a:r>
            <a:r>
              <a:rPr lang="en-US" sz="1180" dirty="0">
                <a:solidFill>
                  <a:srgbClr val="6B6B6B"/>
                </a:solidFill>
                <a:latin typeface="Calibri" pitchFamily="34" charset="0"/>
                <a:ea typeface="Calibri" pitchFamily="34" charset="-122"/>
                <a:cs typeface="Calibri" pitchFamily="34" charset="-120"/>
              </a:rPr>
              <a:t>  the worker over the licence’s own limit is refused, not warned</a:t>
            </a:r>
            <a:endParaRPr lang="en-US" sz="1180" dirty="0"/>
          </a:p>
        </p:txBody>
      </p:sp>
      <p:sp>
        <p:nvSpPr>
          <p:cNvPr id="18" name="Shape 14"/>
          <p:cNvSpPr/>
          <p:nvPr/>
        </p:nvSpPr>
        <p:spPr>
          <a:xfrm>
            <a:off x="886968" y="4516221"/>
            <a:ext cx="118872" cy="118872"/>
          </a:xfrm>
          <a:prstGeom prst="ellipse">
            <a:avLst/>
          </a:prstGeom>
          <a:solidFill>
            <a:srgbClr val="C9922E"/>
          </a:solidFill>
          <a:ln/>
        </p:spPr>
        <p:txBody>
          <a:bodyPr/>
          <a:lstStyle/>
          <a:p>
            <a:endParaRPr/>
          </a:p>
        </p:txBody>
      </p:sp>
      <p:sp>
        <p:nvSpPr>
          <p:cNvPr id="19" name="Text 15"/>
          <p:cNvSpPr txBox="1"/>
          <p:nvPr/>
        </p:nvSpPr>
        <p:spPr>
          <a:xfrm>
            <a:off x="1161288" y="448970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Documents with dates</a:t>
            </a:r>
            <a:r>
              <a:rPr lang="en-US" sz="1180" dirty="0">
                <a:solidFill>
                  <a:srgbClr val="6B6B6B"/>
                </a:solidFill>
                <a:latin typeface="Calibri" pitchFamily="34" charset="0"/>
                <a:ea typeface="Calibri" pitchFamily="34" charset="-122"/>
                <a:cs typeface="Calibri" pitchFamily="34" charset="-120"/>
              </a:rPr>
              <a:t>  every document carries an expiry, so the gate can actually judge it</a:t>
            </a:r>
            <a:endParaRPr lang="en-US" sz="1180" dirty="0"/>
          </a:p>
        </p:txBody>
      </p:sp>
      <p:sp>
        <p:nvSpPr>
          <p:cNvPr id="20" name="Shape 16"/>
          <p:cNvSpPr/>
          <p:nvPr/>
        </p:nvSpPr>
        <p:spPr>
          <a:xfrm>
            <a:off x="886968" y="5000853"/>
            <a:ext cx="118872" cy="118872"/>
          </a:xfrm>
          <a:prstGeom prst="ellipse">
            <a:avLst/>
          </a:prstGeom>
          <a:solidFill>
            <a:srgbClr val="C9922E"/>
          </a:solidFill>
          <a:ln/>
        </p:spPr>
        <p:txBody>
          <a:bodyPr/>
          <a:lstStyle/>
          <a:p>
            <a:endParaRPr/>
          </a:p>
        </p:txBody>
      </p:sp>
      <p:sp>
        <p:nvSpPr>
          <p:cNvPr id="21" name="Text 17"/>
          <p:cNvSpPr txBox="1"/>
          <p:nvPr/>
        </p:nvSpPr>
        <p:spPr>
          <a:xfrm>
            <a:off x="1161288" y="4974336"/>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Debar a firm</a:t>
            </a:r>
            <a:r>
              <a:rPr lang="en-US" sz="1180" dirty="0">
                <a:solidFill>
                  <a:srgbClr val="6B6B6B"/>
                </a:solidFill>
                <a:latin typeface="Calibri" pitchFamily="34" charset="0"/>
                <a:ea typeface="Calibri" pitchFamily="34" charset="-122"/>
                <a:cs typeface="Calibri" pitchFamily="34" charset="-120"/>
              </a:rPr>
              <a:t>  a barred vendor’s whole roll stops at the barrier, that minute</a:t>
            </a:r>
            <a:endParaRPr lang="en-US" sz="1180" dirty="0"/>
          </a:p>
        </p:txBody>
      </p:sp>
      <p:sp>
        <p:nvSpPr>
          <p:cNvPr id="22" name="Shape 18"/>
          <p:cNvSpPr/>
          <p:nvPr/>
        </p:nvSpPr>
        <p:spPr>
          <a:xfrm>
            <a:off x="886968" y="5302605"/>
            <a:ext cx="118872" cy="118872"/>
          </a:xfrm>
          <a:prstGeom prst="ellipse">
            <a:avLst/>
          </a:prstGeom>
          <a:solidFill>
            <a:srgbClr val="C9922E"/>
          </a:solidFill>
          <a:ln/>
        </p:spPr>
        <p:txBody>
          <a:bodyPr/>
          <a:lstStyle/>
          <a:p>
            <a:endParaRPr/>
          </a:p>
        </p:txBody>
      </p:sp>
      <p:sp>
        <p:nvSpPr>
          <p:cNvPr id="23" name="Text 19"/>
          <p:cNvSpPr txBox="1"/>
          <p:nvPr/>
        </p:nvSpPr>
        <p:spPr>
          <a:xfrm>
            <a:off x="1161288" y="52760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Synced from Permit</a:t>
            </a:r>
            <a:r>
              <a:rPr lang="en-US" sz="1180" dirty="0">
                <a:solidFill>
                  <a:srgbClr val="6B6B6B"/>
                </a:solidFill>
                <a:latin typeface="Calibri" pitchFamily="34" charset="0"/>
                <a:ea typeface="Calibri" pitchFamily="34" charset="-122"/>
                <a:cs typeface="Calibri" pitchFamily="34" charset="-120"/>
              </a:rPr>
              <a:t>  a firm you already have is linked, never typed in twice</a:t>
            </a:r>
            <a:endParaRPr lang="en-US" sz="1180" dirty="0"/>
          </a:p>
        </p:txBody>
      </p:sp>
      <p:sp>
        <p:nvSpPr>
          <p:cNvPr id="24" name="Shape 20"/>
          <p:cNvSpPr/>
          <p:nvPr/>
        </p:nvSpPr>
        <p:spPr>
          <a:xfrm>
            <a:off x="6199632"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25" name="Shape 21"/>
          <p:cNvSpPr/>
          <p:nvPr/>
        </p:nvSpPr>
        <p:spPr>
          <a:xfrm>
            <a:off x="6519672" y="2542032"/>
            <a:ext cx="566928" cy="566928"/>
          </a:xfrm>
          <a:prstGeom prst="ellipse">
            <a:avLst/>
          </a:prstGeom>
          <a:solidFill>
            <a:srgbClr val="EFEFEF"/>
          </a:solidFill>
          <a:ln/>
        </p:spPr>
        <p:txBody>
          <a:bodyPr/>
          <a:lstStyle/>
          <a:p>
            <a:endParaRPr/>
          </a:p>
        </p:txBody>
      </p:sp>
      <p:pic>
        <p:nvPicPr>
          <p:cNvPr id="26" name="Image 2" descr="icons/hardHat-navy.png"/>
          <p:cNvPicPr>
            <a:picLocks noChangeAspect="1"/>
          </p:cNvPicPr>
          <p:nvPr/>
        </p:nvPicPr>
        <p:blipFill>
          <a:blip r:embed="rId5"/>
          <a:stretch>
            <a:fillRect/>
          </a:stretch>
        </p:blipFill>
        <p:spPr>
          <a:xfrm>
            <a:off x="6684081" y="2706441"/>
            <a:ext cx="238110" cy="238110"/>
          </a:xfrm>
          <a:prstGeom prst="rect">
            <a:avLst/>
          </a:prstGeom>
        </p:spPr>
      </p:pic>
      <p:sp>
        <p:nvSpPr>
          <p:cNvPr id="27" name="Text 22"/>
          <p:cNvSpPr txBox="1"/>
          <p:nvPr/>
        </p:nvSpPr>
        <p:spPr>
          <a:xfrm>
            <a:off x="7251192"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Workers on the roll</a:t>
            </a:r>
            <a:endParaRPr lang="en-US" sz="1700" dirty="0"/>
          </a:p>
        </p:txBody>
      </p:sp>
      <p:sp>
        <p:nvSpPr>
          <p:cNvPr id="28" name="Shape 23"/>
          <p:cNvSpPr/>
          <p:nvPr/>
        </p:nvSpPr>
        <p:spPr>
          <a:xfrm>
            <a:off x="6583680" y="3245205"/>
            <a:ext cx="118872" cy="118872"/>
          </a:xfrm>
          <a:prstGeom prst="ellipse">
            <a:avLst/>
          </a:prstGeom>
          <a:solidFill>
            <a:srgbClr val="C9922E"/>
          </a:solidFill>
          <a:ln/>
        </p:spPr>
        <p:txBody>
          <a:bodyPr/>
          <a:lstStyle/>
          <a:p>
            <a:endParaRPr/>
          </a:p>
        </p:txBody>
      </p:sp>
      <p:sp>
        <p:nvSpPr>
          <p:cNvPr id="29" name="Text 24"/>
          <p:cNvSpPr txBox="1"/>
          <p:nvPr/>
        </p:nvSpPr>
        <p:spPr>
          <a:xfrm>
            <a:off x="6858000"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One person, many engagements</a:t>
            </a:r>
            <a:r>
              <a:rPr lang="en-US" sz="1180" dirty="0">
                <a:solidFill>
                  <a:srgbClr val="6B6B6B"/>
                </a:solidFill>
                <a:latin typeface="Calibri" pitchFamily="34" charset="0"/>
                <a:ea typeface="Calibri" pitchFamily="34" charset="-122"/>
                <a:cs typeface="Calibri" pitchFamily="34" charset="-120"/>
              </a:rPr>
              <a:t>  a worker who returns for a second firm is the same record</a:t>
            </a:r>
            <a:endParaRPr lang="en-US" sz="1180" dirty="0"/>
          </a:p>
        </p:txBody>
      </p:sp>
      <p:sp>
        <p:nvSpPr>
          <p:cNvPr id="30" name="Shape 25"/>
          <p:cNvSpPr/>
          <p:nvPr/>
        </p:nvSpPr>
        <p:spPr>
          <a:xfrm>
            <a:off x="6583680" y="3729837"/>
            <a:ext cx="118872" cy="118872"/>
          </a:xfrm>
          <a:prstGeom prst="ellipse">
            <a:avLst/>
          </a:prstGeom>
          <a:solidFill>
            <a:srgbClr val="C9922E"/>
          </a:solidFill>
          <a:ln/>
        </p:spPr>
        <p:txBody>
          <a:bodyPr/>
          <a:lstStyle/>
          <a:p>
            <a:endParaRPr/>
          </a:p>
        </p:txBody>
      </p:sp>
      <p:sp>
        <p:nvSpPr>
          <p:cNvPr id="31" name="Text 26"/>
          <p:cNvSpPr txBox="1"/>
          <p:nvPr/>
        </p:nvSpPr>
        <p:spPr>
          <a:xfrm>
            <a:off x="6858000" y="370332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Numbered per plant</a:t>
            </a:r>
            <a:r>
              <a:rPr lang="en-US" sz="1180" dirty="0">
                <a:solidFill>
                  <a:srgbClr val="6B6B6B"/>
                </a:solidFill>
                <a:latin typeface="Calibri" pitchFamily="34" charset="0"/>
                <a:ea typeface="Calibri" pitchFamily="34" charset="-122"/>
                <a:cs typeface="Calibri" pitchFamily="34" charset="-120"/>
              </a:rPr>
              <a:t>  ACME/U2/CW/000023, minted on enrolment</a:t>
            </a:r>
            <a:endParaRPr lang="en-US" sz="1180" dirty="0"/>
          </a:p>
        </p:txBody>
      </p:sp>
      <p:sp>
        <p:nvSpPr>
          <p:cNvPr id="32" name="Shape 27"/>
          <p:cNvSpPr/>
          <p:nvPr/>
        </p:nvSpPr>
        <p:spPr>
          <a:xfrm>
            <a:off x="6583680" y="4031589"/>
            <a:ext cx="118872" cy="118872"/>
          </a:xfrm>
          <a:prstGeom prst="ellipse">
            <a:avLst/>
          </a:prstGeom>
          <a:solidFill>
            <a:srgbClr val="C9922E"/>
          </a:solidFill>
          <a:ln/>
        </p:spPr>
        <p:txBody>
          <a:bodyPr/>
          <a:lstStyle/>
          <a:p>
            <a:endParaRPr/>
          </a:p>
        </p:txBody>
      </p:sp>
      <p:sp>
        <p:nvSpPr>
          <p:cNvPr id="33" name="Text 28"/>
          <p:cNvSpPr txBox="1"/>
          <p:nvPr/>
        </p:nvSpPr>
        <p:spPr>
          <a:xfrm>
            <a:off x="6858000" y="4005072"/>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Under-18 refused</a:t>
            </a:r>
            <a:r>
              <a:rPr lang="en-US" sz="1180" dirty="0">
                <a:solidFill>
                  <a:srgbClr val="6B6B6B"/>
                </a:solidFill>
                <a:latin typeface="Calibri" pitchFamily="34" charset="0"/>
                <a:ea typeface="Calibri" pitchFamily="34" charset="-122"/>
                <a:cs typeface="Calibri" pitchFamily="34" charset="-120"/>
              </a:rPr>
              <a:t>  an age check at enrolment, not a policy nobody reads</a:t>
            </a:r>
            <a:endParaRPr lang="en-US" sz="1180" dirty="0"/>
          </a:p>
        </p:txBody>
      </p:sp>
      <p:sp>
        <p:nvSpPr>
          <p:cNvPr id="34" name="Shape 29"/>
          <p:cNvSpPr/>
          <p:nvPr/>
        </p:nvSpPr>
        <p:spPr>
          <a:xfrm>
            <a:off x="6583680" y="4333341"/>
            <a:ext cx="118872" cy="118872"/>
          </a:xfrm>
          <a:prstGeom prst="ellipse">
            <a:avLst/>
          </a:prstGeom>
          <a:solidFill>
            <a:srgbClr val="C9922E"/>
          </a:solidFill>
          <a:ln/>
        </p:spPr>
        <p:txBody>
          <a:bodyPr/>
          <a:lstStyle/>
          <a:p>
            <a:endParaRPr/>
          </a:p>
        </p:txBody>
      </p:sp>
      <p:sp>
        <p:nvSpPr>
          <p:cNvPr id="35" name="Text 30"/>
          <p:cNvSpPr txBox="1"/>
          <p:nvPr/>
        </p:nvSpPr>
        <p:spPr>
          <a:xfrm>
            <a:off x="6858000" y="430682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Papers per worker</a:t>
            </a:r>
            <a:r>
              <a:rPr lang="en-US" sz="1180" dirty="0">
                <a:solidFill>
                  <a:srgbClr val="6B6B6B"/>
                </a:solidFill>
                <a:latin typeface="Calibri" pitchFamily="34" charset="0"/>
                <a:ea typeface="Calibri" pitchFamily="34" charset="-122"/>
                <a:cs typeface="Calibri" pitchFamily="34" charset="-120"/>
              </a:rPr>
              <a:t>  medical, induction and skill cards, each with its own expiry</a:t>
            </a:r>
            <a:endParaRPr lang="en-US" sz="1180" dirty="0"/>
          </a:p>
        </p:txBody>
      </p:sp>
      <p:sp>
        <p:nvSpPr>
          <p:cNvPr id="36" name="Shape 31"/>
          <p:cNvSpPr/>
          <p:nvPr/>
        </p:nvSpPr>
        <p:spPr>
          <a:xfrm>
            <a:off x="6583680" y="4817973"/>
            <a:ext cx="118872" cy="118872"/>
          </a:xfrm>
          <a:prstGeom prst="ellipse">
            <a:avLst/>
          </a:prstGeom>
          <a:solidFill>
            <a:srgbClr val="C9922E"/>
          </a:solidFill>
          <a:ln/>
        </p:spPr>
        <p:txBody>
          <a:bodyPr/>
          <a:lstStyle/>
          <a:p>
            <a:endParaRPr/>
          </a:p>
        </p:txBody>
      </p:sp>
      <p:sp>
        <p:nvSpPr>
          <p:cNvPr id="37" name="Text 32"/>
          <p:cNvSpPr txBox="1"/>
          <p:nvPr/>
        </p:nvSpPr>
        <p:spPr>
          <a:xfrm>
            <a:off x="6858000" y="479145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Identity document</a:t>
            </a:r>
            <a:r>
              <a:rPr lang="en-US" sz="1180" dirty="0">
                <a:solidFill>
                  <a:srgbClr val="6B6B6B"/>
                </a:solidFill>
                <a:latin typeface="Calibri" pitchFamily="34" charset="0"/>
                <a:ea typeface="Calibri" pitchFamily="34" charset="-122"/>
                <a:cs typeface="Calibri" pitchFamily="34" charset="-120"/>
              </a:rPr>
              <a:t>  the full number stored and checkable, never on a pass, a list or the trail</a:t>
            </a:r>
            <a:endParaRPr lang="en-US" sz="1180" dirty="0"/>
          </a:p>
        </p:txBody>
      </p:sp>
      <p:sp>
        <p:nvSpPr>
          <p:cNvPr id="38" name="Shape 33"/>
          <p:cNvSpPr/>
          <p:nvPr/>
        </p:nvSpPr>
        <p:spPr>
          <a:xfrm>
            <a:off x="6583680" y="5302605"/>
            <a:ext cx="118872" cy="118872"/>
          </a:xfrm>
          <a:prstGeom prst="ellipse">
            <a:avLst/>
          </a:prstGeom>
          <a:solidFill>
            <a:srgbClr val="C9922E"/>
          </a:solidFill>
          <a:ln/>
        </p:spPr>
        <p:txBody>
          <a:bodyPr/>
          <a:lstStyle/>
          <a:p>
            <a:endParaRPr/>
          </a:p>
        </p:txBody>
      </p:sp>
      <p:sp>
        <p:nvSpPr>
          <p:cNvPr id="39" name="Text 34"/>
          <p:cNvSpPr txBox="1"/>
          <p:nvPr/>
        </p:nvSpPr>
        <p:spPr>
          <a:xfrm>
            <a:off x="6858000" y="527608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Off the roll</a:t>
            </a:r>
            <a:r>
              <a:rPr lang="en-US" sz="1180" dirty="0">
                <a:solidFill>
                  <a:srgbClr val="6B6B6B"/>
                </a:solidFill>
                <a:latin typeface="Calibri" pitchFamily="34" charset="0"/>
                <a:ea typeface="Calibri" pitchFamily="34" charset="-122"/>
                <a:cs typeface="Calibri" pitchFamily="34" charset="-120"/>
              </a:rPr>
              <a:t>  an ex-worker stops at the barrier the same day</a:t>
            </a:r>
            <a:endParaRPr lang="en-US" sz="11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ENTRYHUB · GATE PASSES</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The pass is the authority</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A contract worker gets in on a pass, and the pass is where the plant’s decision lives: who, which plant, which areas, and for how long. It is checked when it is issued and again every time it is scanned.</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
        <p:nvSpPr>
          <p:cNvPr id="8" name="Shape 5"/>
          <p:cNvSpPr/>
          <p:nvPr/>
        </p:nvSpPr>
        <p:spPr>
          <a:xfrm>
            <a:off x="502920"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603504" cy="603504"/>
          </a:xfrm>
          <a:prstGeom prst="ellipse">
            <a:avLst/>
          </a:prstGeom>
          <a:solidFill>
            <a:srgbClr val="EFEFEF"/>
          </a:solidFill>
          <a:ln/>
        </p:spPr>
        <p:txBody>
          <a:bodyPr/>
          <a:lstStyle/>
          <a:p>
            <a:endParaRPr/>
          </a:p>
        </p:txBody>
      </p:sp>
      <p:pic>
        <p:nvPicPr>
          <p:cNvPr id="10" name="Image 1" descr="icons/badge-navy.png"/>
          <p:cNvPicPr>
            <a:picLocks noChangeAspect="1"/>
          </p:cNvPicPr>
          <p:nvPr/>
        </p:nvPicPr>
        <p:blipFill>
          <a:blip r:embed="rId4"/>
          <a:stretch>
            <a:fillRect/>
          </a:stretch>
        </p:blipFill>
        <p:spPr>
          <a:xfrm>
            <a:off x="997976" y="2717048"/>
            <a:ext cx="253472" cy="253472"/>
          </a:xfrm>
          <a:prstGeom prst="rect">
            <a:avLst/>
          </a:prstGeom>
        </p:spPr>
      </p:pic>
      <p:sp>
        <p:nvSpPr>
          <p:cNvPr id="11" name="Text 7"/>
          <p:cNvSpPr txBox="1"/>
          <p:nvPr/>
        </p:nvSpPr>
        <p:spPr>
          <a:xfrm>
            <a:off x="795528"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Issuing a pass</a:t>
            </a:r>
            <a:endParaRPr lang="en-US" sz="1600" dirty="0"/>
          </a:p>
        </p:txBody>
      </p:sp>
      <p:sp>
        <p:nvSpPr>
          <p:cNvPr id="12" name="Shape 8"/>
          <p:cNvSpPr/>
          <p:nvPr/>
        </p:nvSpPr>
        <p:spPr>
          <a:xfrm>
            <a:off x="832104" y="3594506"/>
            <a:ext cx="100584" cy="100584"/>
          </a:xfrm>
          <a:prstGeom prst="ellipse">
            <a:avLst/>
          </a:prstGeom>
          <a:solidFill>
            <a:srgbClr val="C9922E"/>
          </a:solidFill>
          <a:ln/>
        </p:spPr>
        <p:txBody>
          <a:bodyPr/>
          <a:lstStyle/>
          <a:p>
            <a:endParaRPr/>
          </a:p>
        </p:txBody>
      </p:sp>
      <p:sp>
        <p:nvSpPr>
          <p:cNvPr id="13" name="Text 9"/>
          <p:cNvSpPr txBox="1"/>
          <p:nvPr/>
        </p:nvSpPr>
        <p:spPr>
          <a:xfrm>
            <a:off x="1069848"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Checked at issue</a:t>
            </a:r>
            <a:r>
              <a:rPr lang="en-US" sz="1080" dirty="0">
                <a:solidFill>
                  <a:srgbClr val="6B6B6B"/>
                </a:solidFill>
                <a:latin typeface="Calibri" pitchFamily="34" charset="0"/>
                <a:ea typeface="Calibri" pitchFamily="34" charset="-122"/>
                <a:cs typeface="Calibri" pitchFamily="34" charset="-120"/>
              </a:rPr>
              <a:t>  refused outright for a barred person, a lapsed licence or a full cap</a:t>
            </a:r>
            <a:endParaRPr lang="en-US" sz="1080" dirty="0"/>
          </a:p>
        </p:txBody>
      </p:sp>
      <p:sp>
        <p:nvSpPr>
          <p:cNvPr id="14" name="Shape 10"/>
          <p:cNvSpPr/>
          <p:nvPr/>
        </p:nvSpPr>
        <p:spPr>
          <a:xfrm>
            <a:off x="832104" y="4048048"/>
            <a:ext cx="100584" cy="100584"/>
          </a:xfrm>
          <a:prstGeom prst="ellipse">
            <a:avLst/>
          </a:prstGeom>
          <a:solidFill>
            <a:srgbClr val="C9922E"/>
          </a:solidFill>
          <a:ln/>
        </p:spPr>
        <p:txBody>
          <a:bodyPr/>
          <a:lstStyle/>
          <a:p>
            <a:endParaRPr/>
          </a:p>
        </p:txBody>
      </p:sp>
      <p:sp>
        <p:nvSpPr>
          <p:cNvPr id="15" name="Text 11"/>
          <p:cNvSpPr txBox="1"/>
          <p:nvPr/>
        </p:nvSpPr>
        <p:spPr>
          <a:xfrm>
            <a:off x="1069848"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 validity window</a:t>
            </a:r>
            <a:r>
              <a:rPr lang="en-US" sz="1080" dirty="0">
                <a:solidFill>
                  <a:srgbClr val="6B6B6B"/>
                </a:solidFill>
                <a:latin typeface="Calibri" pitchFamily="34" charset="0"/>
                <a:ea typeface="Calibri" pitchFamily="34" charset="-122"/>
                <a:cs typeface="Calibri" pitchFamily="34" charset="-120"/>
              </a:rPr>
              <a:t>  valid from and valid through, and the gate judges against it</a:t>
            </a:r>
            <a:endParaRPr lang="en-US" sz="1080" dirty="0"/>
          </a:p>
        </p:txBody>
      </p:sp>
      <p:sp>
        <p:nvSpPr>
          <p:cNvPr id="16" name="Shape 12"/>
          <p:cNvSpPr/>
          <p:nvPr/>
        </p:nvSpPr>
        <p:spPr>
          <a:xfrm>
            <a:off x="832104" y="4501591"/>
            <a:ext cx="100584" cy="100584"/>
          </a:xfrm>
          <a:prstGeom prst="ellipse">
            <a:avLst/>
          </a:prstGeom>
          <a:solidFill>
            <a:srgbClr val="C9922E"/>
          </a:solidFill>
          <a:ln/>
        </p:spPr>
        <p:txBody>
          <a:bodyPr/>
          <a:lstStyle/>
          <a:p>
            <a:endParaRPr/>
          </a:p>
        </p:txBody>
      </p:sp>
      <p:sp>
        <p:nvSpPr>
          <p:cNvPr id="17" name="Text 13"/>
          <p:cNvSpPr txBox="1"/>
          <p:nvPr/>
        </p:nvSpPr>
        <p:spPr>
          <a:xfrm>
            <a:off x="1069848"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Areas on the pass</a:t>
            </a:r>
            <a:r>
              <a:rPr lang="en-US" sz="1080" dirty="0">
                <a:solidFill>
                  <a:srgbClr val="6B6B6B"/>
                </a:solidFill>
                <a:latin typeface="Calibri" pitchFamily="34" charset="0"/>
                <a:ea typeface="Calibri" pitchFamily="34" charset="-122"/>
                <a:cs typeface="Calibri" pitchFamily="34" charset="-120"/>
              </a:rPr>
              <a:t>  which sections of the plant this pass actually opens</a:t>
            </a:r>
            <a:endParaRPr lang="en-US" sz="1080" dirty="0"/>
          </a:p>
        </p:txBody>
      </p:sp>
      <p:sp>
        <p:nvSpPr>
          <p:cNvPr id="18" name="Shape 14"/>
          <p:cNvSpPr/>
          <p:nvPr/>
        </p:nvSpPr>
        <p:spPr>
          <a:xfrm>
            <a:off x="832104" y="4955133"/>
            <a:ext cx="100584" cy="100584"/>
          </a:xfrm>
          <a:prstGeom prst="ellipse">
            <a:avLst/>
          </a:prstGeom>
          <a:solidFill>
            <a:srgbClr val="C9922E"/>
          </a:solidFill>
          <a:ln/>
        </p:spPr>
        <p:txBody>
          <a:bodyPr/>
          <a:lstStyle/>
          <a:p>
            <a:endParaRPr/>
          </a:p>
        </p:txBody>
      </p:sp>
      <p:sp>
        <p:nvSpPr>
          <p:cNvPr id="19" name="Text 15"/>
          <p:cNvSpPr txBox="1"/>
          <p:nvPr/>
        </p:nvSpPr>
        <p:spPr>
          <a:xfrm>
            <a:off x="1069848"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Group issue</a:t>
            </a:r>
            <a:r>
              <a:rPr lang="en-US" sz="1080" dirty="0">
                <a:solidFill>
                  <a:srgbClr val="6B6B6B"/>
                </a:solidFill>
                <a:latin typeface="Calibri" pitchFamily="34" charset="0"/>
                <a:ea typeface="Calibri" pitchFamily="34" charset="-122"/>
                <a:cs typeface="Calibri" pitchFamily="34" charset="-120"/>
              </a:rPr>
              <a:t>  pick a firm, multi-select its roll, up to 25 at once</a:t>
            </a:r>
            <a:endParaRPr lang="en-US" sz="1080" dirty="0"/>
          </a:p>
        </p:txBody>
      </p:sp>
      <p:sp>
        <p:nvSpPr>
          <p:cNvPr id="20" name="Shape 16"/>
          <p:cNvSpPr/>
          <p:nvPr/>
        </p:nvSpPr>
        <p:spPr>
          <a:xfrm>
            <a:off x="832104" y="5409590"/>
            <a:ext cx="100584" cy="100584"/>
          </a:xfrm>
          <a:prstGeom prst="ellipse">
            <a:avLst/>
          </a:prstGeom>
          <a:solidFill>
            <a:srgbClr val="C9922E"/>
          </a:solidFill>
          <a:ln/>
        </p:spPr>
        <p:txBody>
          <a:bodyPr/>
          <a:lstStyle/>
          <a:p>
            <a:endParaRPr/>
          </a:p>
        </p:txBody>
      </p:sp>
      <p:sp>
        <p:nvSpPr>
          <p:cNvPr id="21" name="Text 17"/>
          <p:cNvSpPr txBox="1"/>
          <p:nvPr/>
        </p:nvSpPr>
        <p:spPr>
          <a:xfrm>
            <a:off x="1069848"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 verdict per worker</a:t>
            </a:r>
            <a:r>
              <a:rPr lang="en-US" sz="1080" dirty="0">
                <a:solidFill>
                  <a:srgbClr val="6B6B6B"/>
                </a:solidFill>
                <a:latin typeface="Calibri" pitchFamily="34" charset="0"/>
                <a:ea typeface="Calibri" pitchFamily="34" charset="-122"/>
                <a:cs typeface="Calibri" pitchFamily="34" charset="-120"/>
              </a:rPr>
              <a:t>  the clean ones are issued and each refusal is named</a:t>
            </a:r>
            <a:endParaRPr lang="en-US" sz="1080" dirty="0"/>
          </a:p>
        </p:txBody>
      </p:sp>
      <p:sp>
        <p:nvSpPr>
          <p:cNvPr id="22" name="Shape 18"/>
          <p:cNvSpPr/>
          <p:nvPr/>
        </p:nvSpPr>
        <p:spPr>
          <a:xfrm>
            <a:off x="4462272"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23" name="Shape 19"/>
          <p:cNvSpPr/>
          <p:nvPr/>
        </p:nvSpPr>
        <p:spPr>
          <a:xfrm>
            <a:off x="4782312" y="2542032"/>
            <a:ext cx="603504" cy="603504"/>
          </a:xfrm>
          <a:prstGeom prst="ellipse">
            <a:avLst/>
          </a:prstGeom>
          <a:solidFill>
            <a:srgbClr val="EFEFEF"/>
          </a:solidFill>
          <a:ln/>
        </p:spPr>
        <p:txBody>
          <a:bodyPr/>
          <a:lstStyle/>
          <a:p>
            <a:endParaRPr/>
          </a:p>
        </p:txBody>
      </p:sp>
      <p:pic>
        <p:nvPicPr>
          <p:cNvPr id="24" name="Image 2" descr="icons/qr-navy.png"/>
          <p:cNvPicPr>
            <a:picLocks noChangeAspect="1"/>
          </p:cNvPicPr>
          <p:nvPr/>
        </p:nvPicPr>
        <p:blipFill>
          <a:blip r:embed="rId5"/>
          <a:stretch>
            <a:fillRect/>
          </a:stretch>
        </p:blipFill>
        <p:spPr>
          <a:xfrm>
            <a:off x="4957328" y="2717048"/>
            <a:ext cx="253472" cy="253472"/>
          </a:xfrm>
          <a:prstGeom prst="rect">
            <a:avLst/>
          </a:prstGeom>
        </p:spPr>
      </p:pic>
      <p:sp>
        <p:nvSpPr>
          <p:cNvPr id="25" name="Text 20"/>
          <p:cNvSpPr txBox="1"/>
          <p:nvPr/>
        </p:nvSpPr>
        <p:spPr>
          <a:xfrm>
            <a:off x="4754880"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What a pass carries</a:t>
            </a:r>
            <a:endParaRPr lang="en-US" sz="1600" dirty="0"/>
          </a:p>
        </p:txBody>
      </p:sp>
      <p:sp>
        <p:nvSpPr>
          <p:cNvPr id="26" name="Shape 21"/>
          <p:cNvSpPr/>
          <p:nvPr/>
        </p:nvSpPr>
        <p:spPr>
          <a:xfrm>
            <a:off x="4791456" y="3594506"/>
            <a:ext cx="100584" cy="100584"/>
          </a:xfrm>
          <a:prstGeom prst="ellipse">
            <a:avLst/>
          </a:prstGeom>
          <a:solidFill>
            <a:srgbClr val="C9922E"/>
          </a:solidFill>
          <a:ln/>
        </p:spPr>
        <p:txBody>
          <a:bodyPr/>
          <a:lstStyle/>
          <a:p>
            <a:endParaRPr/>
          </a:p>
        </p:txBody>
      </p:sp>
      <p:sp>
        <p:nvSpPr>
          <p:cNvPr id="27" name="Text 22"/>
          <p:cNvSpPr txBox="1"/>
          <p:nvPr/>
        </p:nvSpPr>
        <p:spPr>
          <a:xfrm>
            <a:off x="5029200"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 signed QR</a:t>
            </a:r>
            <a:r>
              <a:rPr lang="en-US" sz="1080" dirty="0">
                <a:solidFill>
                  <a:srgbClr val="6B6B6B"/>
                </a:solidFill>
                <a:latin typeface="Calibri" pitchFamily="34" charset="0"/>
                <a:ea typeface="Calibri" pitchFamily="34" charset="-122"/>
                <a:cs typeface="Calibri" pitchFamily="34" charset="-120"/>
              </a:rPr>
              <a:t>  the code the gate scans, on paper or on a phone</a:t>
            </a:r>
            <a:endParaRPr lang="en-US" sz="1080" dirty="0"/>
          </a:p>
        </p:txBody>
      </p:sp>
      <p:sp>
        <p:nvSpPr>
          <p:cNvPr id="28" name="Shape 23"/>
          <p:cNvSpPr/>
          <p:nvPr/>
        </p:nvSpPr>
        <p:spPr>
          <a:xfrm>
            <a:off x="4791456" y="4048048"/>
            <a:ext cx="100584" cy="100584"/>
          </a:xfrm>
          <a:prstGeom prst="ellipse">
            <a:avLst/>
          </a:prstGeom>
          <a:solidFill>
            <a:srgbClr val="C9922E"/>
          </a:solidFill>
          <a:ln/>
        </p:spPr>
        <p:txBody>
          <a:bodyPr/>
          <a:lstStyle/>
          <a:p>
            <a:endParaRPr/>
          </a:p>
        </p:txBody>
      </p:sp>
      <p:sp>
        <p:nvSpPr>
          <p:cNvPr id="29" name="Text 24"/>
          <p:cNvSpPr txBox="1"/>
          <p:nvPr/>
        </p:nvSpPr>
        <p:spPr>
          <a:xfrm>
            <a:off x="5029200"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Re-issue</a:t>
            </a:r>
            <a:r>
              <a:rPr lang="en-US" sz="1080" dirty="0">
                <a:solidFill>
                  <a:srgbClr val="6B6B6B"/>
                </a:solidFill>
                <a:latin typeface="Calibri" pitchFamily="34" charset="0"/>
                <a:ea typeface="Calibri" pitchFamily="34" charset="-122"/>
                <a:cs typeface="Calibri" pitchFamily="34" charset="-120"/>
              </a:rPr>
              <a:t>  a replacement supersedes the old one, which then refuses</a:t>
            </a:r>
            <a:endParaRPr lang="en-US" sz="1080" dirty="0"/>
          </a:p>
        </p:txBody>
      </p:sp>
      <p:sp>
        <p:nvSpPr>
          <p:cNvPr id="30" name="Shape 25"/>
          <p:cNvSpPr/>
          <p:nvPr/>
        </p:nvSpPr>
        <p:spPr>
          <a:xfrm>
            <a:off x="4791456" y="4501591"/>
            <a:ext cx="100584" cy="100584"/>
          </a:xfrm>
          <a:prstGeom prst="ellipse">
            <a:avLst/>
          </a:prstGeom>
          <a:solidFill>
            <a:srgbClr val="C9922E"/>
          </a:solidFill>
          <a:ln/>
        </p:spPr>
        <p:txBody>
          <a:bodyPr/>
          <a:lstStyle/>
          <a:p>
            <a:endParaRPr/>
          </a:p>
        </p:txBody>
      </p:sp>
      <p:sp>
        <p:nvSpPr>
          <p:cNvPr id="31" name="Text 26"/>
          <p:cNvSpPr txBox="1"/>
          <p:nvPr/>
        </p:nvSpPr>
        <p:spPr>
          <a:xfrm>
            <a:off x="5029200"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Revoke</a:t>
            </a:r>
            <a:r>
              <a:rPr lang="en-US" sz="1080" dirty="0">
                <a:solidFill>
                  <a:srgbClr val="6B6B6B"/>
                </a:solidFill>
                <a:latin typeface="Calibri" pitchFamily="34" charset="0"/>
                <a:ea typeface="Calibri" pitchFamily="34" charset="-122"/>
                <a:cs typeface="Calibri" pitchFamily="34" charset="-120"/>
              </a:rPr>
              <a:t>  withdrawn in one action, effective at the next scan</a:t>
            </a:r>
            <a:endParaRPr lang="en-US" sz="1080" dirty="0"/>
          </a:p>
        </p:txBody>
      </p:sp>
      <p:sp>
        <p:nvSpPr>
          <p:cNvPr id="34" name="Shape 29"/>
          <p:cNvSpPr/>
          <p:nvPr/>
        </p:nvSpPr>
        <p:spPr>
          <a:xfrm>
            <a:off x="4791456" y="4955133"/>
            <a:ext cx="100584" cy="100584"/>
          </a:xfrm>
          <a:prstGeom prst="ellipse">
            <a:avLst/>
          </a:prstGeom>
          <a:solidFill>
            <a:srgbClr val="C9922E"/>
          </a:solidFill>
          <a:ln/>
        </p:spPr>
        <p:txBody>
          <a:bodyPr/>
          <a:lstStyle/>
          <a:p>
            <a:endParaRPr/>
          </a:p>
        </p:txBody>
      </p:sp>
      <p:sp>
        <p:nvSpPr>
          <p:cNvPr id="35" name="Text 30"/>
          <p:cNvSpPr txBox="1"/>
          <p:nvPr/>
        </p:nvSpPr>
        <p:spPr>
          <a:xfrm>
            <a:off x="5029200"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Every change audited</a:t>
            </a:r>
            <a:r>
              <a:rPr lang="en-US" sz="1080" dirty="0">
                <a:solidFill>
                  <a:srgbClr val="6B6B6B"/>
                </a:solidFill>
                <a:latin typeface="Calibri" pitchFamily="34" charset="0"/>
                <a:ea typeface="Calibri" pitchFamily="34" charset="-122"/>
                <a:cs typeface="Calibri" pitchFamily="34" charset="-120"/>
              </a:rPr>
              <a:t>  who issued, re-issued or revoked, and when</a:t>
            </a:r>
            <a:endParaRPr lang="en-US" sz="1080" dirty="0"/>
          </a:p>
        </p:txBody>
      </p:sp>
      <p:sp>
        <p:nvSpPr>
          <p:cNvPr id="36" name="Shape 31"/>
          <p:cNvSpPr/>
          <p:nvPr/>
        </p:nvSpPr>
        <p:spPr>
          <a:xfrm>
            <a:off x="8421624"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37" name="Shape 32"/>
          <p:cNvSpPr/>
          <p:nvPr/>
        </p:nvSpPr>
        <p:spPr>
          <a:xfrm>
            <a:off x="8741664" y="2542032"/>
            <a:ext cx="603504" cy="603504"/>
          </a:xfrm>
          <a:prstGeom prst="ellipse">
            <a:avLst/>
          </a:prstGeom>
          <a:solidFill>
            <a:srgbClr val="EFEFEF"/>
          </a:solidFill>
          <a:ln/>
        </p:spPr>
        <p:txBody>
          <a:bodyPr/>
          <a:lstStyle/>
          <a:p>
            <a:endParaRPr/>
          </a:p>
        </p:txBody>
      </p:sp>
      <p:pic>
        <p:nvPicPr>
          <p:cNvPr id="38" name="Image 3" descr="icons/key-navy.png"/>
          <p:cNvPicPr>
            <a:picLocks noChangeAspect="1"/>
          </p:cNvPicPr>
          <p:nvPr/>
        </p:nvPicPr>
        <p:blipFill>
          <a:blip r:embed="rId6"/>
          <a:stretch>
            <a:fillRect/>
          </a:stretch>
        </p:blipFill>
        <p:spPr>
          <a:xfrm>
            <a:off x="8916680" y="2717048"/>
            <a:ext cx="253472" cy="253472"/>
          </a:xfrm>
          <a:prstGeom prst="rect">
            <a:avLst/>
          </a:prstGeom>
        </p:spPr>
      </p:pic>
      <p:sp>
        <p:nvSpPr>
          <p:cNvPr id="39" name="Text 33"/>
          <p:cNvSpPr txBox="1"/>
          <p:nvPr/>
        </p:nvSpPr>
        <p:spPr>
          <a:xfrm>
            <a:off x="8714232"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Who may do what</a:t>
            </a:r>
            <a:endParaRPr lang="en-US" sz="1600" dirty="0"/>
          </a:p>
        </p:txBody>
      </p:sp>
      <p:sp>
        <p:nvSpPr>
          <p:cNvPr id="40" name="Shape 34"/>
          <p:cNvSpPr/>
          <p:nvPr/>
        </p:nvSpPr>
        <p:spPr>
          <a:xfrm>
            <a:off x="8750808" y="3594506"/>
            <a:ext cx="100584" cy="100584"/>
          </a:xfrm>
          <a:prstGeom prst="ellipse">
            <a:avLst/>
          </a:prstGeom>
          <a:solidFill>
            <a:srgbClr val="C9922E"/>
          </a:solidFill>
          <a:ln/>
        </p:spPr>
        <p:txBody>
          <a:bodyPr/>
          <a:lstStyle/>
          <a:p>
            <a:endParaRPr/>
          </a:p>
        </p:txBody>
      </p:sp>
      <p:sp>
        <p:nvSpPr>
          <p:cNvPr id="41" name="Text 35"/>
          <p:cNvSpPr txBox="1"/>
          <p:nvPr/>
        </p:nvSpPr>
        <p:spPr>
          <a:xfrm>
            <a:off x="8988552"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Two separate keys</a:t>
            </a:r>
            <a:r>
              <a:rPr lang="en-US" sz="1080" dirty="0">
                <a:solidFill>
                  <a:srgbClr val="6B6B6B"/>
                </a:solidFill>
                <a:latin typeface="Calibri" pitchFamily="34" charset="0"/>
                <a:ea typeface="Calibri" pitchFamily="34" charset="-122"/>
                <a:cs typeface="Calibri" pitchFamily="34" charset="-120"/>
              </a:rPr>
              <a:t>  one to work a gate, one to issue a pass, never the same person</a:t>
            </a:r>
            <a:endParaRPr lang="en-US" sz="1080" dirty="0"/>
          </a:p>
        </p:txBody>
      </p:sp>
      <p:sp>
        <p:nvSpPr>
          <p:cNvPr id="42" name="Shape 36"/>
          <p:cNvSpPr/>
          <p:nvPr/>
        </p:nvSpPr>
        <p:spPr>
          <a:xfrm>
            <a:off x="8750808" y="4048048"/>
            <a:ext cx="100584" cy="100584"/>
          </a:xfrm>
          <a:prstGeom prst="ellipse">
            <a:avLst/>
          </a:prstGeom>
          <a:solidFill>
            <a:srgbClr val="C9922E"/>
          </a:solidFill>
          <a:ln/>
        </p:spPr>
        <p:txBody>
          <a:bodyPr/>
          <a:lstStyle/>
          <a:p>
            <a:endParaRPr/>
          </a:p>
        </p:txBody>
      </p:sp>
      <p:sp>
        <p:nvSpPr>
          <p:cNvPr id="43" name="Text 37"/>
          <p:cNvSpPr txBox="1"/>
          <p:nvPr/>
        </p:nvSpPr>
        <p:spPr>
          <a:xfrm>
            <a:off x="8988552"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Barring is a supervisor’s</a:t>
            </a:r>
            <a:r>
              <a:rPr lang="en-US" sz="1080" dirty="0">
                <a:solidFill>
                  <a:srgbClr val="6B6B6B"/>
                </a:solidFill>
                <a:latin typeface="Calibri" pitchFamily="34" charset="0"/>
                <a:ea typeface="Calibri" pitchFamily="34" charset="-122"/>
                <a:cs typeface="Calibri" pitchFamily="34" charset="-120"/>
              </a:rPr>
              <a:t>  the office that works with a firm daily cannot un-ban its worker</a:t>
            </a:r>
            <a:endParaRPr lang="en-US" sz="1080" dirty="0"/>
          </a:p>
        </p:txBody>
      </p:sp>
      <p:sp>
        <p:nvSpPr>
          <p:cNvPr id="44" name="Shape 38"/>
          <p:cNvSpPr/>
          <p:nvPr/>
        </p:nvSpPr>
        <p:spPr>
          <a:xfrm>
            <a:off x="8750808" y="4501591"/>
            <a:ext cx="100584" cy="100584"/>
          </a:xfrm>
          <a:prstGeom prst="ellipse">
            <a:avLst/>
          </a:prstGeom>
          <a:solidFill>
            <a:srgbClr val="C9922E"/>
          </a:solidFill>
          <a:ln/>
        </p:spPr>
        <p:txBody>
          <a:bodyPr/>
          <a:lstStyle/>
          <a:p>
            <a:endParaRPr/>
          </a:p>
        </p:txBody>
      </p:sp>
      <p:sp>
        <p:nvSpPr>
          <p:cNvPr id="45" name="Text 39"/>
          <p:cNvSpPr txBox="1"/>
          <p:nvPr/>
        </p:nvSpPr>
        <p:spPr>
          <a:xfrm>
            <a:off x="8988552"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Reasons stay off the trail</a:t>
            </a:r>
            <a:r>
              <a:rPr lang="en-US" sz="1080" dirty="0">
                <a:solidFill>
                  <a:srgbClr val="6B6B6B"/>
                </a:solidFill>
                <a:latin typeface="Calibri" pitchFamily="34" charset="0"/>
                <a:ea typeface="Calibri" pitchFamily="34" charset="-122"/>
                <a:cs typeface="Calibri" pitchFamily="34" charset="-120"/>
              </a:rPr>
              <a:t>  the typed reason never reaches the append-only audit</a:t>
            </a:r>
            <a:endParaRPr lang="en-US" sz="1080" dirty="0"/>
          </a:p>
        </p:txBody>
      </p:sp>
      <p:sp>
        <p:nvSpPr>
          <p:cNvPr id="46" name="Shape 40"/>
          <p:cNvSpPr/>
          <p:nvPr/>
        </p:nvSpPr>
        <p:spPr>
          <a:xfrm>
            <a:off x="8750808" y="4955133"/>
            <a:ext cx="100584" cy="100584"/>
          </a:xfrm>
          <a:prstGeom prst="ellipse">
            <a:avLst/>
          </a:prstGeom>
          <a:solidFill>
            <a:srgbClr val="C9922E"/>
          </a:solidFill>
          <a:ln/>
        </p:spPr>
        <p:txBody>
          <a:bodyPr/>
          <a:lstStyle/>
          <a:p>
            <a:endParaRPr/>
          </a:p>
        </p:txBody>
      </p:sp>
      <p:sp>
        <p:nvSpPr>
          <p:cNvPr id="47" name="Text 41"/>
          <p:cNvSpPr txBox="1"/>
          <p:nvPr/>
        </p:nvSpPr>
        <p:spPr>
          <a:xfrm>
            <a:off x="8988552"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Six permissions, no more</a:t>
            </a:r>
            <a:r>
              <a:rPr lang="en-US" sz="1080" dirty="0">
                <a:solidFill>
                  <a:srgbClr val="6B6B6B"/>
                </a:solidFill>
                <a:latin typeface="Calibri" pitchFamily="34" charset="0"/>
                <a:ea typeface="Calibri" pitchFamily="34" charset="-122"/>
                <a:cs typeface="Calibri" pitchFamily="34" charset="-120"/>
              </a:rPr>
              <a:t>  settings, contractors, visits, operate, supervise, reports</a:t>
            </a:r>
            <a:endParaRPr lang="en-US" sz="1080" dirty="0"/>
          </a:p>
        </p:txBody>
      </p:sp>
      <p:sp>
        <p:nvSpPr>
          <p:cNvPr id="48" name="Shape 42"/>
          <p:cNvSpPr/>
          <p:nvPr/>
        </p:nvSpPr>
        <p:spPr>
          <a:xfrm>
            <a:off x="8750808" y="5409590"/>
            <a:ext cx="100584" cy="100584"/>
          </a:xfrm>
          <a:prstGeom prst="ellipse">
            <a:avLst/>
          </a:prstGeom>
          <a:solidFill>
            <a:srgbClr val="C9922E"/>
          </a:solidFill>
          <a:ln/>
        </p:spPr>
        <p:txBody>
          <a:bodyPr/>
          <a:lstStyle/>
          <a:p>
            <a:endParaRPr/>
          </a:p>
        </p:txBody>
      </p:sp>
      <p:sp>
        <p:nvSpPr>
          <p:cNvPr id="49" name="Text 43"/>
          <p:cNvSpPr txBox="1"/>
          <p:nvPr/>
        </p:nvSpPr>
        <p:spPr>
          <a:xfrm>
            <a:off x="8988552"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Roles you author</a:t>
            </a:r>
            <a:r>
              <a:rPr lang="en-US" sz="1080" dirty="0">
                <a:solidFill>
                  <a:srgbClr val="6B6B6B"/>
                </a:solidFill>
                <a:latin typeface="Calibri" pitchFamily="34" charset="0"/>
                <a:ea typeface="Calibri" pitchFamily="34" charset="-122"/>
                <a:cs typeface="Calibri" pitchFamily="34" charset="-120"/>
              </a:rPr>
              <a:t>  over that fixed catalogue, nothing hard-coded</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ENTRYHUB · VISITOR MANAGEMENT</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Visitors, booked or unannounced</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A visit is three questions and a host. What it deliberately is not is a work authorisation a visit carries no trade, no vendor, no work order and no permit, and the product will not let one grow into one.</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
        <p:nvSpPr>
          <p:cNvPr id="8" name="Shape 5"/>
          <p:cNvSpPr/>
          <p:nvPr/>
        </p:nvSpPr>
        <p:spPr>
          <a:xfrm>
            <a:off x="502920"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566928" cy="566928"/>
          </a:xfrm>
          <a:prstGeom prst="ellipse">
            <a:avLst/>
          </a:prstGeom>
          <a:solidFill>
            <a:srgbClr val="EFEFEF"/>
          </a:solidFill>
          <a:ln/>
        </p:spPr>
        <p:txBody>
          <a:bodyPr/>
          <a:lstStyle/>
          <a:p>
            <a:endParaRPr/>
          </a:p>
        </p:txBody>
      </p:sp>
      <p:pic>
        <p:nvPicPr>
          <p:cNvPr id="10" name="Image 1" descr="icons/calendar-navy.png"/>
          <p:cNvPicPr>
            <a:picLocks noChangeAspect="1"/>
          </p:cNvPicPr>
          <p:nvPr/>
        </p:nvPicPr>
        <p:blipFill>
          <a:blip r:embed="rId4"/>
          <a:stretch>
            <a:fillRect/>
          </a:stretch>
        </p:blipFill>
        <p:spPr>
          <a:xfrm>
            <a:off x="987369" y="2706441"/>
            <a:ext cx="238110" cy="238110"/>
          </a:xfrm>
          <a:prstGeom prst="rect">
            <a:avLst/>
          </a:prstGeom>
        </p:spPr>
      </p:pic>
      <p:sp>
        <p:nvSpPr>
          <p:cNvPr id="11" name="Text 7"/>
          <p:cNvSpPr txBox="1"/>
          <p:nvPr/>
        </p:nvSpPr>
        <p:spPr>
          <a:xfrm>
            <a:off x="1554480"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A booked visit</a:t>
            </a:r>
            <a:endParaRPr lang="en-US" sz="1700" dirty="0"/>
          </a:p>
        </p:txBody>
      </p:sp>
      <p:sp>
        <p:nvSpPr>
          <p:cNvPr id="12" name="Shape 8"/>
          <p:cNvSpPr/>
          <p:nvPr/>
        </p:nvSpPr>
        <p:spPr>
          <a:xfrm>
            <a:off x="886968" y="3245205"/>
            <a:ext cx="118872" cy="118872"/>
          </a:xfrm>
          <a:prstGeom prst="ellipse">
            <a:avLst/>
          </a:prstGeom>
          <a:solidFill>
            <a:srgbClr val="C9922E"/>
          </a:solidFill>
          <a:ln/>
        </p:spPr>
        <p:txBody>
          <a:bodyPr/>
          <a:lstStyle/>
          <a:p>
            <a:endParaRPr/>
          </a:p>
        </p:txBody>
      </p:sp>
      <p:sp>
        <p:nvSpPr>
          <p:cNvPr id="13" name="Text 9"/>
          <p:cNvSpPr txBox="1"/>
          <p:nvPr/>
        </p:nvSpPr>
        <p:spPr>
          <a:xfrm>
            <a:off x="1161288" y="321868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Three questions</a:t>
            </a:r>
            <a:r>
              <a:rPr lang="en-US" sz="1180" dirty="0">
                <a:solidFill>
                  <a:srgbClr val="6B6B6B"/>
                </a:solidFill>
                <a:latin typeface="Calibri" pitchFamily="34" charset="0"/>
                <a:ea typeface="Calibri" pitchFamily="34" charset="-122"/>
                <a:cs typeface="Calibri" pitchFamily="34" charset="-120"/>
              </a:rPr>
              <a:t>  the host, the company and the purpose of the visit</a:t>
            </a:r>
            <a:endParaRPr lang="en-US" sz="1180" dirty="0"/>
          </a:p>
        </p:txBody>
      </p:sp>
      <p:sp>
        <p:nvSpPr>
          <p:cNvPr id="14" name="Shape 10"/>
          <p:cNvSpPr/>
          <p:nvPr/>
        </p:nvSpPr>
        <p:spPr>
          <a:xfrm>
            <a:off x="886968" y="3546957"/>
            <a:ext cx="118872" cy="118872"/>
          </a:xfrm>
          <a:prstGeom prst="ellipse">
            <a:avLst/>
          </a:prstGeom>
          <a:solidFill>
            <a:srgbClr val="C9922E"/>
          </a:solidFill>
          <a:ln/>
        </p:spPr>
        <p:txBody>
          <a:bodyPr/>
          <a:lstStyle/>
          <a:p>
            <a:endParaRPr/>
          </a:p>
        </p:txBody>
      </p:sp>
      <p:sp>
        <p:nvSpPr>
          <p:cNvPr id="15" name="Text 11"/>
          <p:cNvSpPr txBox="1"/>
          <p:nvPr/>
        </p:nvSpPr>
        <p:spPr>
          <a:xfrm>
            <a:off x="1161288" y="352044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host is a real login</a:t>
            </a:r>
            <a:r>
              <a:rPr lang="en-US" sz="1180" dirty="0">
                <a:solidFill>
                  <a:srgbClr val="6B6B6B"/>
                </a:solidFill>
                <a:latin typeface="Calibri" pitchFamily="34" charset="0"/>
                <a:ea typeface="Calibri" pitchFamily="34" charset="-122"/>
                <a:cs typeface="Calibri" pitchFamily="34" charset="-120"/>
              </a:rPr>
              <a:t>  a person in the plant, notified the moment their visitor arrives</a:t>
            </a:r>
            <a:endParaRPr lang="en-US" sz="1180" dirty="0"/>
          </a:p>
        </p:txBody>
      </p:sp>
      <p:sp>
        <p:nvSpPr>
          <p:cNvPr id="16" name="Shape 12"/>
          <p:cNvSpPr/>
          <p:nvPr/>
        </p:nvSpPr>
        <p:spPr>
          <a:xfrm>
            <a:off x="886968" y="4031589"/>
            <a:ext cx="118872" cy="118872"/>
          </a:xfrm>
          <a:prstGeom prst="ellipse">
            <a:avLst/>
          </a:prstGeom>
          <a:solidFill>
            <a:srgbClr val="C9922E"/>
          </a:solidFill>
          <a:ln/>
        </p:spPr>
        <p:txBody>
          <a:bodyPr/>
          <a:lstStyle/>
          <a:p>
            <a:endParaRPr/>
          </a:p>
        </p:txBody>
      </p:sp>
      <p:sp>
        <p:nvSpPr>
          <p:cNvPr id="17" name="Text 13"/>
          <p:cNvSpPr txBox="1"/>
          <p:nvPr/>
        </p:nvSpPr>
        <p:spPr>
          <a:xfrm>
            <a:off x="1161288" y="400507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A visitor number</a:t>
            </a:r>
            <a:r>
              <a:rPr lang="en-US" sz="1180" dirty="0">
                <a:solidFill>
                  <a:srgbClr val="6B6B6B"/>
                </a:solidFill>
                <a:latin typeface="Calibri" pitchFamily="34" charset="0"/>
                <a:ea typeface="Calibri" pitchFamily="34" charset="-122"/>
                <a:cs typeface="Calibri" pitchFamily="34" charset="-120"/>
              </a:rPr>
              <a:t>  VS-000012, minted the first time someone is used as a visitor</a:t>
            </a:r>
            <a:endParaRPr lang="en-US" sz="1180" dirty="0"/>
          </a:p>
        </p:txBody>
      </p:sp>
      <p:sp>
        <p:nvSpPr>
          <p:cNvPr id="18" name="Shape 14"/>
          <p:cNvSpPr/>
          <p:nvPr/>
        </p:nvSpPr>
        <p:spPr>
          <a:xfrm>
            <a:off x="886968" y="4516221"/>
            <a:ext cx="118872" cy="118872"/>
          </a:xfrm>
          <a:prstGeom prst="ellipse">
            <a:avLst/>
          </a:prstGeom>
          <a:solidFill>
            <a:srgbClr val="C9922E"/>
          </a:solidFill>
          <a:ln/>
        </p:spPr>
        <p:txBody>
          <a:bodyPr/>
          <a:lstStyle/>
          <a:p>
            <a:endParaRPr/>
          </a:p>
        </p:txBody>
      </p:sp>
      <p:sp>
        <p:nvSpPr>
          <p:cNvPr id="19" name="Text 15"/>
          <p:cNvSpPr txBox="1"/>
          <p:nvPr/>
        </p:nvSpPr>
        <p:spPr>
          <a:xfrm>
            <a:off x="1161288" y="448970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Badge on arrival</a:t>
            </a:r>
            <a:r>
              <a:rPr lang="en-US" sz="1180" dirty="0">
                <a:solidFill>
                  <a:srgbClr val="6B6B6B"/>
                </a:solidFill>
                <a:latin typeface="Calibri" pitchFamily="34" charset="0"/>
                <a:ea typeface="Calibri" pitchFamily="34" charset="-122"/>
                <a:cs typeface="Calibri" pitchFamily="34" charset="-120"/>
              </a:rPr>
              <a:t>  a token the gate scans, live only for the visit’s own window</a:t>
            </a:r>
            <a:endParaRPr lang="en-US" sz="1180" dirty="0"/>
          </a:p>
        </p:txBody>
      </p:sp>
      <p:sp>
        <p:nvSpPr>
          <p:cNvPr id="20" name="Shape 16"/>
          <p:cNvSpPr/>
          <p:nvPr/>
        </p:nvSpPr>
        <p:spPr>
          <a:xfrm>
            <a:off x="886968" y="5000853"/>
            <a:ext cx="118872" cy="118872"/>
          </a:xfrm>
          <a:prstGeom prst="ellipse">
            <a:avLst/>
          </a:prstGeom>
          <a:solidFill>
            <a:srgbClr val="C9922E"/>
          </a:solidFill>
          <a:ln/>
        </p:spPr>
        <p:txBody>
          <a:bodyPr/>
          <a:lstStyle/>
          <a:p>
            <a:endParaRPr/>
          </a:p>
        </p:txBody>
      </p:sp>
      <p:sp>
        <p:nvSpPr>
          <p:cNvPr id="21" name="Text 17"/>
          <p:cNvSpPr txBox="1"/>
          <p:nvPr/>
        </p:nvSpPr>
        <p:spPr>
          <a:xfrm>
            <a:off x="1161288" y="4974336"/>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safety brief</a:t>
            </a:r>
            <a:r>
              <a:rPr lang="en-US" sz="1180" dirty="0">
                <a:solidFill>
                  <a:srgbClr val="6B6B6B"/>
                </a:solidFill>
                <a:latin typeface="Calibri" pitchFamily="34" charset="0"/>
                <a:ea typeface="Calibri" pitchFamily="34" charset="-122"/>
                <a:cs typeface="Calibri" pitchFamily="34" charset="-120"/>
              </a:rPr>
              <a:t>  the induction a visitor acknowledges before going in</a:t>
            </a:r>
            <a:endParaRPr lang="en-US" sz="1180" dirty="0"/>
          </a:p>
        </p:txBody>
      </p:sp>
      <p:sp>
        <p:nvSpPr>
          <p:cNvPr id="22" name="Shape 18"/>
          <p:cNvSpPr/>
          <p:nvPr/>
        </p:nvSpPr>
        <p:spPr>
          <a:xfrm>
            <a:off x="886968" y="5302605"/>
            <a:ext cx="118872" cy="118872"/>
          </a:xfrm>
          <a:prstGeom prst="ellipse">
            <a:avLst/>
          </a:prstGeom>
          <a:solidFill>
            <a:srgbClr val="C9922E"/>
          </a:solidFill>
          <a:ln/>
        </p:spPr>
        <p:txBody>
          <a:bodyPr/>
          <a:lstStyle/>
          <a:p>
            <a:endParaRPr/>
          </a:p>
        </p:txBody>
      </p:sp>
      <p:sp>
        <p:nvSpPr>
          <p:cNvPr id="23" name="Text 19"/>
          <p:cNvSpPr txBox="1"/>
          <p:nvPr/>
        </p:nvSpPr>
        <p:spPr>
          <a:xfrm>
            <a:off x="1161288" y="52760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No work path</a:t>
            </a:r>
            <a:r>
              <a:rPr lang="en-US" sz="1180" dirty="0">
                <a:solidFill>
                  <a:srgbClr val="6B6B6B"/>
                </a:solidFill>
                <a:latin typeface="Calibri" pitchFamily="34" charset="0"/>
                <a:ea typeface="Calibri" pitchFamily="34" charset="-122"/>
                <a:cs typeface="Calibri" pitchFamily="34" charset="-120"/>
              </a:rPr>
              <a:t>  no trade, no vendor, no work order and no permit, and the product will not let one creep in</a:t>
            </a:r>
            <a:endParaRPr lang="en-US" sz="1180" dirty="0"/>
          </a:p>
        </p:txBody>
      </p:sp>
      <p:sp>
        <p:nvSpPr>
          <p:cNvPr id="24" name="Shape 20"/>
          <p:cNvSpPr/>
          <p:nvPr/>
        </p:nvSpPr>
        <p:spPr>
          <a:xfrm>
            <a:off x="6199632"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25" name="Shape 21"/>
          <p:cNvSpPr/>
          <p:nvPr/>
        </p:nvSpPr>
        <p:spPr>
          <a:xfrm>
            <a:off x="6519672" y="2542032"/>
            <a:ext cx="566928" cy="566928"/>
          </a:xfrm>
          <a:prstGeom prst="ellipse">
            <a:avLst/>
          </a:prstGeom>
          <a:solidFill>
            <a:srgbClr val="EFEFEF"/>
          </a:solidFill>
          <a:ln/>
        </p:spPr>
        <p:txBody>
          <a:bodyPr/>
          <a:lstStyle/>
          <a:p>
            <a:endParaRPr/>
          </a:p>
        </p:txBody>
      </p:sp>
      <p:pic>
        <p:nvPicPr>
          <p:cNvPr id="26" name="Image 2" descr="icons/door-navy.png"/>
          <p:cNvPicPr>
            <a:picLocks noChangeAspect="1"/>
          </p:cNvPicPr>
          <p:nvPr/>
        </p:nvPicPr>
        <p:blipFill>
          <a:blip r:embed="rId5"/>
          <a:stretch>
            <a:fillRect/>
          </a:stretch>
        </p:blipFill>
        <p:spPr>
          <a:xfrm>
            <a:off x="6684081" y="2706441"/>
            <a:ext cx="238110" cy="238110"/>
          </a:xfrm>
          <a:prstGeom prst="rect">
            <a:avLst/>
          </a:prstGeom>
        </p:spPr>
      </p:pic>
      <p:sp>
        <p:nvSpPr>
          <p:cNvPr id="27" name="Text 22"/>
          <p:cNvSpPr txBox="1"/>
          <p:nvPr/>
        </p:nvSpPr>
        <p:spPr>
          <a:xfrm>
            <a:off x="7251192"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Walk-ins at the barrier</a:t>
            </a:r>
            <a:endParaRPr lang="en-US" sz="1700" dirty="0"/>
          </a:p>
        </p:txBody>
      </p:sp>
      <p:sp>
        <p:nvSpPr>
          <p:cNvPr id="28" name="Shape 23"/>
          <p:cNvSpPr/>
          <p:nvPr/>
        </p:nvSpPr>
        <p:spPr>
          <a:xfrm>
            <a:off x="6583680" y="3245205"/>
            <a:ext cx="118872" cy="118872"/>
          </a:xfrm>
          <a:prstGeom prst="ellipse">
            <a:avLst/>
          </a:prstGeom>
          <a:solidFill>
            <a:srgbClr val="C9922E"/>
          </a:solidFill>
          <a:ln/>
        </p:spPr>
        <p:txBody>
          <a:bodyPr/>
          <a:lstStyle/>
          <a:p>
            <a:endParaRPr/>
          </a:p>
        </p:txBody>
      </p:sp>
      <p:sp>
        <p:nvSpPr>
          <p:cNvPr id="29" name="Text 24"/>
          <p:cNvSpPr txBox="1"/>
          <p:nvPr/>
        </p:nvSpPr>
        <p:spPr>
          <a:xfrm>
            <a:off x="6858000" y="321868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Someone the box does not know</a:t>
            </a:r>
            <a:r>
              <a:rPr lang="en-US" sz="1180" dirty="0">
                <a:solidFill>
                  <a:srgbClr val="6B6B6B"/>
                </a:solidFill>
                <a:latin typeface="Calibri" pitchFamily="34" charset="0"/>
                <a:ea typeface="Calibri" pitchFamily="34" charset="-122"/>
                <a:cs typeface="Calibri" pitchFamily="34" charset="-120"/>
              </a:rPr>
              <a:t>  captured at the gate, in two kinds</a:t>
            </a:r>
            <a:endParaRPr lang="en-US" sz="1180" dirty="0"/>
          </a:p>
        </p:txBody>
      </p:sp>
      <p:sp>
        <p:nvSpPr>
          <p:cNvPr id="30" name="Shape 25"/>
          <p:cNvSpPr/>
          <p:nvPr/>
        </p:nvSpPr>
        <p:spPr>
          <a:xfrm>
            <a:off x="6583680" y="3546957"/>
            <a:ext cx="118872" cy="118872"/>
          </a:xfrm>
          <a:prstGeom prst="ellipse">
            <a:avLst/>
          </a:prstGeom>
          <a:solidFill>
            <a:srgbClr val="C9922E"/>
          </a:solidFill>
          <a:ln/>
        </p:spPr>
        <p:txBody>
          <a:bodyPr/>
          <a:lstStyle/>
          <a:p>
            <a:endParaRPr/>
          </a:p>
        </p:txBody>
      </p:sp>
      <p:sp>
        <p:nvSpPr>
          <p:cNvPr id="31" name="Text 26"/>
          <p:cNvSpPr txBox="1"/>
          <p:nvPr/>
        </p:nvSpPr>
        <p:spPr>
          <a:xfrm>
            <a:off x="6858000" y="352044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A visitor walk-in</a:t>
            </a:r>
            <a:r>
              <a:rPr lang="en-US" sz="1180" dirty="0">
                <a:solidFill>
                  <a:srgbClr val="6B6B6B"/>
                </a:solidFill>
                <a:latin typeface="Calibri" pitchFamily="34" charset="0"/>
                <a:ea typeface="Calibri" pitchFamily="34" charset="-122"/>
                <a:cs typeface="Calibri" pitchFamily="34" charset="-120"/>
              </a:rPr>
              <a:t>  nobody is admitted; the office decides and the host is asked</a:t>
            </a:r>
            <a:endParaRPr lang="en-US" sz="1180" dirty="0"/>
          </a:p>
        </p:txBody>
      </p:sp>
      <p:sp>
        <p:nvSpPr>
          <p:cNvPr id="32" name="Shape 27"/>
          <p:cNvSpPr/>
          <p:nvPr/>
        </p:nvSpPr>
        <p:spPr>
          <a:xfrm>
            <a:off x="6583680" y="4031589"/>
            <a:ext cx="118872" cy="118872"/>
          </a:xfrm>
          <a:prstGeom prst="ellipse">
            <a:avLst/>
          </a:prstGeom>
          <a:solidFill>
            <a:srgbClr val="C9922E"/>
          </a:solidFill>
          <a:ln/>
        </p:spPr>
        <p:txBody>
          <a:bodyPr/>
          <a:lstStyle/>
          <a:p>
            <a:endParaRPr/>
          </a:p>
        </p:txBody>
      </p:sp>
      <p:sp>
        <p:nvSpPr>
          <p:cNvPr id="33" name="Text 28"/>
          <p:cNvSpPr txBox="1"/>
          <p:nvPr/>
        </p:nvSpPr>
        <p:spPr>
          <a:xfrm>
            <a:off x="6858000" y="400507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A worker walk-in</a:t>
            </a:r>
            <a:r>
              <a:rPr lang="en-US" sz="1180" dirty="0">
                <a:solidFill>
                  <a:srgbClr val="6B6B6B"/>
                </a:solidFill>
                <a:latin typeface="Calibri" pitchFamily="34" charset="0"/>
                <a:ea typeface="Calibri" pitchFamily="34" charset="-122"/>
                <a:cs typeface="Calibri" pitchFamily="34" charset="-120"/>
              </a:rPr>
              <a:t>  he names one of your firms, and the guard admits him on the spot</a:t>
            </a:r>
            <a:endParaRPr lang="en-US" sz="1180" dirty="0"/>
          </a:p>
        </p:txBody>
      </p:sp>
      <p:sp>
        <p:nvSpPr>
          <p:cNvPr id="34" name="Shape 29"/>
          <p:cNvSpPr/>
          <p:nvPr/>
        </p:nvSpPr>
        <p:spPr>
          <a:xfrm>
            <a:off x="6583680" y="4516221"/>
            <a:ext cx="118872" cy="118872"/>
          </a:xfrm>
          <a:prstGeom prst="ellipse">
            <a:avLst/>
          </a:prstGeom>
          <a:solidFill>
            <a:srgbClr val="C9922E"/>
          </a:solidFill>
          <a:ln/>
        </p:spPr>
        <p:txBody>
          <a:bodyPr/>
          <a:lstStyle/>
          <a:p>
            <a:endParaRPr/>
          </a:p>
        </p:txBody>
      </p:sp>
      <p:sp>
        <p:nvSpPr>
          <p:cNvPr id="35" name="Text 30"/>
          <p:cNvSpPr txBox="1"/>
          <p:nvPr/>
        </p:nvSpPr>
        <p:spPr>
          <a:xfrm>
            <a:off x="6858000" y="448970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Barred is still barred</a:t>
            </a:r>
            <a:r>
              <a:rPr lang="en-US" sz="1180" dirty="0">
                <a:solidFill>
                  <a:srgbClr val="6B6B6B"/>
                </a:solidFill>
                <a:latin typeface="Calibri" pitchFamily="34" charset="0"/>
                <a:ea typeface="Calibri" pitchFamily="34" charset="-122"/>
                <a:cs typeface="Calibri" pitchFamily="34" charset="-120"/>
              </a:rPr>
              <a:t>  a person’s block refuses either kind, whatever the hurry</a:t>
            </a:r>
            <a:endParaRPr lang="en-US" sz="1180" dirty="0"/>
          </a:p>
        </p:txBody>
      </p:sp>
      <p:sp>
        <p:nvSpPr>
          <p:cNvPr id="36" name="Shape 31"/>
          <p:cNvSpPr/>
          <p:nvPr/>
        </p:nvSpPr>
        <p:spPr>
          <a:xfrm>
            <a:off x="6583680" y="5000853"/>
            <a:ext cx="118872" cy="118872"/>
          </a:xfrm>
          <a:prstGeom prst="ellipse">
            <a:avLst/>
          </a:prstGeom>
          <a:solidFill>
            <a:srgbClr val="C9922E"/>
          </a:solidFill>
          <a:ln/>
        </p:spPr>
        <p:txBody>
          <a:bodyPr/>
          <a:lstStyle/>
          <a:p>
            <a:endParaRPr/>
          </a:p>
        </p:txBody>
      </p:sp>
      <p:sp>
        <p:nvSpPr>
          <p:cNvPr id="37" name="Text 32"/>
          <p:cNvSpPr txBox="1"/>
          <p:nvPr/>
        </p:nvSpPr>
        <p:spPr>
          <a:xfrm>
            <a:off x="6858000" y="4974336"/>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Turned away is a record</a:t>
            </a:r>
            <a:r>
              <a:rPr lang="en-US" sz="1180" dirty="0">
                <a:solidFill>
                  <a:srgbClr val="6B6B6B"/>
                </a:solidFill>
                <a:latin typeface="Calibri" pitchFamily="34" charset="0"/>
                <a:ea typeface="Calibri" pitchFamily="34" charset="-122"/>
                <a:cs typeface="Calibri" pitchFamily="34" charset="-120"/>
              </a:rPr>
              <a:t>  the refusal is logged with its reason</a:t>
            </a:r>
            <a:endParaRPr lang="en-US" sz="1180" dirty="0"/>
          </a:p>
        </p:txBody>
      </p:sp>
      <p:sp>
        <p:nvSpPr>
          <p:cNvPr id="38" name="Shape 33"/>
          <p:cNvSpPr/>
          <p:nvPr/>
        </p:nvSpPr>
        <p:spPr>
          <a:xfrm>
            <a:off x="6583680" y="5302605"/>
            <a:ext cx="118872" cy="118872"/>
          </a:xfrm>
          <a:prstGeom prst="ellipse">
            <a:avLst/>
          </a:prstGeom>
          <a:solidFill>
            <a:srgbClr val="C9922E"/>
          </a:solidFill>
          <a:ln/>
        </p:spPr>
        <p:txBody>
          <a:bodyPr/>
          <a:lstStyle/>
          <a:p>
            <a:endParaRPr/>
          </a:p>
        </p:txBody>
      </p:sp>
      <p:sp>
        <p:nvSpPr>
          <p:cNvPr id="39" name="Text 34"/>
          <p:cNvSpPr txBox="1"/>
          <p:nvPr/>
        </p:nvSpPr>
        <p:spPr>
          <a:xfrm>
            <a:off x="6858000" y="527608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Three different rows</a:t>
            </a:r>
            <a:r>
              <a:rPr lang="en-US" sz="1180" dirty="0">
                <a:solidFill>
                  <a:srgbClr val="6B6B6B"/>
                </a:solidFill>
                <a:latin typeface="Calibri" pitchFamily="34" charset="0"/>
                <a:ea typeface="Calibri" pitchFamily="34" charset="-122"/>
                <a:cs typeface="Calibri" pitchFamily="34" charset="-120"/>
              </a:rPr>
              <a:t>  admitted at the gate, by the office, or turned away</a:t>
            </a:r>
            <a:endParaRPr lang="en-US" sz="11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ENTRYHUB · AT THE GATE</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One box, four verdicts, decided on the server</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The guard types or scans one thing. Whether that person may come in is decided inside the same transaction that records the movement, never on the tablet, and never by the guard’s own judgement of a stack of papers.</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sp>
        <p:nvSpPr>
          <p:cNvPr id="8" name="Shape 5"/>
          <p:cNvSpPr/>
          <p:nvPr/>
        </p:nvSpPr>
        <p:spPr>
          <a:xfrm>
            <a:off x="502920" y="2212848"/>
            <a:ext cx="736092" cy="365760"/>
          </a:xfrm>
          <a:prstGeom prst="roundRect">
            <a:avLst>
              <a:gd name="adj" fmla="val 50000"/>
            </a:avLst>
          </a:prstGeom>
          <a:solidFill>
            <a:srgbClr val="DCEBDC"/>
          </a:solidFill>
          <a:ln/>
        </p:spPr>
        <p:txBody>
          <a:bodyPr/>
          <a:lstStyle/>
          <a:p>
            <a:endParaRPr/>
          </a:p>
        </p:txBody>
      </p:sp>
      <p:sp>
        <p:nvSpPr>
          <p:cNvPr id="9" name="Text 6"/>
          <p:cNvSpPr txBox="1"/>
          <p:nvPr/>
        </p:nvSpPr>
        <p:spPr>
          <a:xfrm>
            <a:off x="502920" y="2212848"/>
            <a:ext cx="736092" cy="365760"/>
          </a:xfrm>
          <a:prstGeom prst="rect">
            <a:avLst/>
          </a:prstGeom>
          <a:noFill/>
          <a:ln/>
        </p:spPr>
        <p:txBody>
          <a:bodyPr wrap="square" lIns="0" tIns="0" rIns="0" bIns="0" rtlCol="0" anchor="ctr"/>
          <a:lstStyle/>
          <a:p>
            <a:pPr marL="0" indent="0" algn="ctr">
              <a:buNone/>
            </a:pPr>
            <a:r>
              <a:rPr lang="en-US" sz="1100" b="1" dirty="0">
                <a:solidFill>
                  <a:srgbClr val="3B6B3B"/>
                </a:solidFill>
                <a:latin typeface="Calibri" pitchFamily="34" charset="0"/>
                <a:ea typeface="Calibri" pitchFamily="34" charset="-122"/>
                <a:cs typeface="Calibri" pitchFamily="34" charset="-120"/>
              </a:rPr>
              <a:t>admit</a:t>
            </a:r>
            <a:endParaRPr lang="en-US" sz="1100" dirty="0"/>
          </a:p>
        </p:txBody>
      </p:sp>
      <p:sp>
        <p:nvSpPr>
          <p:cNvPr id="10" name="Shape 7"/>
          <p:cNvSpPr/>
          <p:nvPr/>
        </p:nvSpPr>
        <p:spPr>
          <a:xfrm>
            <a:off x="1403604" y="2212848"/>
            <a:ext cx="1017727" cy="365760"/>
          </a:xfrm>
          <a:prstGeom prst="roundRect">
            <a:avLst>
              <a:gd name="adj" fmla="val 50000"/>
            </a:avLst>
          </a:prstGeom>
          <a:solidFill>
            <a:srgbClr val="FBEAD0"/>
          </a:solidFill>
          <a:ln/>
        </p:spPr>
        <p:txBody>
          <a:bodyPr/>
          <a:lstStyle/>
          <a:p>
            <a:endParaRPr/>
          </a:p>
        </p:txBody>
      </p:sp>
      <p:sp>
        <p:nvSpPr>
          <p:cNvPr id="11" name="Text 8"/>
          <p:cNvSpPr txBox="1"/>
          <p:nvPr/>
        </p:nvSpPr>
        <p:spPr>
          <a:xfrm>
            <a:off x="1403604" y="2212848"/>
            <a:ext cx="1017727" cy="365760"/>
          </a:xfrm>
          <a:prstGeom prst="rect">
            <a:avLst/>
          </a:prstGeom>
          <a:noFill/>
          <a:ln/>
        </p:spPr>
        <p:txBody>
          <a:bodyPr wrap="square" lIns="0" tIns="0" rIns="0" bIns="0" rtlCol="0" anchor="ctr"/>
          <a:lstStyle/>
          <a:p>
            <a:pPr marL="0" indent="0" algn="ctr">
              <a:buNone/>
            </a:pPr>
            <a:r>
              <a:rPr lang="en-US" sz="1100" b="1" dirty="0">
                <a:solidFill>
                  <a:srgbClr val="9A6B14"/>
                </a:solidFill>
                <a:latin typeface="Calibri" pitchFamily="34" charset="0"/>
                <a:ea typeface="Calibri" pitchFamily="34" charset="-122"/>
                <a:cs typeface="Calibri" pitchFamily="34" charset="-120"/>
              </a:rPr>
              <a:t>attention</a:t>
            </a:r>
            <a:endParaRPr lang="en-US" sz="1100" dirty="0"/>
          </a:p>
        </p:txBody>
      </p:sp>
      <p:sp>
        <p:nvSpPr>
          <p:cNvPr id="12" name="Shape 9"/>
          <p:cNvSpPr/>
          <p:nvPr/>
        </p:nvSpPr>
        <p:spPr>
          <a:xfrm>
            <a:off x="2585923" y="2212848"/>
            <a:ext cx="806501" cy="365760"/>
          </a:xfrm>
          <a:prstGeom prst="roundRect">
            <a:avLst>
              <a:gd name="adj" fmla="val 50000"/>
            </a:avLst>
          </a:prstGeom>
          <a:solidFill>
            <a:srgbClr val="F3D6D6"/>
          </a:solidFill>
          <a:ln/>
        </p:spPr>
        <p:txBody>
          <a:bodyPr/>
          <a:lstStyle/>
          <a:p>
            <a:endParaRPr/>
          </a:p>
        </p:txBody>
      </p:sp>
      <p:sp>
        <p:nvSpPr>
          <p:cNvPr id="13" name="Text 10"/>
          <p:cNvSpPr txBox="1"/>
          <p:nvPr/>
        </p:nvSpPr>
        <p:spPr>
          <a:xfrm>
            <a:off x="2585923" y="2212848"/>
            <a:ext cx="806501" cy="365760"/>
          </a:xfrm>
          <a:prstGeom prst="rect">
            <a:avLst/>
          </a:prstGeom>
          <a:noFill/>
          <a:ln/>
        </p:spPr>
        <p:txBody>
          <a:bodyPr wrap="square" lIns="0" tIns="0" rIns="0" bIns="0" rtlCol="0" anchor="ctr"/>
          <a:lstStyle/>
          <a:p>
            <a:pPr marL="0" indent="0" algn="ctr">
              <a:buNone/>
            </a:pPr>
            <a:r>
              <a:rPr lang="en-US" sz="1100" b="1" dirty="0">
                <a:solidFill>
                  <a:srgbClr val="9A3B3B"/>
                </a:solidFill>
                <a:latin typeface="Calibri" pitchFamily="34" charset="0"/>
                <a:ea typeface="Calibri" pitchFamily="34" charset="-122"/>
                <a:cs typeface="Calibri" pitchFamily="34" charset="-120"/>
              </a:rPr>
              <a:t>refuse</a:t>
            </a:r>
            <a:endParaRPr lang="en-US" sz="1100" dirty="0"/>
          </a:p>
        </p:txBody>
      </p:sp>
      <p:sp>
        <p:nvSpPr>
          <p:cNvPr id="14" name="Shape 11"/>
          <p:cNvSpPr/>
          <p:nvPr/>
        </p:nvSpPr>
        <p:spPr>
          <a:xfrm>
            <a:off x="3557016" y="2212848"/>
            <a:ext cx="1862633" cy="365760"/>
          </a:xfrm>
          <a:prstGeom prst="roundRect">
            <a:avLst>
              <a:gd name="adj" fmla="val 50000"/>
            </a:avLst>
          </a:prstGeom>
          <a:solidFill>
            <a:srgbClr val="EFEFEF"/>
          </a:solidFill>
          <a:ln/>
        </p:spPr>
        <p:txBody>
          <a:bodyPr/>
          <a:lstStyle/>
          <a:p>
            <a:endParaRPr/>
          </a:p>
        </p:txBody>
      </p:sp>
      <p:sp>
        <p:nvSpPr>
          <p:cNvPr id="15" name="Text 12"/>
          <p:cNvSpPr txBox="1"/>
          <p:nvPr/>
        </p:nvSpPr>
        <p:spPr>
          <a:xfrm>
            <a:off x="3557016" y="2212848"/>
            <a:ext cx="1862633" cy="365760"/>
          </a:xfrm>
          <a:prstGeom prst="rect">
            <a:avLst/>
          </a:prstGeom>
          <a:noFill/>
          <a:ln/>
        </p:spPr>
        <p:txBody>
          <a:bodyPr wrap="square" lIns="0" tIns="0" rIns="0" bIns="0" rtlCol="0" anchor="ctr"/>
          <a:lstStyle/>
          <a:p>
            <a:pPr marL="0" indent="0" algn="ctr">
              <a:buNone/>
            </a:pPr>
            <a:r>
              <a:rPr lang="en-US" sz="1100" b="1" dirty="0">
                <a:solidFill>
                  <a:srgbClr val="6B6B6B"/>
                </a:solidFill>
                <a:latin typeface="Calibri" pitchFamily="34" charset="0"/>
                <a:ea typeface="Calibri" pitchFamily="34" charset="-122"/>
                <a:cs typeface="Calibri" pitchFamily="34" charset="-120"/>
              </a:rPr>
              <a:t>already inside → exit</a:t>
            </a:r>
            <a:endParaRPr lang="en-US" sz="1100" dirty="0"/>
          </a:p>
        </p:txBody>
      </p:sp>
      <p:sp>
        <p:nvSpPr>
          <p:cNvPr id="16" name="Shape 13"/>
          <p:cNvSpPr/>
          <p:nvPr/>
        </p:nvSpPr>
        <p:spPr>
          <a:xfrm>
            <a:off x="502920" y="2788920"/>
            <a:ext cx="3639312" cy="3200400"/>
          </a:xfrm>
          <a:prstGeom prst="roundRect">
            <a:avLst>
              <a:gd name="adj" fmla="val 3429"/>
            </a:avLst>
          </a:prstGeom>
          <a:solidFill>
            <a:srgbClr val="FFFFFF"/>
          </a:solidFill>
          <a:ln w="12700">
            <a:solidFill>
              <a:srgbClr val="E3E3E3"/>
            </a:solidFill>
            <a:prstDash val="solid"/>
          </a:ln>
        </p:spPr>
        <p:txBody>
          <a:bodyPr/>
          <a:lstStyle/>
          <a:p>
            <a:endParaRPr/>
          </a:p>
        </p:txBody>
      </p:sp>
      <p:sp>
        <p:nvSpPr>
          <p:cNvPr id="17" name="Shape 14"/>
          <p:cNvSpPr/>
          <p:nvPr/>
        </p:nvSpPr>
        <p:spPr>
          <a:xfrm>
            <a:off x="822960" y="3044952"/>
            <a:ext cx="603504" cy="603504"/>
          </a:xfrm>
          <a:prstGeom prst="ellipse">
            <a:avLst/>
          </a:prstGeom>
          <a:solidFill>
            <a:srgbClr val="EFEFEF"/>
          </a:solidFill>
          <a:ln/>
        </p:spPr>
        <p:txBody>
          <a:bodyPr/>
          <a:lstStyle/>
          <a:p>
            <a:endParaRPr/>
          </a:p>
        </p:txBody>
      </p:sp>
      <p:pic>
        <p:nvPicPr>
          <p:cNvPr id="18" name="Image 1" descr="icons/scan-navy.png"/>
          <p:cNvPicPr>
            <a:picLocks noChangeAspect="1"/>
          </p:cNvPicPr>
          <p:nvPr/>
        </p:nvPicPr>
        <p:blipFill>
          <a:blip r:embed="rId4"/>
          <a:stretch>
            <a:fillRect/>
          </a:stretch>
        </p:blipFill>
        <p:spPr>
          <a:xfrm>
            <a:off x="997976" y="3219968"/>
            <a:ext cx="253472" cy="253472"/>
          </a:xfrm>
          <a:prstGeom prst="rect">
            <a:avLst/>
          </a:prstGeom>
        </p:spPr>
      </p:pic>
      <p:sp>
        <p:nvSpPr>
          <p:cNvPr id="19" name="Text 15"/>
          <p:cNvSpPr txBox="1"/>
          <p:nvPr/>
        </p:nvSpPr>
        <p:spPr>
          <a:xfrm>
            <a:off x="795528" y="368503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Seven ways in</a:t>
            </a:r>
            <a:endParaRPr lang="en-US" sz="1600" dirty="0"/>
          </a:p>
        </p:txBody>
      </p:sp>
      <p:sp>
        <p:nvSpPr>
          <p:cNvPr id="20" name="Shape 16"/>
          <p:cNvSpPr/>
          <p:nvPr/>
        </p:nvSpPr>
        <p:spPr>
          <a:xfrm>
            <a:off x="832104" y="4097426"/>
            <a:ext cx="100584" cy="100584"/>
          </a:xfrm>
          <a:prstGeom prst="ellipse">
            <a:avLst/>
          </a:prstGeom>
          <a:solidFill>
            <a:srgbClr val="C9922E"/>
          </a:solidFill>
          <a:ln/>
        </p:spPr>
        <p:txBody>
          <a:bodyPr/>
          <a:lstStyle/>
          <a:p>
            <a:endParaRPr/>
          </a:p>
        </p:txBody>
      </p:sp>
      <p:sp>
        <p:nvSpPr>
          <p:cNvPr id="21" name="Text 17"/>
          <p:cNvSpPr txBox="1"/>
          <p:nvPr/>
        </p:nvSpPr>
        <p:spPr>
          <a:xfrm>
            <a:off x="1069848" y="4069080"/>
            <a:ext cx="2770632" cy="547725"/>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One search box</a:t>
            </a:r>
            <a:r>
              <a:rPr lang="en-US" sz="1080" dirty="0">
                <a:solidFill>
                  <a:srgbClr val="6B6B6B"/>
                </a:solidFill>
                <a:latin typeface="Calibri" pitchFamily="34" charset="0"/>
                <a:ea typeface="Calibri" pitchFamily="34" charset="-122"/>
                <a:cs typeface="Calibri" pitchFamily="34" charset="-120"/>
              </a:rPr>
              <a:t>  badge token, pass QR, visitor number, worker pass, worker number, name or phone</a:t>
            </a:r>
            <a:endParaRPr lang="en-US" sz="1080" dirty="0"/>
          </a:p>
        </p:txBody>
      </p:sp>
      <p:sp>
        <p:nvSpPr>
          <p:cNvPr id="24" name="Shape 20"/>
          <p:cNvSpPr/>
          <p:nvPr/>
        </p:nvSpPr>
        <p:spPr>
          <a:xfrm>
            <a:off x="832104" y="4718304"/>
            <a:ext cx="100584" cy="100584"/>
          </a:xfrm>
          <a:prstGeom prst="ellipse">
            <a:avLst/>
          </a:prstGeom>
          <a:solidFill>
            <a:srgbClr val="C9922E"/>
          </a:solidFill>
          <a:ln/>
        </p:spPr>
        <p:txBody>
          <a:bodyPr/>
          <a:lstStyle/>
          <a:p>
            <a:endParaRPr/>
          </a:p>
        </p:txBody>
      </p:sp>
      <p:sp>
        <p:nvSpPr>
          <p:cNvPr id="25" name="Text 21"/>
          <p:cNvSpPr txBox="1"/>
          <p:nvPr/>
        </p:nvSpPr>
        <p:spPr>
          <a:xfrm>
            <a:off x="1069848" y="468995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The gate is named</a:t>
            </a:r>
            <a:r>
              <a:rPr lang="en-US" sz="1080" dirty="0">
                <a:solidFill>
                  <a:srgbClr val="6B6B6B"/>
                </a:solidFill>
                <a:latin typeface="Calibri" pitchFamily="34" charset="0"/>
                <a:ea typeface="Calibri" pitchFamily="34" charset="-122"/>
                <a:cs typeface="Calibri" pitchFamily="34" charset="-120"/>
              </a:rPr>
              <a:t>  a scan says which gate, and the guard is whoever is signed in</a:t>
            </a:r>
            <a:endParaRPr lang="en-US" sz="1080" dirty="0"/>
          </a:p>
        </p:txBody>
      </p:sp>
      <p:sp>
        <p:nvSpPr>
          <p:cNvPr id="26" name="Shape 22"/>
          <p:cNvSpPr/>
          <p:nvPr/>
        </p:nvSpPr>
        <p:spPr>
          <a:xfrm>
            <a:off x="4462272" y="2788920"/>
            <a:ext cx="3639312" cy="3200400"/>
          </a:xfrm>
          <a:prstGeom prst="roundRect">
            <a:avLst>
              <a:gd name="adj" fmla="val 3429"/>
            </a:avLst>
          </a:prstGeom>
          <a:solidFill>
            <a:srgbClr val="FFFFFF"/>
          </a:solidFill>
          <a:ln w="12700">
            <a:solidFill>
              <a:srgbClr val="E3E3E3"/>
            </a:solidFill>
            <a:prstDash val="solid"/>
          </a:ln>
        </p:spPr>
        <p:txBody>
          <a:bodyPr/>
          <a:lstStyle/>
          <a:p>
            <a:endParaRPr/>
          </a:p>
        </p:txBody>
      </p:sp>
      <p:sp>
        <p:nvSpPr>
          <p:cNvPr id="27" name="Shape 23"/>
          <p:cNvSpPr/>
          <p:nvPr/>
        </p:nvSpPr>
        <p:spPr>
          <a:xfrm>
            <a:off x="4782312" y="3044952"/>
            <a:ext cx="603504" cy="603504"/>
          </a:xfrm>
          <a:prstGeom prst="ellipse">
            <a:avLst/>
          </a:prstGeom>
          <a:solidFill>
            <a:srgbClr val="EFEFEF"/>
          </a:solidFill>
          <a:ln/>
        </p:spPr>
        <p:txBody>
          <a:bodyPr/>
          <a:lstStyle/>
          <a:p>
            <a:endParaRPr/>
          </a:p>
        </p:txBody>
      </p:sp>
      <p:pic>
        <p:nvPicPr>
          <p:cNvPr id="28" name="Image 2" descr="orig/ppt/media/image30.png"/>
          <p:cNvPicPr>
            <a:picLocks noChangeAspect="1"/>
          </p:cNvPicPr>
          <p:nvPr/>
        </p:nvPicPr>
        <p:blipFill>
          <a:blip r:embed="rId5"/>
          <a:stretch>
            <a:fillRect/>
          </a:stretch>
        </p:blipFill>
        <p:spPr>
          <a:xfrm>
            <a:off x="4957328" y="3219968"/>
            <a:ext cx="253472" cy="253472"/>
          </a:xfrm>
          <a:prstGeom prst="rect">
            <a:avLst/>
          </a:prstGeom>
        </p:spPr>
      </p:pic>
      <p:sp>
        <p:nvSpPr>
          <p:cNvPr id="29" name="Text 24"/>
          <p:cNvSpPr txBox="1"/>
          <p:nvPr/>
        </p:nvSpPr>
        <p:spPr>
          <a:xfrm>
            <a:off x="4754880" y="368503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The decision</a:t>
            </a:r>
            <a:endParaRPr lang="en-US" sz="1600" dirty="0"/>
          </a:p>
        </p:txBody>
      </p:sp>
      <p:sp>
        <p:nvSpPr>
          <p:cNvPr id="30" name="Shape 25"/>
          <p:cNvSpPr/>
          <p:nvPr/>
        </p:nvSpPr>
        <p:spPr>
          <a:xfrm>
            <a:off x="4791456" y="4097426"/>
            <a:ext cx="100584" cy="100584"/>
          </a:xfrm>
          <a:prstGeom prst="ellipse">
            <a:avLst/>
          </a:prstGeom>
          <a:solidFill>
            <a:srgbClr val="C9922E"/>
          </a:solidFill>
          <a:ln/>
        </p:spPr>
        <p:txBody>
          <a:bodyPr/>
          <a:lstStyle/>
          <a:p>
            <a:endParaRPr/>
          </a:p>
        </p:txBody>
      </p:sp>
      <p:sp>
        <p:nvSpPr>
          <p:cNvPr id="31" name="Text 26"/>
          <p:cNvSpPr txBox="1"/>
          <p:nvPr/>
        </p:nvSpPr>
        <p:spPr>
          <a:xfrm>
            <a:off x="5029200" y="406908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Over forty named reasons</a:t>
            </a:r>
            <a:r>
              <a:rPr lang="en-US" sz="1080" dirty="0">
                <a:solidFill>
                  <a:srgbClr val="6B6B6B"/>
                </a:solidFill>
                <a:latin typeface="Calibri" pitchFamily="34" charset="0"/>
                <a:ea typeface="Calibri" pitchFamily="34" charset="-122"/>
                <a:cs typeface="Calibri" pitchFamily="34" charset="-120"/>
              </a:rPr>
              <a:t>  ranked worst-first, so the guard sees the one that matters</a:t>
            </a:r>
            <a:endParaRPr lang="en-US" sz="1080" dirty="0"/>
          </a:p>
        </p:txBody>
      </p:sp>
      <p:sp>
        <p:nvSpPr>
          <p:cNvPr id="32" name="Shape 27"/>
          <p:cNvSpPr/>
          <p:nvPr/>
        </p:nvSpPr>
        <p:spPr>
          <a:xfrm>
            <a:off x="4791456" y="4550968"/>
            <a:ext cx="100584" cy="100584"/>
          </a:xfrm>
          <a:prstGeom prst="ellipse">
            <a:avLst/>
          </a:prstGeom>
          <a:solidFill>
            <a:srgbClr val="C9922E"/>
          </a:solidFill>
          <a:ln/>
        </p:spPr>
        <p:txBody>
          <a:bodyPr/>
          <a:lstStyle/>
          <a:p>
            <a:endParaRPr/>
          </a:p>
        </p:txBody>
      </p:sp>
      <p:sp>
        <p:nvSpPr>
          <p:cNvPr id="33" name="Text 28"/>
          <p:cNvSpPr txBox="1"/>
          <p:nvPr/>
        </p:nvSpPr>
        <p:spPr>
          <a:xfrm>
            <a:off x="5029200" y="452262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Expiry warns, lapse stops  an expiring medical is amber; a lapsed licence is red</a:t>
            </a:r>
            <a:endParaRPr lang="en-US" sz="1080" dirty="0"/>
          </a:p>
        </p:txBody>
      </p:sp>
      <p:sp>
        <p:nvSpPr>
          <p:cNvPr id="34" name="Shape 29"/>
          <p:cNvSpPr/>
          <p:nvPr/>
        </p:nvSpPr>
        <p:spPr>
          <a:xfrm>
            <a:off x="4791456" y="5004511"/>
            <a:ext cx="100584" cy="100584"/>
          </a:xfrm>
          <a:prstGeom prst="ellipse">
            <a:avLst/>
          </a:prstGeom>
          <a:solidFill>
            <a:srgbClr val="C9922E"/>
          </a:solidFill>
          <a:ln/>
        </p:spPr>
        <p:txBody>
          <a:bodyPr/>
          <a:lstStyle/>
          <a:p>
            <a:endParaRPr/>
          </a:p>
        </p:txBody>
      </p:sp>
      <p:sp>
        <p:nvSpPr>
          <p:cNvPr id="35" name="Text 30"/>
          <p:cNvSpPr txBox="1"/>
          <p:nvPr/>
        </p:nvSpPr>
        <p:spPr>
          <a:xfrm>
            <a:off x="5029200" y="497616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Wrong plant, wrong area</a:t>
            </a:r>
            <a:r>
              <a:rPr lang="en-US" sz="1080" dirty="0">
                <a:solidFill>
                  <a:srgbClr val="6B6B6B"/>
                </a:solidFill>
                <a:latin typeface="Calibri" pitchFamily="34" charset="0"/>
                <a:ea typeface="Calibri" pitchFamily="34" charset="-122"/>
                <a:cs typeface="Calibri" pitchFamily="34" charset="-120"/>
              </a:rPr>
              <a:t>  a pass for Unit 1 does not open Unit 2</a:t>
            </a:r>
            <a:endParaRPr lang="en-US" sz="1080" dirty="0"/>
          </a:p>
        </p:txBody>
      </p:sp>
      <p:sp>
        <p:nvSpPr>
          <p:cNvPr id="36" name="Shape 31"/>
          <p:cNvSpPr/>
          <p:nvPr/>
        </p:nvSpPr>
        <p:spPr>
          <a:xfrm>
            <a:off x="4791456" y="5458053"/>
            <a:ext cx="100584" cy="100584"/>
          </a:xfrm>
          <a:prstGeom prst="ellipse">
            <a:avLst/>
          </a:prstGeom>
          <a:solidFill>
            <a:srgbClr val="C9922E"/>
          </a:solidFill>
          <a:ln/>
        </p:spPr>
        <p:txBody>
          <a:bodyPr/>
          <a:lstStyle/>
          <a:p>
            <a:endParaRPr/>
          </a:p>
        </p:txBody>
      </p:sp>
      <p:sp>
        <p:nvSpPr>
          <p:cNvPr id="37" name="Text 32"/>
          <p:cNvSpPr txBox="1"/>
          <p:nvPr/>
        </p:nvSpPr>
        <p:spPr>
          <a:xfrm>
            <a:off x="5029200" y="542970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 second scan is an exit</a:t>
            </a:r>
            <a:r>
              <a:rPr lang="en-US" sz="1080" dirty="0">
                <a:solidFill>
                  <a:srgbClr val="6B6B6B"/>
                </a:solidFill>
                <a:latin typeface="Calibri" pitchFamily="34" charset="0"/>
                <a:ea typeface="Calibri" pitchFamily="34" charset="-122"/>
                <a:cs typeface="Calibri" pitchFamily="34" charset="-120"/>
              </a:rPr>
              <a:t>  not a refusal, and not a duplicate</a:t>
            </a:r>
            <a:endParaRPr lang="en-US" sz="1080" dirty="0"/>
          </a:p>
        </p:txBody>
      </p:sp>
      <p:sp>
        <p:nvSpPr>
          <p:cNvPr id="38" name="Shape 33"/>
          <p:cNvSpPr/>
          <p:nvPr/>
        </p:nvSpPr>
        <p:spPr>
          <a:xfrm>
            <a:off x="8421624" y="2788920"/>
            <a:ext cx="3639312" cy="3200400"/>
          </a:xfrm>
          <a:prstGeom prst="roundRect">
            <a:avLst>
              <a:gd name="adj" fmla="val 3429"/>
            </a:avLst>
          </a:prstGeom>
          <a:solidFill>
            <a:srgbClr val="FFFFFF"/>
          </a:solidFill>
          <a:ln w="12700">
            <a:solidFill>
              <a:srgbClr val="E3E3E3"/>
            </a:solidFill>
            <a:prstDash val="solid"/>
          </a:ln>
        </p:spPr>
        <p:txBody>
          <a:bodyPr/>
          <a:lstStyle/>
          <a:p>
            <a:endParaRPr/>
          </a:p>
        </p:txBody>
      </p:sp>
      <p:sp>
        <p:nvSpPr>
          <p:cNvPr id="39" name="Shape 34"/>
          <p:cNvSpPr/>
          <p:nvPr/>
        </p:nvSpPr>
        <p:spPr>
          <a:xfrm>
            <a:off x="8741664" y="3044952"/>
            <a:ext cx="603504" cy="603504"/>
          </a:xfrm>
          <a:prstGeom prst="ellipse">
            <a:avLst/>
          </a:prstGeom>
          <a:solidFill>
            <a:srgbClr val="EFEFEF"/>
          </a:solidFill>
          <a:ln/>
        </p:spPr>
        <p:txBody>
          <a:bodyPr/>
          <a:lstStyle/>
          <a:p>
            <a:endParaRPr/>
          </a:p>
        </p:txBody>
      </p:sp>
      <p:pic>
        <p:nvPicPr>
          <p:cNvPr id="40" name="Image 3" descr="icons/camera-navy.png"/>
          <p:cNvPicPr>
            <a:picLocks noChangeAspect="1"/>
          </p:cNvPicPr>
          <p:nvPr/>
        </p:nvPicPr>
        <p:blipFill>
          <a:blip r:embed="rId6"/>
          <a:stretch>
            <a:fillRect/>
          </a:stretch>
        </p:blipFill>
        <p:spPr>
          <a:xfrm>
            <a:off x="8916680" y="3219968"/>
            <a:ext cx="253472" cy="253472"/>
          </a:xfrm>
          <a:prstGeom prst="rect">
            <a:avLst/>
          </a:prstGeom>
        </p:spPr>
      </p:pic>
      <p:sp>
        <p:nvSpPr>
          <p:cNvPr id="41" name="Text 35"/>
          <p:cNvSpPr txBox="1"/>
          <p:nvPr/>
        </p:nvSpPr>
        <p:spPr>
          <a:xfrm>
            <a:off x="8714232" y="368503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Evidence at the barrier</a:t>
            </a:r>
            <a:endParaRPr lang="en-US" sz="1600" dirty="0"/>
          </a:p>
        </p:txBody>
      </p:sp>
      <p:sp>
        <p:nvSpPr>
          <p:cNvPr id="42" name="Shape 36"/>
          <p:cNvSpPr/>
          <p:nvPr/>
        </p:nvSpPr>
        <p:spPr>
          <a:xfrm>
            <a:off x="8750808" y="4097426"/>
            <a:ext cx="100584" cy="100584"/>
          </a:xfrm>
          <a:prstGeom prst="ellipse">
            <a:avLst/>
          </a:prstGeom>
          <a:solidFill>
            <a:srgbClr val="C9922E"/>
          </a:solidFill>
          <a:ln/>
        </p:spPr>
        <p:txBody>
          <a:bodyPr/>
          <a:lstStyle/>
          <a:p>
            <a:endParaRPr/>
          </a:p>
        </p:txBody>
      </p:sp>
      <p:sp>
        <p:nvSpPr>
          <p:cNvPr id="43" name="Text 37"/>
          <p:cNvSpPr txBox="1"/>
          <p:nvPr/>
        </p:nvSpPr>
        <p:spPr>
          <a:xfrm>
            <a:off x="8988552" y="406908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Live photo</a:t>
            </a:r>
            <a:r>
              <a:rPr lang="en-US" sz="1080" dirty="0">
                <a:solidFill>
                  <a:srgbClr val="6B6B6B"/>
                </a:solidFill>
                <a:latin typeface="Calibri" pitchFamily="34" charset="0"/>
                <a:ea typeface="Calibri" pitchFamily="34" charset="-122"/>
                <a:cs typeface="Calibri" pitchFamily="34" charset="-120"/>
              </a:rPr>
              <a:t>  the person is captured onto the event, going in and coming out</a:t>
            </a:r>
            <a:endParaRPr lang="en-US" sz="1080" dirty="0"/>
          </a:p>
        </p:txBody>
      </p:sp>
      <p:sp>
        <p:nvSpPr>
          <p:cNvPr id="44" name="Shape 38"/>
          <p:cNvSpPr/>
          <p:nvPr/>
        </p:nvSpPr>
        <p:spPr>
          <a:xfrm>
            <a:off x="8750808" y="4550968"/>
            <a:ext cx="100584" cy="100584"/>
          </a:xfrm>
          <a:prstGeom prst="ellipse">
            <a:avLst/>
          </a:prstGeom>
          <a:solidFill>
            <a:srgbClr val="C9922E"/>
          </a:solidFill>
          <a:ln/>
        </p:spPr>
        <p:txBody>
          <a:bodyPr/>
          <a:lstStyle/>
          <a:p>
            <a:endParaRPr/>
          </a:p>
        </p:txBody>
      </p:sp>
      <p:sp>
        <p:nvSpPr>
          <p:cNvPr id="45" name="Text 39"/>
          <p:cNvSpPr txBox="1"/>
          <p:nvPr/>
        </p:nvSpPr>
        <p:spPr>
          <a:xfrm>
            <a:off x="8988552" y="452262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PPE and belongings</a:t>
            </a:r>
            <a:r>
              <a:rPr lang="en-US" sz="1080" dirty="0">
                <a:solidFill>
                  <a:srgbClr val="6B6B6B"/>
                </a:solidFill>
                <a:latin typeface="Calibri" pitchFamily="34" charset="0"/>
                <a:ea typeface="Calibri" pitchFamily="34" charset="-122"/>
                <a:cs typeface="Calibri" pitchFamily="34" charset="-120"/>
              </a:rPr>
              <a:t>  the issue and deposit prompts each plant configures for itself</a:t>
            </a:r>
            <a:endParaRPr lang="en-US" sz="1080" dirty="0"/>
          </a:p>
        </p:txBody>
      </p:sp>
      <p:sp>
        <p:nvSpPr>
          <p:cNvPr id="46" name="Shape 40"/>
          <p:cNvSpPr/>
          <p:nvPr/>
        </p:nvSpPr>
        <p:spPr>
          <a:xfrm>
            <a:off x="8750808" y="5004511"/>
            <a:ext cx="100584" cy="100584"/>
          </a:xfrm>
          <a:prstGeom prst="ellipse">
            <a:avLst/>
          </a:prstGeom>
          <a:solidFill>
            <a:srgbClr val="C9922E"/>
          </a:solidFill>
          <a:ln/>
        </p:spPr>
        <p:txBody>
          <a:bodyPr/>
          <a:lstStyle/>
          <a:p>
            <a:endParaRPr/>
          </a:p>
        </p:txBody>
      </p:sp>
      <p:sp>
        <p:nvSpPr>
          <p:cNvPr id="47" name="Text 41"/>
          <p:cNvSpPr txBox="1"/>
          <p:nvPr/>
        </p:nvSpPr>
        <p:spPr>
          <a:xfrm>
            <a:off x="8988552" y="497616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Every refusal kept</a:t>
            </a:r>
            <a:r>
              <a:rPr lang="en-US" sz="1080" dirty="0">
                <a:solidFill>
                  <a:srgbClr val="6B6B6B"/>
                </a:solidFill>
                <a:latin typeface="Calibri" pitchFamily="34" charset="0"/>
                <a:ea typeface="Calibri" pitchFamily="34" charset="-122"/>
                <a:cs typeface="Calibri" pitchFamily="34" charset="-120"/>
              </a:rPr>
              <a:t>  with its reason, its actor and its time</a:t>
            </a:r>
            <a:endParaRPr lang="en-US" sz="10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ENTRYHUB · PRESENCE &amp; EMERGENCY</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Who is inside, and who is still inside</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The log is the truth and presence is its index, which is what makes the number on the screen survive a missed exit, and what makes it trustworthy on the one day it has to be.</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
        <p:nvSpPr>
          <p:cNvPr id="8" name="Shape 5"/>
          <p:cNvSpPr/>
          <p:nvPr/>
        </p:nvSpPr>
        <p:spPr>
          <a:xfrm>
            <a:off x="502920"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603504" cy="603504"/>
          </a:xfrm>
          <a:prstGeom prst="ellipse">
            <a:avLst/>
          </a:prstGeom>
          <a:solidFill>
            <a:srgbClr val="EFEFEF"/>
          </a:solidFill>
          <a:ln/>
        </p:spPr>
        <p:txBody>
          <a:bodyPr/>
          <a:lstStyle/>
          <a:p>
            <a:endParaRPr/>
          </a:p>
        </p:txBody>
      </p:sp>
      <p:pic>
        <p:nvPicPr>
          <p:cNvPr id="10" name="Image 1" descr="icons/layers-navy.png"/>
          <p:cNvPicPr>
            <a:picLocks noChangeAspect="1"/>
          </p:cNvPicPr>
          <p:nvPr/>
        </p:nvPicPr>
        <p:blipFill>
          <a:blip r:embed="rId4"/>
          <a:stretch>
            <a:fillRect/>
          </a:stretch>
        </p:blipFill>
        <p:spPr>
          <a:xfrm>
            <a:off x="997976" y="2717048"/>
            <a:ext cx="253472" cy="253472"/>
          </a:xfrm>
          <a:prstGeom prst="rect">
            <a:avLst/>
          </a:prstGeom>
        </p:spPr>
      </p:pic>
      <p:sp>
        <p:nvSpPr>
          <p:cNvPr id="11" name="Text 7"/>
          <p:cNvSpPr txBox="1"/>
          <p:nvPr/>
        </p:nvSpPr>
        <p:spPr>
          <a:xfrm>
            <a:off x="795528"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The movement log</a:t>
            </a:r>
            <a:endParaRPr lang="en-US" sz="1600" dirty="0"/>
          </a:p>
        </p:txBody>
      </p:sp>
      <p:sp>
        <p:nvSpPr>
          <p:cNvPr id="12" name="Shape 8"/>
          <p:cNvSpPr/>
          <p:nvPr/>
        </p:nvSpPr>
        <p:spPr>
          <a:xfrm>
            <a:off x="832104" y="3594506"/>
            <a:ext cx="100584" cy="100584"/>
          </a:xfrm>
          <a:prstGeom prst="ellipse">
            <a:avLst/>
          </a:prstGeom>
          <a:solidFill>
            <a:srgbClr val="C9922E"/>
          </a:solidFill>
          <a:ln/>
        </p:spPr>
        <p:txBody>
          <a:bodyPr/>
          <a:lstStyle/>
          <a:p>
            <a:endParaRPr/>
          </a:p>
        </p:txBody>
      </p:sp>
      <p:sp>
        <p:nvSpPr>
          <p:cNvPr id="13" name="Text 9"/>
          <p:cNvSpPr txBox="1"/>
          <p:nvPr/>
        </p:nvSpPr>
        <p:spPr>
          <a:xfrm>
            <a:off x="1069848"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Append-only</a:t>
            </a:r>
            <a:r>
              <a:rPr lang="en-US" sz="1080" dirty="0">
                <a:solidFill>
                  <a:srgbClr val="6B6B6B"/>
                </a:solidFill>
                <a:latin typeface="Calibri" pitchFamily="34" charset="0"/>
                <a:ea typeface="Calibri" pitchFamily="34" charset="-122"/>
                <a:cs typeface="Calibri" pitchFamily="34" charset="-120"/>
              </a:rPr>
              <a:t>  nothing is edited; a correction is a second row that says so</a:t>
            </a:r>
            <a:endParaRPr lang="en-US" sz="1080" dirty="0"/>
          </a:p>
        </p:txBody>
      </p:sp>
      <p:sp>
        <p:nvSpPr>
          <p:cNvPr id="14" name="Shape 10"/>
          <p:cNvSpPr/>
          <p:nvPr/>
        </p:nvSpPr>
        <p:spPr>
          <a:xfrm>
            <a:off x="832104" y="4048048"/>
            <a:ext cx="100584" cy="100584"/>
          </a:xfrm>
          <a:prstGeom prst="ellipse">
            <a:avLst/>
          </a:prstGeom>
          <a:solidFill>
            <a:srgbClr val="C9922E"/>
          </a:solidFill>
          <a:ln/>
        </p:spPr>
        <p:txBody>
          <a:bodyPr/>
          <a:lstStyle/>
          <a:p>
            <a:endParaRPr/>
          </a:p>
        </p:txBody>
      </p:sp>
      <p:sp>
        <p:nvSpPr>
          <p:cNvPr id="15" name="Text 11"/>
          <p:cNvSpPr txBox="1"/>
          <p:nvPr/>
        </p:nvSpPr>
        <p:spPr>
          <a:xfrm>
            <a:off x="1069848"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Written in one transaction</a:t>
            </a:r>
            <a:r>
              <a:rPr lang="en-US" sz="1080" dirty="0">
                <a:solidFill>
                  <a:srgbClr val="6B6B6B"/>
                </a:solidFill>
                <a:latin typeface="Calibri" pitchFamily="34" charset="0"/>
                <a:ea typeface="Calibri" pitchFamily="34" charset="-122"/>
                <a:cs typeface="Calibri" pitchFamily="34" charset="-120"/>
              </a:rPr>
              <a:t>  the movement and the presence index cannot disagree</a:t>
            </a:r>
            <a:endParaRPr lang="en-US" sz="1080" dirty="0"/>
          </a:p>
        </p:txBody>
      </p:sp>
      <p:sp>
        <p:nvSpPr>
          <p:cNvPr id="16" name="Shape 12"/>
          <p:cNvSpPr/>
          <p:nvPr/>
        </p:nvSpPr>
        <p:spPr>
          <a:xfrm>
            <a:off x="832104" y="4501591"/>
            <a:ext cx="100584" cy="100584"/>
          </a:xfrm>
          <a:prstGeom prst="ellipse">
            <a:avLst/>
          </a:prstGeom>
          <a:solidFill>
            <a:srgbClr val="C9922E"/>
          </a:solidFill>
          <a:ln/>
        </p:spPr>
        <p:txBody>
          <a:bodyPr/>
          <a:lstStyle/>
          <a:p>
            <a:endParaRPr/>
          </a:p>
        </p:txBody>
      </p:sp>
      <p:sp>
        <p:nvSpPr>
          <p:cNvPr id="17" name="Text 13"/>
          <p:cNvSpPr txBox="1"/>
          <p:nvPr/>
        </p:nvSpPr>
        <p:spPr>
          <a:xfrm>
            <a:off x="1069848"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Rebuildable</a:t>
            </a:r>
            <a:r>
              <a:rPr lang="en-US" sz="1080" dirty="0">
                <a:solidFill>
                  <a:srgbClr val="6B6B6B"/>
                </a:solidFill>
                <a:latin typeface="Calibri" pitchFamily="34" charset="0"/>
                <a:ea typeface="Calibri" pitchFamily="34" charset="-122"/>
                <a:cs typeface="Calibri" pitchFamily="34" charset="-120"/>
              </a:rPr>
              <a:t>  the board can be reconstructed from the log at any time</a:t>
            </a:r>
            <a:endParaRPr lang="en-US" sz="1080" dirty="0"/>
          </a:p>
        </p:txBody>
      </p:sp>
      <p:sp>
        <p:nvSpPr>
          <p:cNvPr id="18" name="Shape 14"/>
          <p:cNvSpPr/>
          <p:nvPr/>
        </p:nvSpPr>
        <p:spPr>
          <a:xfrm>
            <a:off x="832104" y="4955133"/>
            <a:ext cx="100584" cy="100584"/>
          </a:xfrm>
          <a:prstGeom prst="ellipse">
            <a:avLst/>
          </a:prstGeom>
          <a:solidFill>
            <a:srgbClr val="C9922E"/>
          </a:solidFill>
          <a:ln/>
        </p:spPr>
        <p:txBody>
          <a:bodyPr/>
          <a:lstStyle/>
          <a:p>
            <a:endParaRPr/>
          </a:p>
        </p:txBody>
      </p:sp>
      <p:sp>
        <p:nvSpPr>
          <p:cNvPr id="19" name="Text 15"/>
          <p:cNvSpPr txBox="1"/>
          <p:nvPr/>
        </p:nvSpPr>
        <p:spPr>
          <a:xfrm>
            <a:off x="1069848"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 manual exit is its own row</a:t>
            </a:r>
            <a:r>
              <a:rPr lang="en-US" sz="1080" dirty="0">
                <a:solidFill>
                  <a:srgbClr val="6B6B6B"/>
                </a:solidFill>
                <a:latin typeface="Calibri" pitchFamily="34" charset="0"/>
                <a:ea typeface="Calibri" pitchFamily="34" charset="-122"/>
                <a:cs typeface="Calibri" pitchFamily="34" charset="-120"/>
              </a:rPr>
              <a:t>  marked as left, by whom, and audited</a:t>
            </a:r>
            <a:endParaRPr lang="en-US" sz="1080" dirty="0"/>
          </a:p>
        </p:txBody>
      </p:sp>
      <p:sp>
        <p:nvSpPr>
          <p:cNvPr id="20" name="Shape 16"/>
          <p:cNvSpPr/>
          <p:nvPr/>
        </p:nvSpPr>
        <p:spPr>
          <a:xfrm>
            <a:off x="832104" y="5409590"/>
            <a:ext cx="100584" cy="100584"/>
          </a:xfrm>
          <a:prstGeom prst="ellipse">
            <a:avLst/>
          </a:prstGeom>
          <a:solidFill>
            <a:srgbClr val="C9922E"/>
          </a:solidFill>
          <a:ln/>
        </p:spPr>
        <p:txBody>
          <a:bodyPr/>
          <a:lstStyle/>
          <a:p>
            <a:endParaRPr/>
          </a:p>
        </p:txBody>
      </p:sp>
      <p:sp>
        <p:nvSpPr>
          <p:cNvPr id="21" name="Text 17"/>
          <p:cNvSpPr txBox="1"/>
          <p:nvPr/>
        </p:nvSpPr>
        <p:spPr>
          <a:xfrm>
            <a:off x="1069848"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Entry and exit log</a:t>
            </a:r>
            <a:r>
              <a:rPr lang="en-US" sz="1080" dirty="0">
                <a:solidFill>
                  <a:srgbClr val="6B6B6B"/>
                </a:solidFill>
                <a:latin typeface="Calibri" pitchFamily="34" charset="0"/>
                <a:ea typeface="Calibri" pitchFamily="34" charset="-122"/>
                <a:cs typeface="Calibri" pitchFamily="34" charset="-120"/>
              </a:rPr>
              <a:t>  filter by gate, firm, person or day, and export it</a:t>
            </a:r>
            <a:endParaRPr lang="en-US" sz="1080" dirty="0"/>
          </a:p>
        </p:txBody>
      </p:sp>
      <p:sp>
        <p:nvSpPr>
          <p:cNvPr id="22" name="Shape 18"/>
          <p:cNvSpPr/>
          <p:nvPr/>
        </p:nvSpPr>
        <p:spPr>
          <a:xfrm>
            <a:off x="4462272"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23" name="Shape 19"/>
          <p:cNvSpPr/>
          <p:nvPr/>
        </p:nvSpPr>
        <p:spPr>
          <a:xfrm>
            <a:off x="4782312" y="2542032"/>
            <a:ext cx="603504" cy="603504"/>
          </a:xfrm>
          <a:prstGeom prst="ellipse">
            <a:avLst/>
          </a:prstGeom>
          <a:solidFill>
            <a:srgbClr val="EFEFEF"/>
          </a:solidFill>
          <a:ln/>
        </p:spPr>
        <p:txBody>
          <a:bodyPr/>
          <a:lstStyle/>
          <a:p>
            <a:endParaRPr/>
          </a:p>
        </p:txBody>
      </p:sp>
      <p:pic>
        <p:nvPicPr>
          <p:cNvPr id="24" name="Image 2" descr="icons/users-navy.png"/>
          <p:cNvPicPr>
            <a:picLocks noChangeAspect="1"/>
          </p:cNvPicPr>
          <p:nvPr/>
        </p:nvPicPr>
        <p:blipFill>
          <a:blip r:embed="rId5"/>
          <a:stretch>
            <a:fillRect/>
          </a:stretch>
        </p:blipFill>
        <p:spPr>
          <a:xfrm>
            <a:off x="4957328" y="2717048"/>
            <a:ext cx="253472" cy="253472"/>
          </a:xfrm>
          <a:prstGeom prst="rect">
            <a:avLst/>
          </a:prstGeom>
        </p:spPr>
      </p:pic>
      <p:sp>
        <p:nvSpPr>
          <p:cNvPr id="25" name="Text 20"/>
          <p:cNvSpPr txBox="1"/>
          <p:nvPr/>
        </p:nvSpPr>
        <p:spPr>
          <a:xfrm>
            <a:off x="4754880"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Inside now</a:t>
            </a:r>
            <a:endParaRPr lang="en-US" sz="1600" dirty="0"/>
          </a:p>
        </p:txBody>
      </p:sp>
      <p:sp>
        <p:nvSpPr>
          <p:cNvPr id="26" name="Shape 21"/>
          <p:cNvSpPr/>
          <p:nvPr/>
        </p:nvSpPr>
        <p:spPr>
          <a:xfrm>
            <a:off x="4791456" y="3594506"/>
            <a:ext cx="100584" cy="100584"/>
          </a:xfrm>
          <a:prstGeom prst="ellipse">
            <a:avLst/>
          </a:prstGeom>
          <a:solidFill>
            <a:srgbClr val="C9922E"/>
          </a:solidFill>
          <a:ln/>
        </p:spPr>
        <p:txBody>
          <a:bodyPr/>
          <a:lstStyle/>
          <a:p>
            <a:endParaRPr/>
          </a:p>
        </p:txBody>
      </p:sp>
      <p:sp>
        <p:nvSpPr>
          <p:cNvPr id="27" name="Text 22"/>
          <p:cNvSpPr txBox="1"/>
          <p:nvPr/>
        </p:nvSpPr>
        <p:spPr>
          <a:xfrm>
            <a:off x="5029200"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Live headcount</a:t>
            </a:r>
            <a:r>
              <a:rPr lang="en-US" sz="1080" dirty="0">
                <a:solidFill>
                  <a:srgbClr val="6B6B6B"/>
                </a:solidFill>
                <a:latin typeface="Calibri" pitchFamily="34" charset="0"/>
                <a:ea typeface="Calibri" pitchFamily="34" charset="-122"/>
                <a:cs typeface="Calibri" pitchFamily="34" charset="-120"/>
              </a:rPr>
              <a:t>  who is on site this minute, contractors and visitors alike</a:t>
            </a:r>
            <a:endParaRPr lang="en-US" sz="1080" dirty="0"/>
          </a:p>
        </p:txBody>
      </p:sp>
      <p:sp>
        <p:nvSpPr>
          <p:cNvPr id="28" name="Shape 23"/>
          <p:cNvSpPr/>
          <p:nvPr/>
        </p:nvSpPr>
        <p:spPr>
          <a:xfrm>
            <a:off x="4791456" y="4048048"/>
            <a:ext cx="100584" cy="100584"/>
          </a:xfrm>
          <a:prstGeom prst="ellipse">
            <a:avLst/>
          </a:prstGeom>
          <a:solidFill>
            <a:srgbClr val="C9922E"/>
          </a:solidFill>
          <a:ln/>
        </p:spPr>
        <p:txBody>
          <a:bodyPr/>
          <a:lstStyle/>
          <a:p>
            <a:endParaRPr/>
          </a:p>
        </p:txBody>
      </p:sp>
      <p:sp>
        <p:nvSpPr>
          <p:cNvPr id="29" name="Text 24"/>
          <p:cNvSpPr txBox="1"/>
          <p:nvPr/>
        </p:nvSpPr>
        <p:spPr>
          <a:xfrm>
            <a:off x="5029200"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How long they have been in</a:t>
            </a:r>
            <a:r>
              <a:rPr lang="en-US" sz="1080" dirty="0">
                <a:solidFill>
                  <a:srgbClr val="6B6B6B"/>
                </a:solidFill>
                <a:latin typeface="Calibri" pitchFamily="34" charset="0"/>
                <a:ea typeface="Calibri" pitchFamily="34" charset="-122"/>
                <a:cs typeface="Calibri" pitchFamily="34" charset="-120"/>
              </a:rPr>
              <a:t>  so an overstay is visible rather than inferred</a:t>
            </a:r>
            <a:endParaRPr lang="en-US" sz="1080" dirty="0"/>
          </a:p>
        </p:txBody>
      </p:sp>
      <p:sp>
        <p:nvSpPr>
          <p:cNvPr id="30" name="Shape 25"/>
          <p:cNvSpPr/>
          <p:nvPr/>
        </p:nvSpPr>
        <p:spPr>
          <a:xfrm>
            <a:off x="4791456" y="4501591"/>
            <a:ext cx="100584" cy="100584"/>
          </a:xfrm>
          <a:prstGeom prst="ellipse">
            <a:avLst/>
          </a:prstGeom>
          <a:solidFill>
            <a:srgbClr val="C9922E"/>
          </a:solidFill>
          <a:ln/>
        </p:spPr>
        <p:txBody>
          <a:bodyPr/>
          <a:lstStyle/>
          <a:p>
            <a:endParaRPr/>
          </a:p>
        </p:txBody>
      </p:sp>
      <p:sp>
        <p:nvSpPr>
          <p:cNvPr id="31" name="Text 26"/>
          <p:cNvSpPr txBox="1"/>
          <p:nvPr/>
        </p:nvSpPr>
        <p:spPr>
          <a:xfrm>
            <a:off x="5029200"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By firm and by plant</a:t>
            </a:r>
            <a:r>
              <a:rPr lang="en-US" sz="1080" dirty="0">
                <a:solidFill>
                  <a:srgbClr val="6B6B6B"/>
                </a:solidFill>
                <a:latin typeface="Calibri" pitchFamily="34" charset="0"/>
                <a:ea typeface="Calibri" pitchFamily="34" charset="-122"/>
                <a:cs typeface="Calibri" pitchFamily="34" charset="-120"/>
              </a:rPr>
              <a:t>  the board a supervisor actually watches</a:t>
            </a:r>
            <a:endParaRPr lang="en-US" sz="1080" dirty="0"/>
          </a:p>
        </p:txBody>
      </p:sp>
      <p:sp>
        <p:nvSpPr>
          <p:cNvPr id="32" name="Shape 27"/>
          <p:cNvSpPr/>
          <p:nvPr/>
        </p:nvSpPr>
        <p:spPr>
          <a:xfrm>
            <a:off x="4791456" y="4955133"/>
            <a:ext cx="100584" cy="100584"/>
          </a:xfrm>
          <a:prstGeom prst="ellipse">
            <a:avLst/>
          </a:prstGeom>
          <a:solidFill>
            <a:srgbClr val="C9922E"/>
          </a:solidFill>
          <a:ln/>
        </p:spPr>
        <p:txBody>
          <a:bodyPr/>
          <a:lstStyle/>
          <a:p>
            <a:endParaRPr/>
          </a:p>
        </p:txBody>
      </p:sp>
      <p:sp>
        <p:nvSpPr>
          <p:cNvPr id="33" name="Text 28"/>
          <p:cNvSpPr txBox="1"/>
          <p:nvPr/>
        </p:nvSpPr>
        <p:spPr>
          <a:xfrm>
            <a:off x="5029200"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Never a counter</a:t>
            </a:r>
            <a:r>
              <a:rPr lang="en-US" sz="1080" dirty="0">
                <a:solidFill>
                  <a:srgbClr val="6B6B6B"/>
                </a:solidFill>
                <a:latin typeface="Calibri" pitchFamily="34" charset="0"/>
                <a:ea typeface="Calibri" pitchFamily="34" charset="-122"/>
                <a:cs typeface="Calibri" pitchFamily="34" charset="-120"/>
              </a:rPr>
              <a:t>  a counter drifts the first time an exit is missed, then lies</a:t>
            </a:r>
            <a:endParaRPr lang="en-US" sz="1080" dirty="0"/>
          </a:p>
        </p:txBody>
      </p:sp>
      <p:sp>
        <p:nvSpPr>
          <p:cNvPr id="34" name="Shape 29"/>
          <p:cNvSpPr/>
          <p:nvPr/>
        </p:nvSpPr>
        <p:spPr>
          <a:xfrm>
            <a:off x="4791456" y="5409590"/>
            <a:ext cx="100584" cy="100584"/>
          </a:xfrm>
          <a:prstGeom prst="ellipse">
            <a:avLst/>
          </a:prstGeom>
          <a:solidFill>
            <a:srgbClr val="C9922E"/>
          </a:solidFill>
          <a:ln/>
        </p:spPr>
        <p:txBody>
          <a:bodyPr/>
          <a:lstStyle/>
          <a:p>
            <a:endParaRPr/>
          </a:p>
        </p:txBody>
      </p:sp>
      <p:sp>
        <p:nvSpPr>
          <p:cNvPr id="35" name="Text 30"/>
          <p:cNvSpPr txBox="1"/>
          <p:nvPr/>
        </p:nvSpPr>
        <p:spPr>
          <a:xfrm>
            <a:off x="5029200"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On the phone too</a:t>
            </a:r>
            <a:r>
              <a:rPr lang="en-US" sz="1080" dirty="0">
                <a:solidFill>
                  <a:srgbClr val="6B6B6B"/>
                </a:solidFill>
                <a:latin typeface="Calibri" pitchFamily="34" charset="0"/>
                <a:ea typeface="Calibri" pitchFamily="34" charset="-122"/>
                <a:cs typeface="Calibri" pitchFamily="34" charset="-120"/>
              </a:rPr>
              <a:t>  the same board in the mobile app</a:t>
            </a:r>
            <a:endParaRPr lang="en-US" sz="1080" dirty="0"/>
          </a:p>
        </p:txBody>
      </p:sp>
      <p:sp>
        <p:nvSpPr>
          <p:cNvPr id="36" name="Shape 31"/>
          <p:cNvSpPr/>
          <p:nvPr/>
        </p:nvSpPr>
        <p:spPr>
          <a:xfrm>
            <a:off x="8421624"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37" name="Shape 32"/>
          <p:cNvSpPr/>
          <p:nvPr/>
        </p:nvSpPr>
        <p:spPr>
          <a:xfrm>
            <a:off x="8741664" y="2542032"/>
            <a:ext cx="603504" cy="603504"/>
          </a:xfrm>
          <a:prstGeom prst="ellipse">
            <a:avLst/>
          </a:prstGeom>
          <a:solidFill>
            <a:srgbClr val="EFEFEF"/>
          </a:solidFill>
          <a:ln/>
        </p:spPr>
        <p:txBody>
          <a:bodyPr/>
          <a:lstStyle/>
          <a:p>
            <a:endParaRPr/>
          </a:p>
        </p:txBody>
      </p:sp>
      <p:pic>
        <p:nvPicPr>
          <p:cNvPr id="38" name="Image 3" descr="icons/siren-navy.png"/>
          <p:cNvPicPr>
            <a:picLocks noChangeAspect="1"/>
          </p:cNvPicPr>
          <p:nvPr/>
        </p:nvPicPr>
        <p:blipFill>
          <a:blip r:embed="rId6"/>
          <a:stretch>
            <a:fillRect/>
          </a:stretch>
        </p:blipFill>
        <p:spPr>
          <a:xfrm>
            <a:off x="8916680" y="2717048"/>
            <a:ext cx="253472" cy="253472"/>
          </a:xfrm>
          <a:prstGeom prst="rect">
            <a:avLst/>
          </a:prstGeom>
        </p:spPr>
      </p:pic>
      <p:sp>
        <p:nvSpPr>
          <p:cNvPr id="39" name="Text 33"/>
          <p:cNvSpPr txBox="1"/>
          <p:nvPr/>
        </p:nvSpPr>
        <p:spPr>
          <a:xfrm>
            <a:off x="8714232"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Evacuation</a:t>
            </a:r>
            <a:endParaRPr lang="en-US" sz="1600" dirty="0"/>
          </a:p>
        </p:txBody>
      </p:sp>
      <p:sp>
        <p:nvSpPr>
          <p:cNvPr id="40" name="Shape 34"/>
          <p:cNvSpPr/>
          <p:nvPr/>
        </p:nvSpPr>
        <p:spPr>
          <a:xfrm>
            <a:off x="8750808" y="3594506"/>
            <a:ext cx="100584" cy="100584"/>
          </a:xfrm>
          <a:prstGeom prst="ellipse">
            <a:avLst/>
          </a:prstGeom>
          <a:solidFill>
            <a:srgbClr val="C9922E"/>
          </a:solidFill>
          <a:ln/>
        </p:spPr>
        <p:txBody>
          <a:bodyPr/>
          <a:lstStyle/>
          <a:p>
            <a:endParaRPr/>
          </a:p>
        </p:txBody>
      </p:sp>
      <p:sp>
        <p:nvSpPr>
          <p:cNvPr id="41" name="Text 35"/>
          <p:cNvSpPr txBox="1"/>
          <p:nvPr/>
        </p:nvSpPr>
        <p:spPr>
          <a:xfrm>
            <a:off x="8988552"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Freeze the roll</a:t>
            </a:r>
            <a:r>
              <a:rPr lang="en-US" sz="1080" dirty="0">
                <a:solidFill>
                  <a:srgbClr val="6B6B6B"/>
                </a:solidFill>
                <a:latin typeface="Calibri" pitchFamily="34" charset="0"/>
                <a:ea typeface="Calibri" pitchFamily="34" charset="-122"/>
                <a:cs typeface="Calibri" pitchFamily="34" charset="-120"/>
              </a:rPr>
              <a:t>  a snapshot at the moment of the alarm, never a live query</a:t>
            </a:r>
            <a:endParaRPr lang="en-US" sz="1080" dirty="0"/>
          </a:p>
        </p:txBody>
      </p:sp>
      <p:sp>
        <p:nvSpPr>
          <p:cNvPr id="42" name="Shape 36"/>
          <p:cNvSpPr/>
          <p:nvPr/>
        </p:nvSpPr>
        <p:spPr>
          <a:xfrm>
            <a:off x="8750808" y="4048048"/>
            <a:ext cx="100584" cy="100584"/>
          </a:xfrm>
          <a:prstGeom prst="ellipse">
            <a:avLst/>
          </a:prstGeom>
          <a:solidFill>
            <a:srgbClr val="C9922E"/>
          </a:solidFill>
          <a:ln/>
        </p:spPr>
        <p:txBody>
          <a:bodyPr/>
          <a:lstStyle/>
          <a:p>
            <a:endParaRPr/>
          </a:p>
        </p:txBody>
      </p:sp>
      <p:sp>
        <p:nvSpPr>
          <p:cNvPr id="43" name="Text 37"/>
          <p:cNvSpPr txBox="1"/>
          <p:nvPr/>
        </p:nvSpPr>
        <p:spPr>
          <a:xfrm>
            <a:off x="8988552"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Tick people off</a:t>
            </a:r>
            <a:r>
              <a:rPr lang="en-US" sz="1080" dirty="0">
                <a:solidFill>
                  <a:srgbClr val="6B6B6B"/>
                </a:solidFill>
                <a:latin typeface="Calibri" pitchFamily="34" charset="0"/>
                <a:ea typeface="Calibri" pitchFamily="34" charset="-122"/>
                <a:cs typeface="Calibri" pitchFamily="34" charset="-120"/>
              </a:rPr>
              <a:t>  as they reach the assembly point, from a phone or a screen</a:t>
            </a:r>
            <a:endParaRPr lang="en-US" sz="1080" dirty="0"/>
          </a:p>
        </p:txBody>
      </p:sp>
      <p:sp>
        <p:nvSpPr>
          <p:cNvPr id="44" name="Shape 38"/>
          <p:cNvSpPr/>
          <p:nvPr/>
        </p:nvSpPr>
        <p:spPr>
          <a:xfrm>
            <a:off x="8750808" y="4501591"/>
            <a:ext cx="100584" cy="100584"/>
          </a:xfrm>
          <a:prstGeom prst="ellipse">
            <a:avLst/>
          </a:prstGeom>
          <a:solidFill>
            <a:srgbClr val="C9922E"/>
          </a:solidFill>
          <a:ln/>
        </p:spPr>
        <p:txBody>
          <a:bodyPr/>
          <a:lstStyle/>
          <a:p>
            <a:endParaRPr/>
          </a:p>
        </p:txBody>
      </p:sp>
      <p:sp>
        <p:nvSpPr>
          <p:cNvPr id="45" name="Text 39"/>
          <p:cNvSpPr txBox="1"/>
          <p:nvPr/>
        </p:nvSpPr>
        <p:spPr>
          <a:xfrm>
            <a:off x="8988552"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Missing float to the top</a:t>
            </a:r>
            <a:r>
              <a:rPr lang="en-US" sz="1080" dirty="0">
                <a:solidFill>
                  <a:srgbClr val="6B6B6B"/>
                </a:solidFill>
                <a:latin typeface="Calibri" pitchFamily="34" charset="0"/>
                <a:ea typeface="Calibri" pitchFamily="34" charset="-122"/>
                <a:cs typeface="Calibri" pitchFamily="34" charset="-120"/>
              </a:rPr>
              <a:t>  the list sorts itself towards whoever is unaccounted for</a:t>
            </a:r>
            <a:endParaRPr lang="en-US" sz="1080" dirty="0"/>
          </a:p>
        </p:txBody>
      </p:sp>
      <p:sp>
        <p:nvSpPr>
          <p:cNvPr id="46" name="Shape 40"/>
          <p:cNvSpPr/>
          <p:nvPr/>
        </p:nvSpPr>
        <p:spPr>
          <a:xfrm>
            <a:off x="8750808" y="4955133"/>
            <a:ext cx="100584" cy="100584"/>
          </a:xfrm>
          <a:prstGeom prst="ellipse">
            <a:avLst/>
          </a:prstGeom>
          <a:solidFill>
            <a:srgbClr val="C9922E"/>
          </a:solidFill>
          <a:ln/>
        </p:spPr>
        <p:txBody>
          <a:bodyPr/>
          <a:lstStyle/>
          <a:p>
            <a:endParaRPr/>
          </a:p>
        </p:txBody>
      </p:sp>
      <p:sp>
        <p:nvSpPr>
          <p:cNvPr id="47" name="Text 41"/>
          <p:cNvSpPr txBox="1"/>
          <p:nvPr/>
        </p:nvSpPr>
        <p:spPr>
          <a:xfrm>
            <a:off x="8988552"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Close the roll</a:t>
            </a:r>
            <a:r>
              <a:rPr lang="en-US" sz="1080" dirty="0">
                <a:solidFill>
                  <a:srgbClr val="6B6B6B"/>
                </a:solidFill>
                <a:latin typeface="Calibri" pitchFamily="34" charset="0"/>
                <a:ea typeface="Calibri" pitchFamily="34" charset="-122"/>
                <a:cs typeface="Calibri" pitchFamily="34" charset="-120"/>
              </a:rPr>
              <a:t>  with a record of who was accounted for, by whom and when</a:t>
            </a:r>
            <a:endParaRPr lang="en-US" sz="1080" dirty="0"/>
          </a:p>
        </p:txBody>
      </p:sp>
      <p:sp>
        <p:nvSpPr>
          <p:cNvPr id="48" name="Shape 42"/>
          <p:cNvSpPr/>
          <p:nvPr/>
        </p:nvSpPr>
        <p:spPr>
          <a:xfrm>
            <a:off x="8750808" y="5409590"/>
            <a:ext cx="100584" cy="100584"/>
          </a:xfrm>
          <a:prstGeom prst="ellipse">
            <a:avLst/>
          </a:prstGeom>
          <a:solidFill>
            <a:srgbClr val="C9922E"/>
          </a:solidFill>
          <a:ln/>
        </p:spPr>
        <p:txBody>
          <a:bodyPr/>
          <a:lstStyle/>
          <a:p>
            <a:endParaRPr/>
          </a:p>
        </p:txBody>
      </p:sp>
      <p:sp>
        <p:nvSpPr>
          <p:cNvPr id="49" name="Text 43"/>
          <p:cNvSpPr txBox="1"/>
          <p:nvPr/>
        </p:nvSpPr>
        <p:spPr>
          <a:xfrm>
            <a:off x="8988552"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Defensible afterwards</a:t>
            </a:r>
            <a:r>
              <a:rPr lang="en-US" sz="1080" dirty="0">
                <a:solidFill>
                  <a:srgbClr val="6B6B6B"/>
                </a:solidFill>
                <a:latin typeface="Calibri" pitchFamily="34" charset="0"/>
                <a:ea typeface="Calibri" pitchFamily="34" charset="-122"/>
                <a:cs typeface="Calibri" pitchFamily="34" charset="-120"/>
              </a:rPr>
              <a:t>  the roll is evidence, not a whiteboard photo</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ENTRYHUB · COMPLIANCE</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The papers, and what is out of date</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Every document the plant insists on is data you control, not a list somebody hard-coded, and the gate judges against it automatically, so compliance is enforced at the barrier rather than audited afterwards.</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sp>
        <p:nvSpPr>
          <p:cNvPr id="8" name="Shape 5"/>
          <p:cNvSpPr/>
          <p:nvPr/>
        </p:nvSpPr>
        <p:spPr>
          <a:xfrm>
            <a:off x="502920"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566928" cy="566928"/>
          </a:xfrm>
          <a:prstGeom prst="ellipse">
            <a:avLst/>
          </a:prstGeom>
          <a:solidFill>
            <a:srgbClr val="EFEFEF"/>
          </a:solidFill>
          <a:ln/>
        </p:spPr>
        <p:txBody>
          <a:bodyPr/>
          <a:lstStyle/>
          <a:p>
            <a:endParaRPr/>
          </a:p>
        </p:txBody>
      </p:sp>
      <p:pic>
        <p:nvPicPr>
          <p:cNvPr id="10" name="Image 1" descr="icons/clipboard-navy.png"/>
          <p:cNvPicPr>
            <a:picLocks noChangeAspect="1"/>
          </p:cNvPicPr>
          <p:nvPr/>
        </p:nvPicPr>
        <p:blipFill>
          <a:blip r:embed="rId4"/>
          <a:stretch>
            <a:fillRect/>
          </a:stretch>
        </p:blipFill>
        <p:spPr>
          <a:xfrm>
            <a:off x="987369" y="2706441"/>
            <a:ext cx="238110" cy="238110"/>
          </a:xfrm>
          <a:prstGeom prst="rect">
            <a:avLst/>
          </a:prstGeom>
        </p:spPr>
      </p:pic>
      <p:sp>
        <p:nvSpPr>
          <p:cNvPr id="11" name="Text 7"/>
          <p:cNvSpPr txBox="1"/>
          <p:nvPr/>
        </p:nvSpPr>
        <p:spPr>
          <a:xfrm>
            <a:off x="1554480"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The papers on file</a:t>
            </a:r>
            <a:endParaRPr lang="en-US" sz="1700" dirty="0"/>
          </a:p>
        </p:txBody>
      </p:sp>
      <p:sp>
        <p:nvSpPr>
          <p:cNvPr id="12" name="Shape 8"/>
          <p:cNvSpPr/>
          <p:nvPr/>
        </p:nvSpPr>
        <p:spPr>
          <a:xfrm>
            <a:off x="886968" y="3245205"/>
            <a:ext cx="118872" cy="118872"/>
          </a:xfrm>
          <a:prstGeom prst="ellipse">
            <a:avLst/>
          </a:prstGeom>
          <a:solidFill>
            <a:srgbClr val="C9922E"/>
          </a:solidFill>
          <a:ln/>
        </p:spPr>
        <p:txBody>
          <a:bodyPr/>
          <a:lstStyle/>
          <a:p>
            <a:endParaRPr/>
          </a:p>
        </p:txBody>
      </p:sp>
      <p:sp>
        <p:nvSpPr>
          <p:cNvPr id="13" name="Text 9"/>
          <p:cNvSpPr txBox="1"/>
          <p:nvPr/>
        </p:nvSpPr>
        <p:spPr>
          <a:xfrm>
            <a:off x="1161288"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Document types are yours</a:t>
            </a:r>
            <a:r>
              <a:rPr lang="en-US" sz="1180" dirty="0">
                <a:solidFill>
                  <a:srgbClr val="6B6B6B"/>
                </a:solidFill>
                <a:latin typeface="Calibri" pitchFamily="34" charset="0"/>
                <a:ea typeface="Calibri" pitchFamily="34" charset="-122"/>
                <a:cs typeface="Calibri" pitchFamily="34" charset="-120"/>
              </a:rPr>
              <a:t>  a starting set is seeded, then renamed and extended by you</a:t>
            </a:r>
            <a:endParaRPr lang="en-US" sz="1180" dirty="0"/>
          </a:p>
        </p:txBody>
      </p:sp>
      <p:sp>
        <p:nvSpPr>
          <p:cNvPr id="14" name="Shape 10"/>
          <p:cNvSpPr/>
          <p:nvPr/>
        </p:nvSpPr>
        <p:spPr>
          <a:xfrm>
            <a:off x="886968" y="3729837"/>
            <a:ext cx="118872" cy="118872"/>
          </a:xfrm>
          <a:prstGeom prst="ellipse">
            <a:avLst/>
          </a:prstGeom>
          <a:solidFill>
            <a:srgbClr val="C9922E"/>
          </a:solidFill>
          <a:ln/>
        </p:spPr>
        <p:txBody>
          <a:bodyPr/>
          <a:lstStyle/>
          <a:p>
            <a:endParaRPr/>
          </a:p>
        </p:txBody>
      </p:sp>
      <p:sp>
        <p:nvSpPr>
          <p:cNvPr id="15" name="Text 11"/>
          <p:cNvSpPr txBox="1"/>
          <p:nvPr/>
        </p:nvSpPr>
        <p:spPr>
          <a:xfrm>
            <a:off x="1161288" y="370332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Scoped to who needs them</a:t>
            </a:r>
            <a:r>
              <a:rPr lang="en-US" sz="1180" dirty="0">
                <a:solidFill>
                  <a:srgbClr val="6B6B6B"/>
                </a:solidFill>
                <a:latin typeface="Calibri" pitchFamily="34" charset="0"/>
                <a:ea typeface="Calibri" pitchFamily="34" charset="-122"/>
                <a:cs typeface="Calibri" pitchFamily="34" charset="-120"/>
              </a:rPr>
              <a:t>  a firm’s papers, a worker’s papers and a visitor’s are different lists</a:t>
            </a:r>
            <a:endParaRPr lang="en-US" sz="1180" dirty="0"/>
          </a:p>
        </p:txBody>
      </p:sp>
      <p:sp>
        <p:nvSpPr>
          <p:cNvPr id="16" name="Shape 12"/>
          <p:cNvSpPr/>
          <p:nvPr/>
        </p:nvSpPr>
        <p:spPr>
          <a:xfrm>
            <a:off x="886968" y="4214469"/>
            <a:ext cx="118872" cy="118872"/>
          </a:xfrm>
          <a:prstGeom prst="ellipse">
            <a:avLst/>
          </a:prstGeom>
          <a:solidFill>
            <a:srgbClr val="C9922E"/>
          </a:solidFill>
          <a:ln/>
        </p:spPr>
        <p:txBody>
          <a:bodyPr/>
          <a:lstStyle/>
          <a:p>
            <a:endParaRPr/>
          </a:p>
        </p:txBody>
      </p:sp>
      <p:sp>
        <p:nvSpPr>
          <p:cNvPr id="17" name="Text 13"/>
          <p:cNvSpPr txBox="1"/>
          <p:nvPr/>
        </p:nvSpPr>
        <p:spPr>
          <a:xfrm>
            <a:off x="1161288" y="4187952"/>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Expiry is required</a:t>
            </a:r>
            <a:r>
              <a:rPr lang="en-US" sz="1180" dirty="0">
                <a:solidFill>
                  <a:srgbClr val="6B6B6B"/>
                </a:solidFill>
                <a:latin typeface="Calibri" pitchFamily="34" charset="0"/>
                <a:ea typeface="Calibri" pitchFamily="34" charset="-122"/>
                <a:cs typeface="Calibri" pitchFamily="34" charset="-120"/>
              </a:rPr>
              <a:t>  a paper with no date is a paper the gate cannot judge</a:t>
            </a:r>
            <a:endParaRPr lang="en-US" sz="1180" dirty="0"/>
          </a:p>
        </p:txBody>
      </p:sp>
      <p:sp>
        <p:nvSpPr>
          <p:cNvPr id="18" name="Shape 14"/>
          <p:cNvSpPr/>
          <p:nvPr/>
        </p:nvSpPr>
        <p:spPr>
          <a:xfrm>
            <a:off x="886968" y="4516221"/>
            <a:ext cx="118872" cy="118872"/>
          </a:xfrm>
          <a:prstGeom prst="ellipse">
            <a:avLst/>
          </a:prstGeom>
          <a:solidFill>
            <a:srgbClr val="C9922E"/>
          </a:solidFill>
          <a:ln/>
        </p:spPr>
        <p:txBody>
          <a:bodyPr/>
          <a:lstStyle/>
          <a:p>
            <a:endParaRPr/>
          </a:p>
        </p:txBody>
      </p:sp>
      <p:sp>
        <p:nvSpPr>
          <p:cNvPr id="19" name="Text 15"/>
          <p:cNvSpPr txBox="1"/>
          <p:nvPr/>
        </p:nvSpPr>
        <p:spPr>
          <a:xfrm>
            <a:off x="1161288" y="448970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Warning days per type</a:t>
            </a:r>
            <a:r>
              <a:rPr lang="en-US" sz="1180" dirty="0">
                <a:solidFill>
                  <a:srgbClr val="6B6B6B"/>
                </a:solidFill>
                <a:latin typeface="Calibri" pitchFamily="34" charset="0"/>
                <a:ea typeface="Calibri" pitchFamily="34" charset="-122"/>
                <a:cs typeface="Calibri" pitchFamily="34" charset="-120"/>
              </a:rPr>
              <a:t>  how early a document starts warning is your setting, per document</a:t>
            </a:r>
            <a:endParaRPr lang="en-US" sz="1180" dirty="0"/>
          </a:p>
        </p:txBody>
      </p:sp>
      <p:sp>
        <p:nvSpPr>
          <p:cNvPr id="20" name="Shape 16"/>
          <p:cNvSpPr/>
          <p:nvPr/>
        </p:nvSpPr>
        <p:spPr>
          <a:xfrm>
            <a:off x="886968" y="5000853"/>
            <a:ext cx="118872" cy="118872"/>
          </a:xfrm>
          <a:prstGeom prst="ellipse">
            <a:avLst/>
          </a:prstGeom>
          <a:solidFill>
            <a:srgbClr val="C9922E"/>
          </a:solidFill>
          <a:ln/>
        </p:spPr>
        <p:txBody>
          <a:bodyPr/>
          <a:lstStyle/>
          <a:p>
            <a:endParaRPr/>
          </a:p>
        </p:txBody>
      </p:sp>
      <p:sp>
        <p:nvSpPr>
          <p:cNvPr id="21" name="Text 17"/>
          <p:cNvSpPr txBox="1"/>
          <p:nvPr/>
        </p:nvSpPr>
        <p:spPr>
          <a:xfrm>
            <a:off x="1161288" y="4974336"/>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Files stored safely</a:t>
            </a:r>
            <a:r>
              <a:rPr lang="en-US" sz="1180" dirty="0">
                <a:solidFill>
                  <a:srgbClr val="6B6B6B"/>
                </a:solidFill>
                <a:latin typeface="Calibri" pitchFamily="34" charset="0"/>
                <a:ea typeface="Calibri" pitchFamily="34" charset="-122"/>
                <a:cs typeface="Calibri" pitchFamily="34" charset="-120"/>
              </a:rPr>
              <a:t>  short-lived links, and every sensitive read is logged</a:t>
            </a:r>
            <a:endParaRPr lang="en-US" sz="1180" dirty="0"/>
          </a:p>
        </p:txBody>
      </p:sp>
      <p:sp>
        <p:nvSpPr>
          <p:cNvPr id="22" name="Shape 18"/>
          <p:cNvSpPr/>
          <p:nvPr/>
        </p:nvSpPr>
        <p:spPr>
          <a:xfrm>
            <a:off x="886968" y="5302605"/>
            <a:ext cx="118872" cy="118872"/>
          </a:xfrm>
          <a:prstGeom prst="ellipse">
            <a:avLst/>
          </a:prstGeom>
          <a:solidFill>
            <a:srgbClr val="C9922E"/>
          </a:solidFill>
          <a:ln/>
        </p:spPr>
        <p:txBody>
          <a:bodyPr/>
          <a:lstStyle/>
          <a:p>
            <a:endParaRPr/>
          </a:p>
        </p:txBody>
      </p:sp>
      <p:sp>
        <p:nvSpPr>
          <p:cNvPr id="23" name="Text 19"/>
          <p:cNvSpPr txBox="1"/>
          <p:nvPr/>
        </p:nvSpPr>
        <p:spPr>
          <a:xfrm>
            <a:off x="1161288" y="52760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Resolved on every read</a:t>
            </a:r>
            <a:r>
              <a:rPr lang="en-US" sz="1180" dirty="0">
                <a:solidFill>
                  <a:srgbClr val="6B6B6B"/>
                </a:solidFill>
                <a:latin typeface="Calibri" pitchFamily="34" charset="0"/>
                <a:ea typeface="Calibri" pitchFamily="34" charset="-122"/>
                <a:cs typeface="Calibri" pitchFamily="34" charset="-120"/>
              </a:rPr>
              <a:t>  change a setting and every record is judged by the new one at once</a:t>
            </a:r>
            <a:endParaRPr lang="en-US" sz="1180" dirty="0"/>
          </a:p>
        </p:txBody>
      </p:sp>
      <p:sp>
        <p:nvSpPr>
          <p:cNvPr id="24" name="Shape 20"/>
          <p:cNvSpPr/>
          <p:nvPr/>
        </p:nvSpPr>
        <p:spPr>
          <a:xfrm>
            <a:off x="6199632"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25" name="Shape 21"/>
          <p:cNvSpPr/>
          <p:nvPr/>
        </p:nvSpPr>
        <p:spPr>
          <a:xfrm>
            <a:off x="6519672" y="2542032"/>
            <a:ext cx="566928" cy="566928"/>
          </a:xfrm>
          <a:prstGeom prst="ellipse">
            <a:avLst/>
          </a:prstGeom>
          <a:solidFill>
            <a:srgbClr val="EFEFEF"/>
          </a:solidFill>
          <a:ln/>
        </p:spPr>
        <p:txBody>
          <a:bodyPr/>
          <a:lstStyle/>
          <a:p>
            <a:endParaRPr/>
          </a:p>
        </p:txBody>
      </p:sp>
      <p:pic>
        <p:nvPicPr>
          <p:cNvPr id="26" name="Image 2" descr="icons/fileSearch-navy.png"/>
          <p:cNvPicPr>
            <a:picLocks noChangeAspect="1"/>
          </p:cNvPicPr>
          <p:nvPr/>
        </p:nvPicPr>
        <p:blipFill>
          <a:blip r:embed="rId5"/>
          <a:stretch>
            <a:fillRect/>
          </a:stretch>
        </p:blipFill>
        <p:spPr>
          <a:xfrm>
            <a:off x="6684081" y="2706441"/>
            <a:ext cx="238110" cy="238110"/>
          </a:xfrm>
          <a:prstGeom prst="rect">
            <a:avLst/>
          </a:prstGeom>
        </p:spPr>
      </p:pic>
      <p:sp>
        <p:nvSpPr>
          <p:cNvPr id="27" name="Text 22"/>
          <p:cNvSpPr txBox="1"/>
          <p:nvPr/>
        </p:nvSpPr>
        <p:spPr>
          <a:xfrm>
            <a:off x="7251192"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What the plant is out of date on</a:t>
            </a:r>
            <a:endParaRPr lang="en-US" sz="1700" dirty="0"/>
          </a:p>
        </p:txBody>
      </p:sp>
      <p:sp>
        <p:nvSpPr>
          <p:cNvPr id="28" name="Shape 23"/>
          <p:cNvSpPr/>
          <p:nvPr/>
        </p:nvSpPr>
        <p:spPr>
          <a:xfrm>
            <a:off x="6583680" y="3245205"/>
            <a:ext cx="118872" cy="118872"/>
          </a:xfrm>
          <a:prstGeom prst="ellipse">
            <a:avLst/>
          </a:prstGeom>
          <a:solidFill>
            <a:srgbClr val="C9922E"/>
          </a:solidFill>
          <a:ln/>
        </p:spPr>
        <p:txBody>
          <a:bodyPr/>
          <a:lstStyle/>
          <a:p>
            <a:endParaRPr/>
          </a:p>
        </p:txBody>
      </p:sp>
      <p:sp>
        <p:nvSpPr>
          <p:cNvPr id="29" name="Text 24"/>
          <p:cNvSpPr txBox="1"/>
          <p:nvPr/>
        </p:nvSpPr>
        <p:spPr>
          <a:xfrm>
            <a:off x="6858000" y="321868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One screen</a:t>
            </a:r>
            <a:r>
              <a:rPr lang="en-US" sz="1180" dirty="0">
                <a:solidFill>
                  <a:srgbClr val="6B6B6B"/>
                </a:solidFill>
                <a:latin typeface="Calibri" pitchFamily="34" charset="0"/>
                <a:ea typeface="Calibri" pitchFamily="34" charset="-122"/>
                <a:cs typeface="Calibri" pitchFamily="34" charset="-120"/>
              </a:rPr>
              <a:t>  every expiring and lapsed document across firms and workers</a:t>
            </a:r>
            <a:endParaRPr lang="en-US" sz="1180" dirty="0"/>
          </a:p>
        </p:txBody>
      </p:sp>
      <p:sp>
        <p:nvSpPr>
          <p:cNvPr id="30" name="Shape 25"/>
          <p:cNvSpPr/>
          <p:nvPr/>
        </p:nvSpPr>
        <p:spPr>
          <a:xfrm>
            <a:off x="6583680" y="3546957"/>
            <a:ext cx="118872" cy="118872"/>
          </a:xfrm>
          <a:prstGeom prst="ellipse">
            <a:avLst/>
          </a:prstGeom>
          <a:solidFill>
            <a:srgbClr val="C9922E"/>
          </a:solidFill>
          <a:ln/>
        </p:spPr>
        <p:txBody>
          <a:bodyPr/>
          <a:lstStyle/>
          <a:p>
            <a:endParaRPr/>
          </a:p>
        </p:txBody>
      </p:sp>
      <p:sp>
        <p:nvSpPr>
          <p:cNvPr id="31" name="Text 26"/>
          <p:cNvSpPr txBox="1"/>
          <p:nvPr/>
        </p:nvSpPr>
        <p:spPr>
          <a:xfrm>
            <a:off x="6858000" y="352044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Counts on the dashboard</a:t>
            </a:r>
            <a:r>
              <a:rPr lang="en-US" sz="1180" dirty="0">
                <a:solidFill>
                  <a:srgbClr val="6B6B6B"/>
                </a:solidFill>
                <a:latin typeface="Calibri" pitchFamily="34" charset="0"/>
                <a:ea typeface="Calibri" pitchFamily="34" charset="-122"/>
                <a:cs typeface="Calibri" pitchFamily="34" charset="-120"/>
              </a:rPr>
              <a:t>  lapsed, due soon and missing, at a glance</a:t>
            </a:r>
            <a:endParaRPr lang="en-US" sz="1180" dirty="0"/>
          </a:p>
        </p:txBody>
      </p:sp>
      <p:sp>
        <p:nvSpPr>
          <p:cNvPr id="32" name="Shape 27"/>
          <p:cNvSpPr/>
          <p:nvPr/>
        </p:nvSpPr>
        <p:spPr>
          <a:xfrm>
            <a:off x="6583680" y="3848709"/>
            <a:ext cx="118872" cy="118872"/>
          </a:xfrm>
          <a:prstGeom prst="ellipse">
            <a:avLst/>
          </a:prstGeom>
          <a:solidFill>
            <a:srgbClr val="C9922E"/>
          </a:solidFill>
          <a:ln/>
        </p:spPr>
        <p:txBody>
          <a:bodyPr/>
          <a:lstStyle/>
          <a:p>
            <a:endParaRPr/>
          </a:p>
        </p:txBody>
      </p:sp>
      <p:sp>
        <p:nvSpPr>
          <p:cNvPr id="33" name="Text 28"/>
          <p:cNvSpPr txBox="1"/>
          <p:nvPr/>
        </p:nvSpPr>
        <p:spPr>
          <a:xfrm>
            <a:off x="6858000" y="3822191"/>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A daily digest</a:t>
            </a:r>
            <a:r>
              <a:rPr lang="en-US" sz="1180" dirty="0">
                <a:solidFill>
                  <a:srgbClr val="6B6B6B"/>
                </a:solidFill>
                <a:latin typeface="Calibri" pitchFamily="34" charset="0"/>
                <a:ea typeface="Calibri" pitchFamily="34" charset="-122"/>
                <a:cs typeface="Calibri" pitchFamily="34" charset="-120"/>
              </a:rPr>
              <a:t>  one notice saying “3 lapsed, 12 due”, not fifteen separate notices</a:t>
            </a:r>
            <a:endParaRPr lang="en-US" sz="1180" dirty="0"/>
          </a:p>
        </p:txBody>
      </p:sp>
      <p:sp>
        <p:nvSpPr>
          <p:cNvPr id="34" name="Shape 29"/>
          <p:cNvSpPr/>
          <p:nvPr/>
        </p:nvSpPr>
        <p:spPr>
          <a:xfrm>
            <a:off x="6583680" y="4333341"/>
            <a:ext cx="118872" cy="118872"/>
          </a:xfrm>
          <a:prstGeom prst="ellipse">
            <a:avLst/>
          </a:prstGeom>
          <a:solidFill>
            <a:srgbClr val="C9922E"/>
          </a:solidFill>
          <a:ln/>
        </p:spPr>
        <p:txBody>
          <a:bodyPr/>
          <a:lstStyle/>
          <a:p>
            <a:endParaRPr/>
          </a:p>
        </p:txBody>
      </p:sp>
      <p:sp>
        <p:nvSpPr>
          <p:cNvPr id="35" name="Text 30"/>
          <p:cNvSpPr txBox="1"/>
          <p:nvPr/>
        </p:nvSpPr>
        <p:spPr>
          <a:xfrm>
            <a:off x="6858000" y="430682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Nothing silently permissive</a:t>
            </a:r>
            <a:r>
              <a:rPr lang="en-US" sz="1180" dirty="0">
                <a:solidFill>
                  <a:srgbClr val="6B6B6B"/>
                </a:solidFill>
                <a:latin typeface="Calibri" pitchFamily="34" charset="0"/>
                <a:ea typeface="Calibri" pitchFamily="34" charset="-122"/>
                <a:cs typeface="Calibri" pitchFamily="34" charset="-120"/>
              </a:rPr>
              <a:t>  a missing paper is a named refusal, never a shrug</a:t>
            </a:r>
            <a:endParaRPr lang="en-US" sz="1180" dirty="0"/>
          </a:p>
        </p:txBody>
      </p:sp>
      <p:sp>
        <p:nvSpPr>
          <p:cNvPr id="36" name="Shape 31"/>
          <p:cNvSpPr/>
          <p:nvPr/>
        </p:nvSpPr>
        <p:spPr>
          <a:xfrm>
            <a:off x="6583680" y="4817973"/>
            <a:ext cx="118872" cy="118872"/>
          </a:xfrm>
          <a:prstGeom prst="ellipse">
            <a:avLst/>
          </a:prstGeom>
          <a:solidFill>
            <a:srgbClr val="C9922E"/>
          </a:solidFill>
          <a:ln/>
        </p:spPr>
        <p:txBody>
          <a:bodyPr/>
          <a:lstStyle/>
          <a:p>
            <a:endParaRPr/>
          </a:p>
        </p:txBody>
      </p:sp>
      <p:sp>
        <p:nvSpPr>
          <p:cNvPr id="37" name="Text 32"/>
          <p:cNvSpPr txBox="1"/>
          <p:nvPr/>
        </p:nvSpPr>
        <p:spPr>
          <a:xfrm>
            <a:off x="6858000" y="479145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Warns before it stops</a:t>
            </a:r>
            <a:r>
              <a:rPr lang="en-US" sz="1180" dirty="0">
                <a:solidFill>
                  <a:srgbClr val="6B6B6B"/>
                </a:solidFill>
                <a:latin typeface="Calibri" pitchFamily="34" charset="0"/>
                <a:ea typeface="Calibri" pitchFamily="34" charset="-122"/>
                <a:cs typeface="Calibri" pitchFamily="34" charset="-120"/>
              </a:rPr>
              <a:t>  the expiring document is amber for days before it turns red</a:t>
            </a:r>
            <a:endParaRPr lang="en-US" sz="1180" dirty="0"/>
          </a:p>
        </p:txBody>
      </p:sp>
      <p:sp>
        <p:nvSpPr>
          <p:cNvPr id="38" name="Shape 33"/>
          <p:cNvSpPr/>
          <p:nvPr/>
        </p:nvSpPr>
        <p:spPr>
          <a:xfrm>
            <a:off x="6583680" y="5302605"/>
            <a:ext cx="118872" cy="118872"/>
          </a:xfrm>
          <a:prstGeom prst="ellipse">
            <a:avLst/>
          </a:prstGeom>
          <a:solidFill>
            <a:srgbClr val="C9922E"/>
          </a:solidFill>
          <a:ln/>
        </p:spPr>
        <p:txBody>
          <a:bodyPr/>
          <a:lstStyle/>
          <a:p>
            <a:endParaRPr/>
          </a:p>
        </p:txBody>
      </p:sp>
      <p:sp>
        <p:nvSpPr>
          <p:cNvPr id="39" name="Text 34"/>
          <p:cNvSpPr txBox="1"/>
          <p:nvPr/>
        </p:nvSpPr>
        <p:spPr>
          <a:xfrm>
            <a:off x="6858000" y="52760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Firms and workers together</a:t>
            </a:r>
            <a:r>
              <a:rPr lang="en-US" sz="1180" dirty="0">
                <a:solidFill>
                  <a:srgbClr val="6B6B6B"/>
                </a:solidFill>
                <a:latin typeface="Calibri" pitchFamily="34" charset="0"/>
                <a:ea typeface="Calibri" pitchFamily="34" charset="-122"/>
                <a:cs typeface="Calibri" pitchFamily="34" charset="-120"/>
              </a:rPr>
              <a:t>  a lapsed licence and a lapsed medical surface side by side</a:t>
            </a:r>
            <a:endParaRPr lang="en-US" sz="11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ONE PLATFORM</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One customer, one sign-in, one Access</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A plant that owns both products should not maintain its sites, its departments, its people and its roles twice. SafetySetu keeps one of each underneath, without letting either product read the other’s data.</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16</a:t>
            </a:r>
            <a:endParaRPr lang="en-US" sz="900" dirty="0"/>
          </a:p>
        </p:txBody>
      </p:sp>
      <p:sp>
        <p:nvSpPr>
          <p:cNvPr id="8" name="Shape 5"/>
          <p:cNvSpPr/>
          <p:nvPr/>
        </p:nvSpPr>
        <p:spPr>
          <a:xfrm>
            <a:off x="502920"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603504" cy="603504"/>
          </a:xfrm>
          <a:prstGeom prst="ellipse">
            <a:avLst/>
          </a:prstGeom>
          <a:solidFill>
            <a:srgbClr val="EFEFEF"/>
          </a:solidFill>
          <a:ln/>
        </p:spPr>
        <p:txBody>
          <a:bodyPr/>
          <a:lstStyle/>
          <a:p>
            <a:endParaRPr/>
          </a:p>
        </p:txBody>
      </p:sp>
      <p:pic>
        <p:nvPicPr>
          <p:cNvPr id="10" name="Image 1" descr="icons/building-navy.png"/>
          <p:cNvPicPr>
            <a:picLocks noChangeAspect="1"/>
          </p:cNvPicPr>
          <p:nvPr/>
        </p:nvPicPr>
        <p:blipFill>
          <a:blip r:embed="rId4"/>
          <a:stretch>
            <a:fillRect/>
          </a:stretch>
        </p:blipFill>
        <p:spPr>
          <a:xfrm>
            <a:off x="997976" y="2717048"/>
            <a:ext cx="253472" cy="253472"/>
          </a:xfrm>
          <a:prstGeom prst="rect">
            <a:avLst/>
          </a:prstGeom>
        </p:spPr>
      </p:pic>
      <p:sp>
        <p:nvSpPr>
          <p:cNvPr id="11" name="Text 7"/>
          <p:cNvSpPr txBox="1"/>
          <p:nvPr/>
        </p:nvSpPr>
        <p:spPr>
          <a:xfrm>
            <a:off x="795528"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One customer</a:t>
            </a:r>
            <a:endParaRPr lang="en-US" sz="1600" dirty="0"/>
          </a:p>
        </p:txBody>
      </p:sp>
      <p:sp>
        <p:nvSpPr>
          <p:cNvPr id="12" name="Shape 8"/>
          <p:cNvSpPr/>
          <p:nvPr/>
        </p:nvSpPr>
        <p:spPr>
          <a:xfrm>
            <a:off x="832104" y="3594506"/>
            <a:ext cx="100584" cy="100584"/>
          </a:xfrm>
          <a:prstGeom prst="ellipse">
            <a:avLst/>
          </a:prstGeom>
          <a:solidFill>
            <a:srgbClr val="C9922E"/>
          </a:solidFill>
          <a:ln/>
        </p:spPr>
        <p:txBody>
          <a:bodyPr/>
          <a:lstStyle/>
          <a:p>
            <a:endParaRPr/>
          </a:p>
        </p:txBody>
      </p:sp>
      <p:sp>
        <p:nvSpPr>
          <p:cNvPr id="13" name="Text 9"/>
          <p:cNvSpPr txBox="1"/>
          <p:nvPr/>
        </p:nvSpPr>
        <p:spPr>
          <a:xfrm>
            <a:off x="1069848"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One tenant</a:t>
            </a:r>
            <a:r>
              <a:rPr lang="en-US" sz="1080" dirty="0">
                <a:solidFill>
                  <a:srgbClr val="6B6B6B"/>
                </a:solidFill>
                <a:latin typeface="Calibri" pitchFamily="34" charset="0"/>
                <a:ea typeface="Calibri" pitchFamily="34" charset="-122"/>
                <a:cs typeface="Calibri" pitchFamily="34" charset="-120"/>
              </a:rPr>
              <a:t>  the same customer record spans both products</a:t>
            </a:r>
            <a:endParaRPr lang="en-US" sz="1080" dirty="0"/>
          </a:p>
        </p:txBody>
      </p:sp>
      <p:sp>
        <p:nvSpPr>
          <p:cNvPr id="14" name="Shape 10"/>
          <p:cNvSpPr/>
          <p:nvPr/>
        </p:nvSpPr>
        <p:spPr>
          <a:xfrm>
            <a:off x="832104" y="4048048"/>
            <a:ext cx="100584" cy="100584"/>
          </a:xfrm>
          <a:prstGeom prst="ellipse">
            <a:avLst/>
          </a:prstGeom>
          <a:solidFill>
            <a:srgbClr val="C9922E"/>
          </a:solidFill>
          <a:ln/>
        </p:spPr>
        <p:txBody>
          <a:bodyPr/>
          <a:lstStyle/>
          <a:p>
            <a:endParaRPr/>
          </a:p>
        </p:txBody>
      </p:sp>
      <p:sp>
        <p:nvSpPr>
          <p:cNvPr id="15" name="Text 11"/>
          <p:cNvSpPr txBox="1"/>
          <p:nvPr/>
        </p:nvSpPr>
        <p:spPr>
          <a:xfrm>
            <a:off x="1069848"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One org tree</a:t>
            </a:r>
            <a:r>
              <a:rPr lang="en-US" sz="1080" dirty="0">
                <a:solidFill>
                  <a:srgbClr val="6B6B6B"/>
                </a:solidFill>
                <a:latin typeface="Calibri" pitchFamily="34" charset="0"/>
                <a:ea typeface="Calibri" pitchFamily="34" charset="-122"/>
                <a:cs typeface="Calibri" pitchFamily="34" charset="-120"/>
              </a:rPr>
              <a:t>  Site → Department → Section, shared by both</a:t>
            </a:r>
            <a:endParaRPr lang="en-US" sz="1080" dirty="0"/>
          </a:p>
        </p:txBody>
      </p:sp>
      <p:sp>
        <p:nvSpPr>
          <p:cNvPr id="16" name="Shape 12"/>
          <p:cNvSpPr/>
          <p:nvPr/>
        </p:nvSpPr>
        <p:spPr>
          <a:xfrm>
            <a:off x="832104" y="4501591"/>
            <a:ext cx="100584" cy="100584"/>
          </a:xfrm>
          <a:prstGeom prst="ellipse">
            <a:avLst/>
          </a:prstGeom>
          <a:solidFill>
            <a:srgbClr val="C9922E"/>
          </a:solidFill>
          <a:ln/>
        </p:spPr>
        <p:txBody>
          <a:bodyPr/>
          <a:lstStyle/>
          <a:p>
            <a:endParaRPr/>
          </a:p>
        </p:txBody>
      </p:sp>
      <p:sp>
        <p:nvSpPr>
          <p:cNvPr id="17" name="Text 13"/>
          <p:cNvSpPr txBox="1"/>
          <p:nvPr/>
        </p:nvSpPr>
        <p:spPr>
          <a:xfrm>
            <a:off x="1069848"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Areas are sections</a:t>
            </a:r>
            <a:r>
              <a:rPr lang="en-US" sz="1080" dirty="0">
                <a:solidFill>
                  <a:srgbClr val="6B6B6B"/>
                </a:solidFill>
                <a:latin typeface="Calibri" pitchFamily="34" charset="0"/>
                <a:ea typeface="Calibri" pitchFamily="34" charset="-122"/>
                <a:cs typeface="Calibri" pitchFamily="34" charset="-120"/>
              </a:rPr>
              <a:t>  a gate area is a section of the same tree, not a second list</a:t>
            </a:r>
            <a:endParaRPr lang="en-US" sz="1080" dirty="0"/>
          </a:p>
        </p:txBody>
      </p:sp>
      <p:sp>
        <p:nvSpPr>
          <p:cNvPr id="18" name="Shape 14"/>
          <p:cNvSpPr/>
          <p:nvPr/>
        </p:nvSpPr>
        <p:spPr>
          <a:xfrm>
            <a:off x="832104" y="4955133"/>
            <a:ext cx="100584" cy="100584"/>
          </a:xfrm>
          <a:prstGeom prst="ellipse">
            <a:avLst/>
          </a:prstGeom>
          <a:solidFill>
            <a:srgbClr val="C9922E"/>
          </a:solidFill>
          <a:ln/>
        </p:spPr>
        <p:txBody>
          <a:bodyPr/>
          <a:lstStyle/>
          <a:p>
            <a:endParaRPr/>
          </a:p>
        </p:txBody>
      </p:sp>
      <p:sp>
        <p:nvSpPr>
          <p:cNvPr id="19" name="Text 15"/>
          <p:cNvSpPr txBox="1"/>
          <p:nvPr/>
        </p:nvSpPr>
        <p:spPr>
          <a:xfrm>
            <a:off x="1069848"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Several plants</a:t>
            </a:r>
            <a:r>
              <a:rPr lang="en-US" sz="1080" dirty="0">
                <a:solidFill>
                  <a:srgbClr val="6B6B6B"/>
                </a:solidFill>
                <a:latin typeface="Calibri" pitchFamily="34" charset="0"/>
                <a:ea typeface="Calibri" pitchFamily="34" charset="-122"/>
                <a:cs typeface="Calibri" pitchFamily="34" charset="-120"/>
              </a:rPr>
              <a:t>  and every record filtered by the plant it belongs to</a:t>
            </a:r>
            <a:endParaRPr lang="en-US" sz="1080" dirty="0"/>
          </a:p>
        </p:txBody>
      </p:sp>
      <p:sp>
        <p:nvSpPr>
          <p:cNvPr id="22" name="Shape 18"/>
          <p:cNvSpPr/>
          <p:nvPr/>
        </p:nvSpPr>
        <p:spPr>
          <a:xfrm>
            <a:off x="4462272"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23" name="Shape 19"/>
          <p:cNvSpPr/>
          <p:nvPr/>
        </p:nvSpPr>
        <p:spPr>
          <a:xfrm>
            <a:off x="4782312" y="2542032"/>
            <a:ext cx="603504" cy="603504"/>
          </a:xfrm>
          <a:prstGeom prst="ellipse">
            <a:avLst/>
          </a:prstGeom>
          <a:solidFill>
            <a:srgbClr val="EFEFEF"/>
          </a:solidFill>
          <a:ln/>
        </p:spPr>
        <p:txBody>
          <a:bodyPr/>
          <a:lstStyle/>
          <a:p>
            <a:endParaRPr/>
          </a:p>
        </p:txBody>
      </p:sp>
      <p:pic>
        <p:nvPicPr>
          <p:cNvPr id="24" name="Image 2" descr="icons/key-navy.png"/>
          <p:cNvPicPr>
            <a:picLocks noChangeAspect="1"/>
          </p:cNvPicPr>
          <p:nvPr/>
        </p:nvPicPr>
        <p:blipFill>
          <a:blip r:embed="rId5"/>
          <a:stretch>
            <a:fillRect/>
          </a:stretch>
        </p:blipFill>
        <p:spPr>
          <a:xfrm>
            <a:off x="4957328" y="2717048"/>
            <a:ext cx="253472" cy="253472"/>
          </a:xfrm>
          <a:prstGeom prst="rect">
            <a:avLst/>
          </a:prstGeom>
        </p:spPr>
      </p:pic>
      <p:sp>
        <p:nvSpPr>
          <p:cNvPr id="25" name="Text 20"/>
          <p:cNvSpPr txBox="1"/>
          <p:nvPr/>
        </p:nvSpPr>
        <p:spPr>
          <a:xfrm>
            <a:off x="4754880"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One sign-in</a:t>
            </a:r>
            <a:endParaRPr lang="en-US" sz="1600" dirty="0"/>
          </a:p>
        </p:txBody>
      </p:sp>
      <p:sp>
        <p:nvSpPr>
          <p:cNvPr id="26" name="Shape 21"/>
          <p:cNvSpPr/>
          <p:nvPr/>
        </p:nvSpPr>
        <p:spPr>
          <a:xfrm>
            <a:off x="4791456" y="3594506"/>
            <a:ext cx="100584" cy="100584"/>
          </a:xfrm>
          <a:prstGeom prst="ellipse">
            <a:avLst/>
          </a:prstGeom>
          <a:solidFill>
            <a:srgbClr val="C9922E"/>
          </a:solidFill>
          <a:ln/>
        </p:spPr>
        <p:txBody>
          <a:bodyPr/>
          <a:lstStyle/>
          <a:p>
            <a:endParaRPr/>
          </a:p>
        </p:txBody>
      </p:sp>
      <p:sp>
        <p:nvSpPr>
          <p:cNvPr id="27" name="Text 22"/>
          <p:cNvSpPr txBox="1"/>
          <p:nvPr/>
        </p:nvSpPr>
        <p:spPr>
          <a:xfrm>
            <a:off x="5029200"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 single account</a:t>
            </a:r>
            <a:r>
              <a:rPr lang="en-US" sz="1080" dirty="0">
                <a:solidFill>
                  <a:srgbClr val="6B6B6B"/>
                </a:solidFill>
                <a:latin typeface="Calibri" pitchFamily="34" charset="0"/>
                <a:ea typeface="Calibri" pitchFamily="34" charset="-122"/>
                <a:cs typeface="Calibri" pitchFamily="34" charset="-120"/>
              </a:rPr>
              <a:t>  one email and one password across the platform</a:t>
            </a:r>
            <a:endParaRPr lang="en-US" sz="1080" dirty="0"/>
          </a:p>
        </p:txBody>
      </p:sp>
      <p:sp>
        <p:nvSpPr>
          <p:cNvPr id="28" name="Shape 23"/>
          <p:cNvSpPr/>
          <p:nvPr/>
        </p:nvSpPr>
        <p:spPr>
          <a:xfrm>
            <a:off x="4791456" y="4048048"/>
            <a:ext cx="100584" cy="100584"/>
          </a:xfrm>
          <a:prstGeom prst="ellipse">
            <a:avLst/>
          </a:prstGeom>
          <a:solidFill>
            <a:srgbClr val="C9922E"/>
          </a:solidFill>
          <a:ln/>
        </p:spPr>
        <p:txBody>
          <a:bodyPr/>
          <a:lstStyle/>
          <a:p>
            <a:endParaRPr/>
          </a:p>
        </p:txBody>
      </p:sp>
      <p:sp>
        <p:nvSpPr>
          <p:cNvPr id="29" name="Text 24"/>
          <p:cNvSpPr txBox="1"/>
          <p:nvPr/>
        </p:nvSpPr>
        <p:spPr>
          <a:xfrm>
            <a:off x="5029200"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 role decides access</a:t>
            </a:r>
            <a:r>
              <a:rPr lang="en-US" sz="1080" dirty="0">
                <a:solidFill>
                  <a:srgbClr val="6B6B6B"/>
                </a:solidFill>
                <a:latin typeface="Calibri" pitchFamily="34" charset="0"/>
                <a:ea typeface="Calibri" pitchFamily="34" charset="-122"/>
                <a:cs typeface="Calibri" pitchFamily="34" charset="-120"/>
              </a:rPr>
              <a:t>  the role a person holds opens every product it is used in</a:t>
            </a:r>
            <a:endParaRPr lang="en-US" sz="1080" dirty="0"/>
          </a:p>
        </p:txBody>
      </p:sp>
      <p:sp>
        <p:nvSpPr>
          <p:cNvPr id="30" name="Shape 25"/>
          <p:cNvSpPr/>
          <p:nvPr/>
        </p:nvSpPr>
        <p:spPr>
          <a:xfrm>
            <a:off x="4791456" y="4501591"/>
            <a:ext cx="100584" cy="100584"/>
          </a:xfrm>
          <a:prstGeom prst="ellipse">
            <a:avLst/>
          </a:prstGeom>
          <a:solidFill>
            <a:srgbClr val="C9922E"/>
          </a:solidFill>
          <a:ln/>
        </p:spPr>
        <p:txBody>
          <a:bodyPr/>
          <a:lstStyle/>
          <a:p>
            <a:endParaRPr/>
          </a:p>
        </p:txBody>
      </p:sp>
      <p:sp>
        <p:nvSpPr>
          <p:cNvPr id="31" name="Text 26"/>
          <p:cNvSpPr txBox="1"/>
          <p:nvPr/>
        </p:nvSpPr>
        <p:spPr>
          <a:xfrm>
            <a:off x="5029200"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Switch without signing in again</a:t>
            </a:r>
            <a:r>
              <a:rPr lang="en-US" sz="1080" dirty="0">
                <a:solidFill>
                  <a:srgbClr val="6B6B6B"/>
                </a:solidFill>
                <a:latin typeface="Calibri" pitchFamily="34" charset="0"/>
                <a:ea typeface="Calibri" pitchFamily="34" charset="-122"/>
                <a:cs typeface="Calibri" pitchFamily="34" charset="-120"/>
              </a:rPr>
              <a:t>  move between products in a click</a:t>
            </a:r>
            <a:endParaRPr lang="en-US" sz="1080" dirty="0"/>
          </a:p>
        </p:txBody>
      </p:sp>
      <p:sp>
        <p:nvSpPr>
          <p:cNvPr id="32" name="Shape 27"/>
          <p:cNvSpPr/>
          <p:nvPr/>
        </p:nvSpPr>
        <p:spPr>
          <a:xfrm>
            <a:off x="4791456" y="4955133"/>
            <a:ext cx="100584" cy="100584"/>
          </a:xfrm>
          <a:prstGeom prst="ellipse">
            <a:avLst/>
          </a:prstGeom>
          <a:solidFill>
            <a:srgbClr val="C9922E"/>
          </a:solidFill>
          <a:ln/>
        </p:spPr>
        <p:txBody>
          <a:bodyPr/>
          <a:lstStyle/>
          <a:p>
            <a:endParaRPr/>
          </a:p>
        </p:txBody>
      </p:sp>
      <p:sp>
        <p:nvSpPr>
          <p:cNvPr id="33" name="Text 28"/>
          <p:cNvSpPr txBox="1"/>
          <p:nvPr/>
        </p:nvSpPr>
        <p:spPr>
          <a:xfrm>
            <a:off x="5029200"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Revoked centrally</a:t>
            </a:r>
            <a:r>
              <a:rPr lang="en-US" sz="1080" dirty="0">
                <a:solidFill>
                  <a:srgbClr val="6B6B6B"/>
                </a:solidFill>
                <a:latin typeface="Calibri" pitchFamily="34" charset="0"/>
                <a:ea typeface="Calibri" pitchFamily="34" charset="-122"/>
                <a:cs typeface="Calibri" pitchFamily="34" charset="-120"/>
              </a:rPr>
              <a:t>  one action ends the session everywhere</a:t>
            </a:r>
            <a:endParaRPr lang="en-US" sz="1080" dirty="0"/>
          </a:p>
        </p:txBody>
      </p:sp>
      <p:sp>
        <p:nvSpPr>
          <p:cNvPr id="34" name="Shape 29"/>
          <p:cNvSpPr/>
          <p:nvPr/>
        </p:nvSpPr>
        <p:spPr>
          <a:xfrm>
            <a:off x="4791456" y="5409590"/>
            <a:ext cx="100584" cy="100584"/>
          </a:xfrm>
          <a:prstGeom prst="ellipse">
            <a:avLst/>
          </a:prstGeom>
          <a:solidFill>
            <a:srgbClr val="C9922E"/>
          </a:solidFill>
          <a:ln/>
        </p:spPr>
        <p:txBody>
          <a:bodyPr/>
          <a:lstStyle/>
          <a:p>
            <a:endParaRPr/>
          </a:p>
        </p:txBody>
      </p:sp>
      <p:sp>
        <p:nvSpPr>
          <p:cNvPr id="35" name="Text 30"/>
          <p:cNvSpPr txBox="1"/>
          <p:nvPr/>
        </p:nvSpPr>
        <p:spPr>
          <a:xfrm>
            <a:off x="5029200"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Separate keys underneath</a:t>
            </a:r>
            <a:r>
              <a:rPr lang="en-US" sz="1080" dirty="0">
                <a:solidFill>
                  <a:srgbClr val="6B6B6B"/>
                </a:solidFill>
                <a:latin typeface="Calibri" pitchFamily="34" charset="0"/>
                <a:ea typeface="Calibri" pitchFamily="34" charset="-122"/>
                <a:cs typeface="Calibri" pitchFamily="34" charset="-120"/>
              </a:rPr>
              <a:t>  each product still signs its own tokens</a:t>
            </a:r>
            <a:endParaRPr lang="en-US" sz="1080" dirty="0"/>
          </a:p>
        </p:txBody>
      </p:sp>
      <p:sp>
        <p:nvSpPr>
          <p:cNvPr id="36" name="Shape 31"/>
          <p:cNvSpPr/>
          <p:nvPr/>
        </p:nvSpPr>
        <p:spPr>
          <a:xfrm>
            <a:off x="8421624"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37" name="Shape 32"/>
          <p:cNvSpPr/>
          <p:nvPr/>
        </p:nvSpPr>
        <p:spPr>
          <a:xfrm>
            <a:off x="8741664" y="2542032"/>
            <a:ext cx="603504" cy="603504"/>
          </a:xfrm>
          <a:prstGeom prst="ellipse">
            <a:avLst/>
          </a:prstGeom>
          <a:solidFill>
            <a:srgbClr val="EFEFEF"/>
          </a:solidFill>
          <a:ln/>
        </p:spPr>
        <p:txBody>
          <a:bodyPr/>
          <a:lstStyle/>
          <a:p>
            <a:endParaRPr/>
          </a:p>
        </p:txBody>
      </p:sp>
      <p:pic>
        <p:nvPicPr>
          <p:cNvPr id="38" name="Image 3" descr="orig/ppt/media/image27.png"/>
          <p:cNvPicPr>
            <a:picLocks noChangeAspect="1"/>
          </p:cNvPicPr>
          <p:nvPr/>
        </p:nvPicPr>
        <p:blipFill>
          <a:blip r:embed="rId6"/>
          <a:stretch>
            <a:fillRect/>
          </a:stretch>
        </p:blipFill>
        <p:spPr>
          <a:xfrm>
            <a:off x="8916680" y="2717048"/>
            <a:ext cx="253472" cy="253472"/>
          </a:xfrm>
          <a:prstGeom prst="rect">
            <a:avLst/>
          </a:prstGeom>
        </p:spPr>
      </p:pic>
      <p:sp>
        <p:nvSpPr>
          <p:cNvPr id="39" name="Text 33"/>
          <p:cNvSpPr txBox="1"/>
          <p:nvPr/>
        </p:nvSpPr>
        <p:spPr>
          <a:xfrm>
            <a:off x="8714232"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One Access</a:t>
            </a:r>
            <a:endParaRPr lang="en-US" sz="1600" dirty="0"/>
          </a:p>
        </p:txBody>
      </p:sp>
      <p:sp>
        <p:nvSpPr>
          <p:cNvPr id="40" name="Shape 34"/>
          <p:cNvSpPr/>
          <p:nvPr/>
        </p:nvSpPr>
        <p:spPr>
          <a:xfrm>
            <a:off x="8750808" y="3594506"/>
            <a:ext cx="100584" cy="100584"/>
          </a:xfrm>
          <a:prstGeom prst="ellipse">
            <a:avLst/>
          </a:prstGeom>
          <a:solidFill>
            <a:srgbClr val="C9922E"/>
          </a:solidFill>
          <a:ln/>
        </p:spPr>
        <p:txBody>
          <a:bodyPr/>
          <a:lstStyle/>
          <a:p>
            <a:endParaRPr/>
          </a:p>
        </p:txBody>
      </p:sp>
      <p:sp>
        <p:nvSpPr>
          <p:cNvPr id="41" name="Text 35"/>
          <p:cNvSpPr txBox="1"/>
          <p:nvPr/>
        </p:nvSpPr>
        <p:spPr>
          <a:xfrm>
            <a:off x="8988552"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Set up once</a:t>
            </a:r>
            <a:r>
              <a:rPr lang="en-US" sz="1080" dirty="0">
                <a:solidFill>
                  <a:srgbClr val="6B6B6B"/>
                </a:solidFill>
                <a:latin typeface="Calibri" pitchFamily="34" charset="0"/>
                <a:ea typeface="Calibri" pitchFamily="34" charset="-122"/>
                <a:cs typeface="Calibri" pitchFamily="34" charset="-120"/>
              </a:rPr>
              <a:t>  your sites, departments and sections are entered once, and both products use them</a:t>
            </a:r>
            <a:endParaRPr lang="en-US" sz="1080" dirty="0"/>
          </a:p>
        </p:txBody>
      </p:sp>
      <p:sp>
        <p:nvSpPr>
          <p:cNvPr id="42" name="Shape 36"/>
          <p:cNvSpPr/>
          <p:nvPr/>
        </p:nvSpPr>
        <p:spPr>
          <a:xfrm>
            <a:off x="8750808" y="4048048"/>
            <a:ext cx="100584" cy="100584"/>
          </a:xfrm>
          <a:prstGeom prst="ellipse">
            <a:avLst/>
          </a:prstGeom>
          <a:solidFill>
            <a:srgbClr val="C9922E"/>
          </a:solidFill>
          <a:ln/>
        </p:spPr>
        <p:txBody>
          <a:bodyPr/>
          <a:lstStyle/>
          <a:p>
            <a:endParaRPr/>
          </a:p>
        </p:txBody>
      </p:sp>
      <p:sp>
        <p:nvSpPr>
          <p:cNvPr id="43" name="Text 37"/>
          <p:cNvSpPr txBox="1"/>
          <p:nvPr/>
        </p:nvSpPr>
        <p:spPr>
          <a:xfrm>
            <a:off x="8988552"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One list of people</a:t>
            </a:r>
            <a:r>
              <a:rPr lang="en-US" sz="1080" dirty="0">
                <a:solidFill>
                  <a:srgbClr val="6B6B6B"/>
                </a:solidFill>
                <a:latin typeface="Calibri" pitchFamily="34" charset="0"/>
                <a:ea typeface="Calibri" pitchFamily="34" charset="-122"/>
                <a:cs typeface="Calibri" pitchFamily="34" charset="-120"/>
              </a:rPr>
              <a:t>  add someone once, then give them what they need in each product</a:t>
            </a:r>
            <a:endParaRPr lang="en-US" sz="1080" dirty="0"/>
          </a:p>
        </p:txBody>
      </p:sp>
      <p:sp>
        <p:nvSpPr>
          <p:cNvPr id="44" name="Shape 38"/>
          <p:cNvSpPr/>
          <p:nvPr/>
        </p:nvSpPr>
        <p:spPr>
          <a:xfrm>
            <a:off x="8750808" y="4501591"/>
            <a:ext cx="100584" cy="100584"/>
          </a:xfrm>
          <a:prstGeom prst="ellipse">
            <a:avLst/>
          </a:prstGeom>
          <a:solidFill>
            <a:srgbClr val="C9922E"/>
          </a:solidFill>
          <a:ln/>
        </p:spPr>
        <p:txBody>
          <a:bodyPr/>
          <a:lstStyle/>
          <a:p>
            <a:endParaRPr/>
          </a:p>
        </p:txBody>
      </p:sp>
      <p:sp>
        <p:nvSpPr>
          <p:cNvPr id="45" name="Text 39"/>
          <p:cNvSpPr txBox="1"/>
          <p:nvPr/>
        </p:nvSpPr>
        <p:spPr>
          <a:xfrm>
            <a:off x="8988552"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One place to manage</a:t>
            </a:r>
            <a:r>
              <a:rPr lang="en-US" sz="1080" dirty="0">
                <a:solidFill>
                  <a:srgbClr val="6B6B6B"/>
                </a:solidFill>
                <a:latin typeface="Calibri" pitchFamily="34" charset="0"/>
                <a:ea typeface="Calibri" pitchFamily="34" charset="-122"/>
                <a:cs typeface="Calibri" pitchFamily="34" charset="-120"/>
              </a:rPr>
              <a:t>  when you own both, admin moves into a single console instead of two</a:t>
            </a:r>
            <a:endParaRPr lang="en-US" sz="1080" dirty="0"/>
          </a:p>
        </p:txBody>
      </p:sp>
      <p:sp>
        <p:nvSpPr>
          <p:cNvPr id="46" name="Shape 40"/>
          <p:cNvSpPr/>
          <p:nvPr/>
        </p:nvSpPr>
        <p:spPr>
          <a:xfrm>
            <a:off x="8750808" y="4955133"/>
            <a:ext cx="100584" cy="100584"/>
          </a:xfrm>
          <a:prstGeom prst="ellipse">
            <a:avLst/>
          </a:prstGeom>
          <a:solidFill>
            <a:srgbClr val="C9922E"/>
          </a:solidFill>
          <a:ln/>
        </p:spPr>
        <p:txBody>
          <a:bodyPr/>
          <a:lstStyle/>
          <a:p>
            <a:endParaRPr/>
          </a:p>
        </p:txBody>
      </p:sp>
      <p:sp>
        <p:nvSpPr>
          <p:cNvPr id="47" name="Text 41"/>
          <p:cNvSpPr txBox="1"/>
          <p:nvPr/>
        </p:nvSpPr>
        <p:spPr>
          <a:xfrm>
            <a:off x="8988552"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Kept apart safely</a:t>
            </a:r>
            <a:r>
              <a:rPr lang="en-US" sz="1080" dirty="0">
                <a:solidFill>
                  <a:srgbClr val="6B6B6B"/>
                </a:solidFill>
                <a:latin typeface="Calibri" pitchFamily="34" charset="0"/>
                <a:ea typeface="Calibri" pitchFamily="34" charset="-122"/>
                <a:cs typeface="Calibri" pitchFamily="34" charset="-120"/>
              </a:rPr>
              <a:t>  each product keeps its own records, so nothing leaks from one into the other</a:t>
            </a:r>
            <a:endParaRPr lang="en-US" sz="1080" dirty="0"/>
          </a:p>
        </p:txBody>
      </p:sp>
      <p:sp>
        <p:nvSpPr>
          <p:cNvPr id="48" name="Shape 42"/>
          <p:cNvSpPr/>
          <p:nvPr/>
        </p:nvSpPr>
        <p:spPr>
          <a:xfrm>
            <a:off x="8750808" y="5409590"/>
            <a:ext cx="100584" cy="100584"/>
          </a:xfrm>
          <a:prstGeom prst="ellipse">
            <a:avLst/>
          </a:prstGeom>
          <a:solidFill>
            <a:srgbClr val="C9922E"/>
          </a:solidFill>
          <a:ln/>
        </p:spPr>
        <p:txBody>
          <a:bodyPr/>
          <a:lstStyle/>
          <a:p>
            <a:endParaRPr/>
          </a:p>
        </p:txBody>
      </p:sp>
      <p:sp>
        <p:nvSpPr>
          <p:cNvPr id="49" name="Text 43"/>
          <p:cNvSpPr txBox="1"/>
          <p:nvPr/>
        </p:nvSpPr>
        <p:spPr>
          <a:xfrm>
            <a:off x="8988552"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Simple if you own one</a:t>
            </a:r>
            <a:r>
              <a:rPr lang="en-US" sz="1080" dirty="0">
                <a:solidFill>
                  <a:srgbClr val="6B6B6B"/>
                </a:solidFill>
                <a:latin typeface="Calibri" pitchFamily="34" charset="0"/>
                <a:ea typeface="Calibri" pitchFamily="34" charset="-122"/>
                <a:cs typeface="Calibri" pitchFamily="34" charset="-120"/>
              </a:rPr>
              <a:t>  with a single product there is no extra console to learn</a:t>
            </a:r>
            <a:endParaRPr lang="en-US" sz="10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WHERE THE TWO PRODUCTS MEET</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The contractor who fills the permit</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The single most useful thing about owning both: the man the gate already cleared is the man who signs the permit section. </a:t>
            </a:r>
            <a:r>
              <a:rPr lang="en-US" sz="1400" b="1" dirty="0">
                <a:solidFill>
                  <a:srgbClr val="111111"/>
                </a:solidFill>
                <a:latin typeface="Calibri" pitchFamily="34" charset="0"/>
                <a:ea typeface="Calibri" pitchFamily="34" charset="-122"/>
                <a:cs typeface="Calibri" pitchFamily="34" charset="-120"/>
              </a:rPr>
              <a:t>One switch gives him a time-limited Permit login</a:t>
            </a:r>
            <a:r>
              <a:rPr lang="en-US" sz="1400" dirty="0">
                <a:solidFill>
                  <a:srgbClr val="6B6B6B"/>
                </a:solidFill>
                <a:latin typeface="Calibri" pitchFamily="34" charset="0"/>
                <a:ea typeface="Calibri" pitchFamily="34" charset="-122"/>
                <a:cs typeface="Calibri" pitchFamily="34" charset="-120"/>
              </a:rPr>
              <a:t>  no second identity, no shared password, no login left alive after he leaves.</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17</a:t>
            </a:r>
            <a:endParaRPr lang="en-US" sz="900" dirty="0"/>
          </a:p>
        </p:txBody>
      </p:sp>
      <p:sp>
        <p:nvSpPr>
          <p:cNvPr id="8" name="Shape 5"/>
          <p:cNvSpPr/>
          <p:nvPr/>
        </p:nvSpPr>
        <p:spPr>
          <a:xfrm>
            <a:off x="1737360" y="3456432"/>
            <a:ext cx="8778240" cy="0"/>
          </a:xfrm>
          <a:prstGeom prst="line">
            <a:avLst/>
          </a:prstGeom>
          <a:noFill/>
          <a:ln w="12700">
            <a:solidFill>
              <a:srgbClr val="3A3A3A"/>
            </a:solidFill>
            <a:prstDash val="dash"/>
          </a:ln>
        </p:spPr>
        <p:txBody>
          <a:bodyPr/>
          <a:lstStyle/>
          <a:p>
            <a:endParaRPr/>
          </a:p>
        </p:txBody>
      </p:sp>
      <p:sp>
        <p:nvSpPr>
          <p:cNvPr id="9" name="Shape 6"/>
          <p:cNvSpPr/>
          <p:nvPr/>
        </p:nvSpPr>
        <p:spPr>
          <a:xfrm>
            <a:off x="1307592" y="3017520"/>
            <a:ext cx="868680" cy="868680"/>
          </a:xfrm>
          <a:prstGeom prst="ellipse">
            <a:avLst/>
          </a:prstGeom>
          <a:solidFill>
            <a:srgbClr val="111111"/>
          </a:solidFill>
          <a:ln w="12700">
            <a:solidFill>
              <a:srgbClr val="3A3A3A"/>
            </a:solidFill>
            <a:prstDash val="solid"/>
          </a:ln>
        </p:spPr>
        <p:txBody>
          <a:bodyPr/>
          <a:lstStyle/>
          <a:p>
            <a:endParaRPr/>
          </a:p>
        </p:txBody>
      </p:sp>
      <p:pic>
        <p:nvPicPr>
          <p:cNvPr id="10" name="Image 1" descr="icons/hardHat-white.png"/>
          <p:cNvPicPr>
            <a:picLocks noChangeAspect="1"/>
          </p:cNvPicPr>
          <p:nvPr/>
        </p:nvPicPr>
        <p:blipFill>
          <a:blip r:embed="rId4"/>
          <a:stretch>
            <a:fillRect/>
          </a:stretch>
        </p:blipFill>
        <p:spPr>
          <a:xfrm>
            <a:off x="1549908" y="3259836"/>
            <a:ext cx="384048" cy="384048"/>
          </a:xfrm>
          <a:prstGeom prst="rect">
            <a:avLst/>
          </a:prstGeom>
        </p:spPr>
      </p:pic>
      <p:sp>
        <p:nvSpPr>
          <p:cNvPr id="11" name="Shape 7"/>
          <p:cNvSpPr/>
          <p:nvPr/>
        </p:nvSpPr>
        <p:spPr>
          <a:xfrm>
            <a:off x="1865376" y="2962656"/>
            <a:ext cx="384048" cy="384048"/>
          </a:xfrm>
          <a:prstGeom prst="ellipse">
            <a:avLst/>
          </a:prstGeom>
          <a:solidFill>
            <a:srgbClr val="C9922E"/>
          </a:solidFill>
          <a:ln w="12700">
            <a:solidFill>
              <a:srgbClr val="FFFFFF"/>
            </a:solidFill>
            <a:prstDash val="solid"/>
          </a:ln>
        </p:spPr>
        <p:txBody>
          <a:bodyPr/>
          <a:lstStyle/>
          <a:p>
            <a:endParaRPr/>
          </a:p>
        </p:txBody>
      </p:sp>
      <p:sp>
        <p:nvSpPr>
          <p:cNvPr id="12" name="Text 8"/>
          <p:cNvSpPr txBox="1"/>
          <p:nvPr/>
        </p:nvSpPr>
        <p:spPr>
          <a:xfrm>
            <a:off x="1865376" y="29626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1</a:t>
            </a:r>
            <a:endParaRPr lang="en-US" sz="1400" dirty="0"/>
          </a:p>
        </p:txBody>
      </p:sp>
      <p:sp>
        <p:nvSpPr>
          <p:cNvPr id="13" name="Text 9"/>
          <p:cNvSpPr txBox="1"/>
          <p:nvPr/>
        </p:nvSpPr>
        <p:spPr>
          <a:xfrm>
            <a:off x="640080" y="3995928"/>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Enrol</a:t>
            </a:r>
            <a:endParaRPr lang="en-US" sz="1500" dirty="0"/>
          </a:p>
        </p:txBody>
      </p:sp>
      <p:sp>
        <p:nvSpPr>
          <p:cNvPr id="14" name="Text 10"/>
          <p:cNvSpPr txBox="1"/>
          <p:nvPr/>
        </p:nvSpPr>
        <p:spPr>
          <a:xfrm>
            <a:off x="731520" y="4343400"/>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The worker is on a firm’s roll in EntryHub</a:t>
            </a:r>
            <a:endParaRPr lang="en-US" sz="1100" dirty="0"/>
          </a:p>
        </p:txBody>
      </p:sp>
      <p:sp>
        <p:nvSpPr>
          <p:cNvPr id="15" name="Shape 11"/>
          <p:cNvSpPr/>
          <p:nvPr/>
        </p:nvSpPr>
        <p:spPr>
          <a:xfrm>
            <a:off x="3502152" y="3017520"/>
            <a:ext cx="868680" cy="868680"/>
          </a:xfrm>
          <a:prstGeom prst="ellipse">
            <a:avLst/>
          </a:prstGeom>
          <a:solidFill>
            <a:srgbClr val="111111"/>
          </a:solidFill>
          <a:ln w="12700">
            <a:solidFill>
              <a:srgbClr val="3A3A3A"/>
            </a:solidFill>
            <a:prstDash val="solid"/>
          </a:ln>
        </p:spPr>
        <p:txBody>
          <a:bodyPr/>
          <a:lstStyle/>
          <a:p>
            <a:endParaRPr/>
          </a:p>
        </p:txBody>
      </p:sp>
      <p:pic>
        <p:nvPicPr>
          <p:cNvPr id="16" name="Image 2" descr="icons/badge-white.png"/>
          <p:cNvPicPr>
            <a:picLocks noChangeAspect="1"/>
          </p:cNvPicPr>
          <p:nvPr/>
        </p:nvPicPr>
        <p:blipFill>
          <a:blip r:embed="rId5"/>
          <a:stretch>
            <a:fillRect/>
          </a:stretch>
        </p:blipFill>
        <p:spPr>
          <a:xfrm>
            <a:off x="3744468" y="3259836"/>
            <a:ext cx="384048" cy="384048"/>
          </a:xfrm>
          <a:prstGeom prst="rect">
            <a:avLst/>
          </a:prstGeom>
        </p:spPr>
      </p:pic>
      <p:sp>
        <p:nvSpPr>
          <p:cNvPr id="17" name="Shape 12"/>
          <p:cNvSpPr/>
          <p:nvPr/>
        </p:nvSpPr>
        <p:spPr>
          <a:xfrm>
            <a:off x="4059936" y="2962656"/>
            <a:ext cx="384048" cy="384048"/>
          </a:xfrm>
          <a:prstGeom prst="ellipse">
            <a:avLst/>
          </a:prstGeom>
          <a:solidFill>
            <a:srgbClr val="C9922E"/>
          </a:solidFill>
          <a:ln w="12700">
            <a:solidFill>
              <a:srgbClr val="FFFFFF"/>
            </a:solidFill>
            <a:prstDash val="solid"/>
          </a:ln>
        </p:spPr>
        <p:txBody>
          <a:bodyPr/>
          <a:lstStyle/>
          <a:p>
            <a:endParaRPr/>
          </a:p>
        </p:txBody>
      </p:sp>
      <p:sp>
        <p:nvSpPr>
          <p:cNvPr id="18" name="Text 13"/>
          <p:cNvSpPr txBox="1"/>
          <p:nvPr/>
        </p:nvSpPr>
        <p:spPr>
          <a:xfrm>
            <a:off x="4059936" y="29626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2</a:t>
            </a:r>
            <a:endParaRPr lang="en-US" sz="1400" dirty="0"/>
          </a:p>
        </p:txBody>
      </p:sp>
      <p:sp>
        <p:nvSpPr>
          <p:cNvPr id="19" name="Text 14"/>
          <p:cNvSpPr txBox="1"/>
          <p:nvPr/>
        </p:nvSpPr>
        <p:spPr>
          <a:xfrm>
            <a:off x="2834640" y="3995928"/>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Pass</a:t>
            </a:r>
            <a:endParaRPr lang="en-US" sz="1500" dirty="0"/>
          </a:p>
        </p:txBody>
      </p:sp>
      <p:sp>
        <p:nvSpPr>
          <p:cNvPr id="20" name="Text 15"/>
          <p:cNvSpPr txBox="1"/>
          <p:nvPr/>
        </p:nvSpPr>
        <p:spPr>
          <a:xfrm>
            <a:off x="2926080" y="4343400"/>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A live gate pass proves he is cleared to be on site</a:t>
            </a:r>
            <a:endParaRPr lang="en-US" sz="1100" dirty="0"/>
          </a:p>
        </p:txBody>
      </p:sp>
      <p:sp>
        <p:nvSpPr>
          <p:cNvPr id="21" name="Shape 16"/>
          <p:cNvSpPr/>
          <p:nvPr/>
        </p:nvSpPr>
        <p:spPr>
          <a:xfrm>
            <a:off x="5696712" y="3017520"/>
            <a:ext cx="868680" cy="868680"/>
          </a:xfrm>
          <a:prstGeom prst="ellipse">
            <a:avLst/>
          </a:prstGeom>
          <a:solidFill>
            <a:srgbClr val="111111"/>
          </a:solidFill>
          <a:ln w="12700">
            <a:solidFill>
              <a:srgbClr val="3A3A3A"/>
            </a:solidFill>
            <a:prstDash val="solid"/>
          </a:ln>
        </p:spPr>
        <p:txBody>
          <a:bodyPr/>
          <a:lstStyle/>
          <a:p>
            <a:endParaRPr/>
          </a:p>
        </p:txBody>
      </p:sp>
      <p:pic>
        <p:nvPicPr>
          <p:cNvPr id="22" name="Image 3" descr="icons/key-white.png"/>
          <p:cNvPicPr>
            <a:picLocks noChangeAspect="1"/>
          </p:cNvPicPr>
          <p:nvPr/>
        </p:nvPicPr>
        <p:blipFill>
          <a:blip r:embed="rId6"/>
          <a:stretch>
            <a:fillRect/>
          </a:stretch>
        </p:blipFill>
        <p:spPr>
          <a:xfrm>
            <a:off x="5939028" y="3259836"/>
            <a:ext cx="384048" cy="384048"/>
          </a:xfrm>
          <a:prstGeom prst="rect">
            <a:avLst/>
          </a:prstGeom>
        </p:spPr>
      </p:pic>
      <p:sp>
        <p:nvSpPr>
          <p:cNvPr id="23" name="Shape 17"/>
          <p:cNvSpPr/>
          <p:nvPr/>
        </p:nvSpPr>
        <p:spPr>
          <a:xfrm>
            <a:off x="6254496" y="2962656"/>
            <a:ext cx="384048" cy="384048"/>
          </a:xfrm>
          <a:prstGeom prst="ellipse">
            <a:avLst/>
          </a:prstGeom>
          <a:solidFill>
            <a:srgbClr val="C9922E"/>
          </a:solidFill>
          <a:ln w="12700">
            <a:solidFill>
              <a:srgbClr val="FFFFFF"/>
            </a:solidFill>
            <a:prstDash val="solid"/>
          </a:ln>
        </p:spPr>
        <p:txBody>
          <a:bodyPr/>
          <a:lstStyle/>
          <a:p>
            <a:endParaRPr/>
          </a:p>
        </p:txBody>
      </p:sp>
      <p:sp>
        <p:nvSpPr>
          <p:cNvPr id="24" name="Text 18"/>
          <p:cNvSpPr txBox="1"/>
          <p:nvPr/>
        </p:nvSpPr>
        <p:spPr>
          <a:xfrm>
            <a:off x="6254496" y="29626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3</a:t>
            </a:r>
            <a:endParaRPr lang="en-US" sz="1400" dirty="0"/>
          </a:p>
        </p:txBody>
      </p:sp>
      <p:sp>
        <p:nvSpPr>
          <p:cNvPr id="25" name="Text 19"/>
          <p:cNvSpPr txBox="1"/>
          <p:nvPr/>
        </p:nvSpPr>
        <p:spPr>
          <a:xfrm>
            <a:off x="5029200" y="3995928"/>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Grant</a:t>
            </a:r>
            <a:endParaRPr lang="en-US" sz="1500" dirty="0"/>
          </a:p>
        </p:txBody>
      </p:sp>
      <p:sp>
        <p:nvSpPr>
          <p:cNvPr id="26" name="Text 20"/>
          <p:cNvSpPr txBox="1"/>
          <p:nvPr/>
        </p:nvSpPr>
        <p:spPr>
          <a:xfrm>
            <a:off x="5120640" y="4343400"/>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One switch on the firm’s Workers tab gives him a login</a:t>
            </a:r>
            <a:endParaRPr lang="en-US" sz="1100" dirty="0"/>
          </a:p>
        </p:txBody>
      </p:sp>
      <p:sp>
        <p:nvSpPr>
          <p:cNvPr id="27" name="Shape 21"/>
          <p:cNvSpPr/>
          <p:nvPr/>
        </p:nvSpPr>
        <p:spPr>
          <a:xfrm>
            <a:off x="7891272" y="3017520"/>
            <a:ext cx="868680" cy="868680"/>
          </a:xfrm>
          <a:prstGeom prst="ellipse">
            <a:avLst/>
          </a:prstGeom>
          <a:solidFill>
            <a:srgbClr val="111111"/>
          </a:solidFill>
          <a:ln w="12700">
            <a:solidFill>
              <a:srgbClr val="3A3A3A"/>
            </a:solidFill>
            <a:prstDash val="solid"/>
          </a:ln>
        </p:spPr>
        <p:txBody>
          <a:bodyPr/>
          <a:lstStyle/>
          <a:p>
            <a:endParaRPr/>
          </a:p>
        </p:txBody>
      </p:sp>
      <p:pic>
        <p:nvPicPr>
          <p:cNvPr id="28" name="Image 4" descr="orig/ppt/media/image9.png"/>
          <p:cNvPicPr>
            <a:picLocks noChangeAspect="1"/>
          </p:cNvPicPr>
          <p:nvPr/>
        </p:nvPicPr>
        <p:blipFill>
          <a:blip r:embed="rId7"/>
          <a:stretch>
            <a:fillRect/>
          </a:stretch>
        </p:blipFill>
        <p:spPr>
          <a:xfrm>
            <a:off x="8133588" y="3259836"/>
            <a:ext cx="384048" cy="384048"/>
          </a:xfrm>
          <a:prstGeom prst="rect">
            <a:avLst/>
          </a:prstGeom>
        </p:spPr>
      </p:pic>
      <p:sp>
        <p:nvSpPr>
          <p:cNvPr id="29" name="Shape 22"/>
          <p:cNvSpPr/>
          <p:nvPr/>
        </p:nvSpPr>
        <p:spPr>
          <a:xfrm>
            <a:off x="8449056" y="2962656"/>
            <a:ext cx="384048" cy="384048"/>
          </a:xfrm>
          <a:prstGeom prst="ellipse">
            <a:avLst/>
          </a:prstGeom>
          <a:solidFill>
            <a:srgbClr val="C9922E"/>
          </a:solidFill>
          <a:ln w="12700">
            <a:solidFill>
              <a:srgbClr val="FFFFFF"/>
            </a:solidFill>
            <a:prstDash val="solid"/>
          </a:ln>
        </p:spPr>
        <p:txBody>
          <a:bodyPr/>
          <a:lstStyle/>
          <a:p>
            <a:endParaRPr/>
          </a:p>
        </p:txBody>
      </p:sp>
      <p:sp>
        <p:nvSpPr>
          <p:cNvPr id="30" name="Text 23"/>
          <p:cNvSpPr txBox="1"/>
          <p:nvPr/>
        </p:nvSpPr>
        <p:spPr>
          <a:xfrm>
            <a:off x="8449056" y="29626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4</a:t>
            </a:r>
            <a:endParaRPr lang="en-US" sz="1400" dirty="0"/>
          </a:p>
        </p:txBody>
      </p:sp>
      <p:sp>
        <p:nvSpPr>
          <p:cNvPr id="31" name="Text 24"/>
          <p:cNvSpPr txBox="1"/>
          <p:nvPr/>
        </p:nvSpPr>
        <p:spPr>
          <a:xfrm>
            <a:off x="7223760" y="3995928"/>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Sign</a:t>
            </a:r>
            <a:endParaRPr lang="en-US" sz="1500" dirty="0"/>
          </a:p>
        </p:txBody>
      </p:sp>
      <p:sp>
        <p:nvSpPr>
          <p:cNvPr id="32" name="Text 25"/>
          <p:cNvSpPr txBox="1"/>
          <p:nvPr/>
        </p:nvSpPr>
        <p:spPr>
          <a:xfrm>
            <a:off x="7315200" y="4343400"/>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He opens the permit he is named on and signs his own section</a:t>
            </a:r>
            <a:endParaRPr lang="en-US" sz="1100" dirty="0"/>
          </a:p>
        </p:txBody>
      </p:sp>
      <p:sp>
        <p:nvSpPr>
          <p:cNvPr id="33" name="Shape 26"/>
          <p:cNvSpPr/>
          <p:nvPr/>
        </p:nvSpPr>
        <p:spPr>
          <a:xfrm>
            <a:off x="10085832" y="3017520"/>
            <a:ext cx="868680" cy="868680"/>
          </a:xfrm>
          <a:prstGeom prst="ellipse">
            <a:avLst/>
          </a:prstGeom>
          <a:solidFill>
            <a:srgbClr val="111111"/>
          </a:solidFill>
          <a:ln w="12700">
            <a:solidFill>
              <a:srgbClr val="3A3A3A"/>
            </a:solidFill>
            <a:prstDash val="solid"/>
          </a:ln>
        </p:spPr>
        <p:txBody>
          <a:bodyPr/>
          <a:lstStyle/>
          <a:p>
            <a:endParaRPr/>
          </a:p>
        </p:txBody>
      </p:sp>
      <p:pic>
        <p:nvPicPr>
          <p:cNvPr id="34" name="Image 5" descr="orig/ppt/media/image40.png"/>
          <p:cNvPicPr>
            <a:picLocks noChangeAspect="1"/>
          </p:cNvPicPr>
          <p:nvPr/>
        </p:nvPicPr>
        <p:blipFill>
          <a:blip r:embed="rId8"/>
          <a:stretch>
            <a:fillRect/>
          </a:stretch>
        </p:blipFill>
        <p:spPr>
          <a:xfrm>
            <a:off x="10328148" y="3259836"/>
            <a:ext cx="384048" cy="384048"/>
          </a:xfrm>
          <a:prstGeom prst="rect">
            <a:avLst/>
          </a:prstGeom>
        </p:spPr>
      </p:pic>
      <p:sp>
        <p:nvSpPr>
          <p:cNvPr id="35" name="Shape 27"/>
          <p:cNvSpPr/>
          <p:nvPr/>
        </p:nvSpPr>
        <p:spPr>
          <a:xfrm>
            <a:off x="10643616" y="2962656"/>
            <a:ext cx="384048" cy="384048"/>
          </a:xfrm>
          <a:prstGeom prst="ellipse">
            <a:avLst/>
          </a:prstGeom>
          <a:solidFill>
            <a:srgbClr val="C9922E"/>
          </a:solidFill>
          <a:ln w="12700">
            <a:solidFill>
              <a:srgbClr val="FFFFFF"/>
            </a:solidFill>
            <a:prstDash val="solid"/>
          </a:ln>
        </p:spPr>
        <p:txBody>
          <a:bodyPr/>
          <a:lstStyle/>
          <a:p>
            <a:endParaRPr/>
          </a:p>
        </p:txBody>
      </p:sp>
      <p:sp>
        <p:nvSpPr>
          <p:cNvPr id="36" name="Text 28"/>
          <p:cNvSpPr txBox="1"/>
          <p:nvPr/>
        </p:nvSpPr>
        <p:spPr>
          <a:xfrm>
            <a:off x="10643616" y="29626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Schoolbook" pitchFamily="34" charset="0"/>
                <a:ea typeface="Century Schoolbook" pitchFamily="34" charset="-122"/>
                <a:cs typeface="Century Schoolbook" pitchFamily="34" charset="-120"/>
              </a:rPr>
              <a:t>5</a:t>
            </a:r>
            <a:endParaRPr lang="en-US" sz="1400" dirty="0"/>
          </a:p>
        </p:txBody>
      </p:sp>
      <p:sp>
        <p:nvSpPr>
          <p:cNvPr id="37" name="Text 29"/>
          <p:cNvSpPr txBox="1"/>
          <p:nvPr/>
        </p:nvSpPr>
        <p:spPr>
          <a:xfrm>
            <a:off x="9418320" y="3995928"/>
            <a:ext cx="2194560" cy="320040"/>
          </a:xfrm>
          <a:prstGeom prst="rect">
            <a:avLst/>
          </a:prstGeom>
          <a:noFill/>
          <a:ln/>
        </p:spPr>
        <p:txBody>
          <a:bodyPr wrap="square" lIns="0" tIns="0" rIns="0" bIns="0" rtlCol="0" anchor="ctr"/>
          <a:lstStyle/>
          <a:p>
            <a:pPr marL="0" indent="0" algn="ctr">
              <a:buNone/>
            </a:pPr>
            <a:r>
              <a:rPr lang="en-US" sz="1500" b="1" dirty="0">
                <a:solidFill>
                  <a:srgbClr val="0A0A0A"/>
                </a:solidFill>
                <a:latin typeface="Calibri" pitchFamily="34" charset="0"/>
                <a:ea typeface="Calibri" pitchFamily="34" charset="-122"/>
                <a:cs typeface="Calibri" pitchFamily="34" charset="-120"/>
              </a:rPr>
              <a:t>Expire</a:t>
            </a:r>
            <a:endParaRPr lang="en-US" sz="1500" dirty="0"/>
          </a:p>
        </p:txBody>
      </p:sp>
      <p:sp>
        <p:nvSpPr>
          <p:cNvPr id="38" name="Text 30"/>
          <p:cNvSpPr txBox="1"/>
          <p:nvPr/>
        </p:nvSpPr>
        <p:spPr>
          <a:xfrm>
            <a:off x="9509760" y="4343400"/>
            <a:ext cx="2011680" cy="685800"/>
          </a:xfrm>
          <a:prstGeom prst="rect">
            <a:avLst/>
          </a:prstGeom>
          <a:noFill/>
          <a:ln/>
        </p:spPr>
        <p:txBody>
          <a:bodyPr wrap="square" lIns="0" tIns="0" rIns="0" bIns="0" rtlCol="0" anchor="ctr"/>
          <a:lstStyle/>
          <a:p>
            <a:pPr marL="0" indent="0" algn="ctr">
              <a:lnSpc>
                <a:spcPct val="105000"/>
              </a:lnSpc>
              <a:buNone/>
            </a:pPr>
            <a:r>
              <a:rPr lang="en-US" sz="1100" dirty="0">
                <a:solidFill>
                  <a:srgbClr val="6B6B6B"/>
                </a:solidFill>
                <a:latin typeface="Calibri" pitchFamily="34" charset="0"/>
                <a:ea typeface="Calibri" pitchFamily="34" charset="-122"/>
                <a:cs typeface="Calibri" pitchFamily="34" charset="-120"/>
              </a:rPr>
              <a:t>The login dies with the pass; the signature outlives it</a:t>
            </a:r>
            <a:endParaRPr lang="en-US" sz="1100" dirty="0"/>
          </a:p>
        </p:txBody>
      </p:sp>
      <p:sp>
        <p:nvSpPr>
          <p:cNvPr id="39" name="Shape 31"/>
          <p:cNvSpPr/>
          <p:nvPr/>
        </p:nvSpPr>
        <p:spPr>
          <a:xfrm>
            <a:off x="502920" y="5504688"/>
            <a:ext cx="11183112" cy="822960"/>
          </a:xfrm>
          <a:prstGeom prst="roundRect">
            <a:avLst>
              <a:gd name="adj" fmla="val 11111"/>
            </a:avLst>
          </a:prstGeom>
          <a:solidFill>
            <a:srgbClr val="F3F3F3"/>
          </a:solidFill>
          <a:ln w="12700">
            <a:solidFill>
              <a:srgbClr val="E3E3E3"/>
            </a:solidFill>
            <a:prstDash val="solid"/>
          </a:ln>
        </p:spPr>
        <p:txBody>
          <a:bodyPr/>
          <a:lstStyle/>
          <a:p>
            <a:endParaRPr/>
          </a:p>
        </p:txBody>
      </p:sp>
      <p:sp>
        <p:nvSpPr>
          <p:cNvPr id="40" name="Shape 32"/>
          <p:cNvSpPr/>
          <p:nvPr/>
        </p:nvSpPr>
        <p:spPr>
          <a:xfrm>
            <a:off x="777240" y="5724144"/>
            <a:ext cx="384048" cy="384048"/>
          </a:xfrm>
          <a:prstGeom prst="ellipse">
            <a:avLst/>
          </a:prstGeom>
          <a:solidFill>
            <a:srgbClr val="111111"/>
          </a:solidFill>
          <a:ln/>
        </p:spPr>
        <p:txBody>
          <a:bodyPr/>
          <a:lstStyle/>
          <a:p>
            <a:endParaRPr/>
          </a:p>
        </p:txBody>
      </p:sp>
      <p:pic>
        <p:nvPicPr>
          <p:cNvPr id="41" name="Image 6" descr="icons/link-white.png"/>
          <p:cNvPicPr>
            <a:picLocks noChangeAspect="1"/>
          </p:cNvPicPr>
          <p:nvPr/>
        </p:nvPicPr>
        <p:blipFill>
          <a:blip r:embed="rId9"/>
          <a:stretch>
            <a:fillRect/>
          </a:stretch>
        </p:blipFill>
        <p:spPr>
          <a:xfrm>
            <a:off x="886968" y="5833872"/>
            <a:ext cx="164592" cy="164592"/>
          </a:xfrm>
          <a:prstGeom prst="rect">
            <a:avLst/>
          </a:prstGeom>
        </p:spPr>
      </p:pic>
      <p:sp>
        <p:nvSpPr>
          <p:cNvPr id="42" name="Text 33"/>
          <p:cNvSpPr txBox="1"/>
          <p:nvPr/>
        </p:nvSpPr>
        <p:spPr>
          <a:xfrm>
            <a:off x="1371600" y="5541264"/>
            <a:ext cx="10149840" cy="749808"/>
          </a:xfrm>
          <a:prstGeom prst="rect">
            <a:avLst/>
          </a:prstGeom>
          <a:noFill/>
          <a:ln/>
        </p:spPr>
        <p:txBody>
          <a:bodyPr wrap="square" lIns="0" tIns="0" rIns="0" bIns="0" rtlCol="0" anchor="ctr"/>
          <a:lstStyle/>
          <a:p>
            <a:pPr marL="0" indent="0">
              <a:lnSpc>
                <a:spcPct val="105000"/>
              </a:lnSpc>
              <a:buNone/>
            </a:pPr>
            <a:r>
              <a:rPr lang="en-US" sz="1250" b="1" dirty="0">
                <a:solidFill>
                  <a:srgbClr val="111111"/>
                </a:solidFill>
                <a:latin typeface="Calibri" pitchFamily="34" charset="0"/>
                <a:ea typeface="Calibri" pitchFamily="34" charset="-122"/>
                <a:cs typeface="Calibri" pitchFamily="34" charset="-120"/>
              </a:rPr>
              <a:t>He sees the permit he is on, and nothing else.</a:t>
            </a:r>
            <a:r>
              <a:rPr lang="en-US" sz="1250" dirty="0">
                <a:solidFill>
                  <a:srgbClr val="0A0A0A"/>
                </a:solidFill>
                <a:latin typeface="Calibri" pitchFamily="34" charset="0"/>
                <a:ea typeface="Calibri" pitchFamily="34" charset="-122"/>
                <a:cs typeface="Calibri" pitchFamily="34" charset="-120"/>
              </a:rPr>
              <a:t>  The firm is synced from EntryHub rather than typed in twice, the login expires with the gate pass on its own, and every grant is audited on both sides.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ACCESS ANYWHERE</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One platform, everywhere your work happens</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A single platform your team reaches from wherever the work is the office, the job, or the barrier. Host it on Aillegent’s secure cloud, or deploy it on-premise at your own site.</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18</a:t>
            </a:r>
            <a:endParaRPr lang="en-US" sz="900" dirty="0"/>
          </a:p>
        </p:txBody>
      </p:sp>
      <p:sp>
        <p:nvSpPr>
          <p:cNvPr id="8" name="Shape 5"/>
          <p:cNvSpPr/>
          <p:nvPr/>
        </p:nvSpPr>
        <p:spPr>
          <a:xfrm>
            <a:off x="502920" y="2331720"/>
            <a:ext cx="3639312" cy="2606040"/>
          </a:xfrm>
          <a:prstGeom prst="roundRect">
            <a:avLst>
              <a:gd name="adj" fmla="val 4211"/>
            </a:avLst>
          </a:prstGeom>
          <a:solidFill>
            <a:srgbClr val="FFFFFF"/>
          </a:solidFill>
          <a:ln w="12700">
            <a:solidFill>
              <a:srgbClr val="E3E3E3"/>
            </a:solidFill>
            <a:prstDash val="solid"/>
          </a:ln>
        </p:spPr>
        <p:txBody>
          <a:bodyPr/>
          <a:lstStyle/>
          <a:p>
            <a:endParaRPr/>
          </a:p>
        </p:txBody>
      </p:sp>
      <p:sp>
        <p:nvSpPr>
          <p:cNvPr id="9" name="Shape 6"/>
          <p:cNvSpPr/>
          <p:nvPr/>
        </p:nvSpPr>
        <p:spPr>
          <a:xfrm>
            <a:off x="1938528" y="2587752"/>
            <a:ext cx="768096" cy="768096"/>
          </a:xfrm>
          <a:prstGeom prst="ellipse">
            <a:avLst/>
          </a:prstGeom>
          <a:solidFill>
            <a:srgbClr val="111111"/>
          </a:solidFill>
          <a:ln/>
        </p:spPr>
        <p:txBody>
          <a:bodyPr/>
          <a:lstStyle/>
          <a:p>
            <a:endParaRPr/>
          </a:p>
        </p:txBody>
      </p:sp>
      <p:pic>
        <p:nvPicPr>
          <p:cNvPr id="10" name="Image 1" descr="orig/ppt/media/image20.png"/>
          <p:cNvPicPr>
            <a:picLocks noChangeAspect="1"/>
          </p:cNvPicPr>
          <p:nvPr/>
        </p:nvPicPr>
        <p:blipFill>
          <a:blip r:embed="rId4"/>
          <a:stretch>
            <a:fillRect/>
          </a:stretch>
        </p:blipFill>
        <p:spPr>
          <a:xfrm>
            <a:off x="2167128" y="2816352"/>
            <a:ext cx="320040" cy="320040"/>
          </a:xfrm>
          <a:prstGeom prst="rect">
            <a:avLst/>
          </a:prstGeom>
        </p:spPr>
      </p:pic>
      <p:sp>
        <p:nvSpPr>
          <p:cNvPr id="11" name="Text 7"/>
          <p:cNvSpPr txBox="1"/>
          <p:nvPr/>
        </p:nvSpPr>
        <p:spPr>
          <a:xfrm>
            <a:off x="502920" y="3429000"/>
            <a:ext cx="3639312" cy="365760"/>
          </a:xfrm>
          <a:prstGeom prst="rect">
            <a:avLst/>
          </a:prstGeom>
          <a:noFill/>
          <a:ln/>
        </p:spPr>
        <p:txBody>
          <a:bodyPr wrap="square" lIns="0" tIns="0" rIns="0" bIns="0" rtlCol="0" anchor="ctr"/>
          <a:lstStyle/>
          <a:p>
            <a:pPr marL="0" indent="0" algn="ctr">
              <a:buNone/>
            </a:pPr>
            <a:r>
              <a:rPr lang="en-US" sz="1900" b="1" dirty="0">
                <a:solidFill>
                  <a:srgbClr val="0A0A0A"/>
                </a:solidFill>
                <a:latin typeface="Century Schoolbook" pitchFamily="34" charset="0"/>
                <a:ea typeface="Century Schoolbook" pitchFamily="34" charset="-122"/>
                <a:cs typeface="Century Schoolbook" pitchFamily="34" charset="-120"/>
              </a:rPr>
              <a:t>Web</a:t>
            </a:r>
            <a:endParaRPr lang="en-US" sz="1900" dirty="0"/>
          </a:p>
        </p:txBody>
      </p:sp>
      <p:sp>
        <p:nvSpPr>
          <p:cNvPr id="12" name="Text 8"/>
          <p:cNvSpPr txBox="1"/>
          <p:nvPr/>
        </p:nvSpPr>
        <p:spPr>
          <a:xfrm>
            <a:off x="795528" y="3813048"/>
            <a:ext cx="3054096" cy="658368"/>
          </a:xfrm>
          <a:prstGeom prst="rect">
            <a:avLst/>
          </a:prstGeom>
          <a:noFill/>
          <a:ln/>
        </p:spPr>
        <p:txBody>
          <a:bodyPr wrap="square" lIns="0" tIns="0" rIns="0" bIns="0" rtlCol="0" anchor="ctr"/>
          <a:lstStyle/>
          <a:p>
            <a:pPr marL="0" indent="0" algn="ctr">
              <a:lnSpc>
                <a:spcPct val="105000"/>
              </a:lnSpc>
              <a:buNone/>
            </a:pPr>
            <a:r>
              <a:rPr lang="en-US" sz="1130" dirty="0">
                <a:solidFill>
                  <a:srgbClr val="6B6B6B"/>
                </a:solidFill>
                <a:latin typeface="Calibri" pitchFamily="34" charset="0"/>
                <a:ea typeface="Calibri" pitchFamily="34" charset="-122"/>
                <a:cs typeface="Calibri" pitchFamily="34" charset="-120"/>
              </a:rPr>
              <a:t>The full platform in any desktop browser. Design permits, approve, and run the office side of the gate.</a:t>
            </a:r>
            <a:endParaRPr lang="en-US" sz="1130" dirty="0"/>
          </a:p>
        </p:txBody>
      </p:sp>
      <p:sp>
        <p:nvSpPr>
          <p:cNvPr id="13" name="Shape 9"/>
          <p:cNvSpPr/>
          <p:nvPr/>
        </p:nvSpPr>
        <p:spPr>
          <a:xfrm>
            <a:off x="1143000" y="4526280"/>
            <a:ext cx="2359152" cy="0"/>
          </a:xfrm>
          <a:prstGeom prst="line">
            <a:avLst/>
          </a:prstGeom>
          <a:noFill/>
          <a:ln w="12700">
            <a:solidFill>
              <a:srgbClr val="E3E3E3"/>
            </a:solidFill>
            <a:prstDash val="solid"/>
          </a:ln>
        </p:spPr>
        <p:txBody>
          <a:bodyPr/>
          <a:lstStyle/>
          <a:p>
            <a:endParaRPr/>
          </a:p>
        </p:txBody>
      </p:sp>
      <p:sp>
        <p:nvSpPr>
          <p:cNvPr id="14" name="Text 10"/>
          <p:cNvSpPr txBox="1"/>
          <p:nvPr/>
        </p:nvSpPr>
        <p:spPr>
          <a:xfrm>
            <a:off x="685800" y="4562856"/>
            <a:ext cx="3273552" cy="292608"/>
          </a:xfrm>
          <a:prstGeom prst="rect">
            <a:avLst/>
          </a:prstGeom>
          <a:noFill/>
          <a:ln/>
        </p:spPr>
        <p:txBody>
          <a:bodyPr wrap="square" lIns="0" tIns="0" rIns="0" bIns="0" rtlCol="0" anchor="ctr"/>
          <a:lstStyle/>
          <a:p>
            <a:pPr marL="0" indent="0" algn="ctr">
              <a:buNone/>
            </a:pPr>
            <a:r>
              <a:rPr lang="en-US" sz="1050" b="1" dirty="0">
                <a:solidFill>
                  <a:srgbClr val="3A3A3A"/>
                </a:solidFill>
                <a:latin typeface="Calibri" pitchFamily="34" charset="0"/>
                <a:ea typeface="Calibri" pitchFamily="34" charset="-122"/>
                <a:cs typeface="Calibri" pitchFamily="34" charset="-120"/>
              </a:rPr>
              <a:t>Best for: designers, approvers &amp; EHS</a:t>
            </a:r>
            <a:endParaRPr lang="en-US" sz="1050" dirty="0"/>
          </a:p>
        </p:txBody>
      </p:sp>
      <p:sp>
        <p:nvSpPr>
          <p:cNvPr id="15" name="Shape 11"/>
          <p:cNvSpPr/>
          <p:nvPr/>
        </p:nvSpPr>
        <p:spPr>
          <a:xfrm>
            <a:off x="4443984" y="2331720"/>
            <a:ext cx="3639312" cy="2606040"/>
          </a:xfrm>
          <a:prstGeom prst="roundRect">
            <a:avLst>
              <a:gd name="adj" fmla="val 4211"/>
            </a:avLst>
          </a:prstGeom>
          <a:solidFill>
            <a:srgbClr val="FFFFFF"/>
          </a:solidFill>
          <a:ln w="12700">
            <a:solidFill>
              <a:srgbClr val="E3E3E3"/>
            </a:solidFill>
            <a:prstDash val="solid"/>
          </a:ln>
        </p:spPr>
        <p:txBody>
          <a:bodyPr/>
          <a:lstStyle/>
          <a:p>
            <a:endParaRPr/>
          </a:p>
        </p:txBody>
      </p:sp>
      <p:sp>
        <p:nvSpPr>
          <p:cNvPr id="16" name="Shape 12"/>
          <p:cNvSpPr/>
          <p:nvPr/>
        </p:nvSpPr>
        <p:spPr>
          <a:xfrm>
            <a:off x="5879592" y="2587752"/>
            <a:ext cx="768096" cy="768096"/>
          </a:xfrm>
          <a:prstGeom prst="ellipse">
            <a:avLst/>
          </a:prstGeom>
          <a:solidFill>
            <a:srgbClr val="111111"/>
          </a:solidFill>
          <a:ln/>
        </p:spPr>
        <p:txBody>
          <a:bodyPr/>
          <a:lstStyle/>
          <a:p>
            <a:endParaRPr/>
          </a:p>
        </p:txBody>
      </p:sp>
      <p:pic>
        <p:nvPicPr>
          <p:cNvPr id="17" name="Image 2" descr="orig/ppt/media/image21.png"/>
          <p:cNvPicPr>
            <a:picLocks noChangeAspect="1"/>
          </p:cNvPicPr>
          <p:nvPr/>
        </p:nvPicPr>
        <p:blipFill>
          <a:blip r:embed="rId5"/>
          <a:stretch>
            <a:fillRect/>
          </a:stretch>
        </p:blipFill>
        <p:spPr>
          <a:xfrm>
            <a:off x="6108192" y="2816352"/>
            <a:ext cx="320040" cy="320040"/>
          </a:xfrm>
          <a:prstGeom prst="rect">
            <a:avLst/>
          </a:prstGeom>
        </p:spPr>
      </p:pic>
      <p:sp>
        <p:nvSpPr>
          <p:cNvPr id="18" name="Text 13"/>
          <p:cNvSpPr txBox="1"/>
          <p:nvPr/>
        </p:nvSpPr>
        <p:spPr>
          <a:xfrm>
            <a:off x="4443984" y="3429000"/>
            <a:ext cx="3639312" cy="365760"/>
          </a:xfrm>
          <a:prstGeom prst="rect">
            <a:avLst/>
          </a:prstGeom>
          <a:noFill/>
          <a:ln/>
        </p:spPr>
        <p:txBody>
          <a:bodyPr wrap="square" lIns="0" tIns="0" rIns="0" bIns="0" rtlCol="0" anchor="ctr"/>
          <a:lstStyle/>
          <a:p>
            <a:pPr marL="0" indent="0" algn="ctr">
              <a:buNone/>
            </a:pPr>
            <a:r>
              <a:rPr lang="en-US" sz="1900" b="1" dirty="0">
                <a:solidFill>
                  <a:srgbClr val="0A0A0A"/>
                </a:solidFill>
                <a:latin typeface="Century Schoolbook" pitchFamily="34" charset="0"/>
                <a:ea typeface="Century Schoolbook" pitchFamily="34" charset="-122"/>
                <a:cs typeface="Century Schoolbook" pitchFamily="34" charset="-120"/>
              </a:rPr>
              <a:t>Mobile app</a:t>
            </a:r>
            <a:endParaRPr lang="en-US" sz="1900" dirty="0"/>
          </a:p>
        </p:txBody>
      </p:sp>
      <p:sp>
        <p:nvSpPr>
          <p:cNvPr id="19" name="Text 14"/>
          <p:cNvSpPr txBox="1"/>
          <p:nvPr/>
        </p:nvSpPr>
        <p:spPr>
          <a:xfrm>
            <a:off x="4736592" y="3813048"/>
            <a:ext cx="3054096" cy="658368"/>
          </a:xfrm>
          <a:prstGeom prst="rect">
            <a:avLst/>
          </a:prstGeom>
          <a:noFill/>
          <a:ln/>
        </p:spPr>
        <p:txBody>
          <a:bodyPr wrap="square" lIns="0" tIns="0" rIns="0" bIns="0" rtlCol="0" anchor="ctr"/>
          <a:lstStyle/>
          <a:p>
            <a:pPr marL="0" indent="0" algn="ctr">
              <a:lnSpc>
                <a:spcPct val="105000"/>
              </a:lnSpc>
              <a:buNone/>
            </a:pPr>
            <a:r>
              <a:rPr lang="en-US" sz="1130" dirty="0">
                <a:solidFill>
                  <a:srgbClr val="6B6B6B"/>
                </a:solidFill>
                <a:latin typeface="Calibri" pitchFamily="34" charset="0"/>
                <a:ea typeface="Calibri" pitchFamily="34" charset="-122"/>
                <a:cs typeface="Calibri" pitchFamily="34" charset="-120"/>
              </a:rPr>
              <a:t>A real app on iOS and Android carrying both products, with push alerts and a camera that scans QR codes.</a:t>
            </a:r>
            <a:endParaRPr lang="en-US" sz="1130" dirty="0"/>
          </a:p>
        </p:txBody>
      </p:sp>
      <p:sp>
        <p:nvSpPr>
          <p:cNvPr id="20" name="Shape 15"/>
          <p:cNvSpPr/>
          <p:nvPr/>
        </p:nvSpPr>
        <p:spPr>
          <a:xfrm>
            <a:off x="5084064" y="4526280"/>
            <a:ext cx="2359152" cy="0"/>
          </a:xfrm>
          <a:prstGeom prst="line">
            <a:avLst/>
          </a:prstGeom>
          <a:noFill/>
          <a:ln w="12700">
            <a:solidFill>
              <a:srgbClr val="E3E3E3"/>
            </a:solidFill>
            <a:prstDash val="solid"/>
          </a:ln>
        </p:spPr>
        <p:txBody>
          <a:bodyPr/>
          <a:lstStyle/>
          <a:p>
            <a:endParaRPr/>
          </a:p>
        </p:txBody>
      </p:sp>
      <p:sp>
        <p:nvSpPr>
          <p:cNvPr id="21" name="Text 16"/>
          <p:cNvSpPr txBox="1"/>
          <p:nvPr/>
        </p:nvSpPr>
        <p:spPr>
          <a:xfrm>
            <a:off x="4626864" y="4562856"/>
            <a:ext cx="3273552" cy="292608"/>
          </a:xfrm>
          <a:prstGeom prst="rect">
            <a:avLst/>
          </a:prstGeom>
          <a:noFill/>
          <a:ln/>
        </p:spPr>
        <p:txBody>
          <a:bodyPr wrap="square" lIns="0" tIns="0" rIns="0" bIns="0" rtlCol="0" anchor="ctr"/>
          <a:lstStyle/>
          <a:p>
            <a:pPr marL="0" indent="0" algn="ctr">
              <a:buNone/>
            </a:pPr>
            <a:r>
              <a:rPr lang="en-US" sz="1050" b="1" dirty="0">
                <a:solidFill>
                  <a:srgbClr val="3A3A3A"/>
                </a:solidFill>
                <a:latin typeface="Calibri" pitchFamily="34" charset="0"/>
                <a:ea typeface="Calibri" pitchFamily="34" charset="-122"/>
                <a:cs typeface="Calibri" pitchFamily="34" charset="-120"/>
              </a:rPr>
              <a:t>Best for: field crews, guards &amp; supervisors</a:t>
            </a:r>
            <a:endParaRPr lang="en-US" sz="1050" dirty="0"/>
          </a:p>
        </p:txBody>
      </p:sp>
      <p:sp>
        <p:nvSpPr>
          <p:cNvPr id="22" name="Shape 17"/>
          <p:cNvSpPr/>
          <p:nvPr/>
        </p:nvSpPr>
        <p:spPr>
          <a:xfrm>
            <a:off x="8385048" y="2331720"/>
            <a:ext cx="3639312" cy="2606040"/>
          </a:xfrm>
          <a:prstGeom prst="roundRect">
            <a:avLst>
              <a:gd name="adj" fmla="val 4211"/>
            </a:avLst>
          </a:prstGeom>
          <a:solidFill>
            <a:srgbClr val="FFFFFF"/>
          </a:solidFill>
          <a:ln w="12700">
            <a:solidFill>
              <a:srgbClr val="E3E3E3"/>
            </a:solidFill>
            <a:prstDash val="solid"/>
          </a:ln>
        </p:spPr>
        <p:txBody>
          <a:bodyPr/>
          <a:lstStyle/>
          <a:p>
            <a:endParaRPr/>
          </a:p>
        </p:txBody>
      </p:sp>
      <p:sp>
        <p:nvSpPr>
          <p:cNvPr id="23" name="Shape 18"/>
          <p:cNvSpPr/>
          <p:nvPr/>
        </p:nvSpPr>
        <p:spPr>
          <a:xfrm>
            <a:off x="9820656" y="2587752"/>
            <a:ext cx="768096" cy="768096"/>
          </a:xfrm>
          <a:prstGeom prst="ellipse">
            <a:avLst/>
          </a:prstGeom>
          <a:solidFill>
            <a:srgbClr val="111111"/>
          </a:solidFill>
          <a:ln/>
        </p:spPr>
        <p:txBody>
          <a:bodyPr/>
          <a:lstStyle/>
          <a:p>
            <a:endParaRPr/>
          </a:p>
        </p:txBody>
      </p:sp>
      <p:sp>
        <p:nvSpPr>
          <p:cNvPr id="25" name="Text 19"/>
          <p:cNvSpPr txBox="1"/>
          <p:nvPr/>
        </p:nvSpPr>
        <p:spPr>
          <a:xfrm>
            <a:off x="8385048" y="3429000"/>
            <a:ext cx="3639312" cy="365760"/>
          </a:xfrm>
          <a:prstGeom prst="rect">
            <a:avLst/>
          </a:prstGeom>
          <a:noFill/>
          <a:ln/>
        </p:spPr>
        <p:txBody>
          <a:bodyPr wrap="square" lIns="0" tIns="0" rIns="0" bIns="0" rtlCol="0" anchor="ctr"/>
          <a:lstStyle/>
          <a:p>
            <a:pPr marL="0" indent="0" algn="ctr">
              <a:buNone/>
            </a:pPr>
            <a:r>
              <a:rPr lang="en-US" sz="1900" b="1" dirty="0">
                <a:solidFill>
                  <a:srgbClr val="0A0A0A"/>
                </a:solidFill>
                <a:latin typeface="Century Schoolbook" pitchFamily="34" charset="0"/>
                <a:ea typeface="Century Schoolbook" pitchFamily="34" charset="-122"/>
                <a:cs typeface="Century Schoolbook" pitchFamily="34" charset="-120"/>
              </a:rPr>
              <a:t>Kiosk</a:t>
            </a:r>
            <a:endParaRPr lang="en-US" sz="1900" dirty="0"/>
          </a:p>
        </p:txBody>
      </p:sp>
      <p:sp>
        <p:nvSpPr>
          <p:cNvPr id="26" name="Text 20"/>
          <p:cNvSpPr txBox="1"/>
          <p:nvPr/>
        </p:nvSpPr>
        <p:spPr>
          <a:xfrm>
            <a:off x="8677656" y="3813048"/>
            <a:ext cx="3054096" cy="658368"/>
          </a:xfrm>
          <a:prstGeom prst="rect">
            <a:avLst/>
          </a:prstGeom>
          <a:noFill/>
          <a:ln/>
        </p:spPr>
        <p:txBody>
          <a:bodyPr wrap="square" lIns="0" tIns="0" rIns="0" bIns="0" rtlCol="0" anchor="ctr"/>
          <a:lstStyle/>
          <a:p>
            <a:pPr marL="0" indent="0" algn="ctr">
              <a:lnSpc>
                <a:spcPct val="105000"/>
              </a:lnSpc>
              <a:buNone/>
            </a:pPr>
            <a:r>
              <a:rPr lang="en-US" sz="1130" dirty="0">
                <a:solidFill>
                  <a:srgbClr val="6B6B6B"/>
                </a:solidFill>
                <a:latin typeface="Calibri" pitchFamily="34" charset="0"/>
                <a:ea typeface="Calibri" pitchFamily="34" charset="-122"/>
                <a:cs typeface="Calibri" pitchFamily="34" charset="-120"/>
              </a:rPr>
              <a:t>Runs full-screen on a shared plant-floor terminal or a tablet at the gate, for people who carry no device.</a:t>
            </a:r>
            <a:endParaRPr lang="en-US" sz="1130" dirty="0"/>
          </a:p>
        </p:txBody>
      </p:sp>
      <p:sp>
        <p:nvSpPr>
          <p:cNvPr id="27" name="Shape 21"/>
          <p:cNvSpPr/>
          <p:nvPr/>
        </p:nvSpPr>
        <p:spPr>
          <a:xfrm>
            <a:off x="9025128" y="4526280"/>
            <a:ext cx="2359152" cy="0"/>
          </a:xfrm>
          <a:prstGeom prst="line">
            <a:avLst/>
          </a:prstGeom>
          <a:noFill/>
          <a:ln w="12700">
            <a:solidFill>
              <a:srgbClr val="E3E3E3"/>
            </a:solidFill>
            <a:prstDash val="solid"/>
          </a:ln>
        </p:spPr>
        <p:txBody>
          <a:bodyPr/>
          <a:lstStyle/>
          <a:p>
            <a:endParaRPr/>
          </a:p>
        </p:txBody>
      </p:sp>
      <p:sp>
        <p:nvSpPr>
          <p:cNvPr id="28" name="Text 22"/>
          <p:cNvSpPr txBox="1"/>
          <p:nvPr/>
        </p:nvSpPr>
        <p:spPr>
          <a:xfrm>
            <a:off x="8567928" y="4562856"/>
            <a:ext cx="3273552" cy="292608"/>
          </a:xfrm>
          <a:prstGeom prst="rect">
            <a:avLst/>
          </a:prstGeom>
          <a:noFill/>
          <a:ln/>
        </p:spPr>
        <p:txBody>
          <a:bodyPr wrap="square" lIns="0" tIns="0" rIns="0" bIns="0" rtlCol="0" anchor="ctr"/>
          <a:lstStyle/>
          <a:p>
            <a:pPr marL="0" indent="0" algn="ctr">
              <a:buNone/>
            </a:pPr>
            <a:r>
              <a:rPr lang="en-US" sz="1050" b="1" dirty="0">
                <a:solidFill>
                  <a:srgbClr val="3A3A3A"/>
                </a:solidFill>
                <a:latin typeface="Calibri" pitchFamily="34" charset="0"/>
                <a:ea typeface="Calibri" pitchFamily="34" charset="-122"/>
                <a:cs typeface="Calibri" pitchFamily="34" charset="-120"/>
              </a:rPr>
              <a:t>Best for: on-site crews &amp; contractors</a:t>
            </a:r>
            <a:endParaRPr lang="en-US" sz="1050" dirty="0"/>
          </a:p>
        </p:txBody>
      </p:sp>
      <p:sp>
        <p:nvSpPr>
          <p:cNvPr id="29" name="Shape 23"/>
          <p:cNvSpPr/>
          <p:nvPr/>
        </p:nvSpPr>
        <p:spPr>
          <a:xfrm>
            <a:off x="502920"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30" name="Shape 24"/>
          <p:cNvSpPr/>
          <p:nvPr/>
        </p:nvSpPr>
        <p:spPr>
          <a:xfrm>
            <a:off x="740664" y="5385816"/>
            <a:ext cx="420624" cy="420624"/>
          </a:xfrm>
          <a:prstGeom prst="ellipse">
            <a:avLst/>
          </a:prstGeom>
          <a:solidFill>
            <a:srgbClr val="111111"/>
          </a:solidFill>
          <a:ln/>
        </p:spPr>
        <p:txBody>
          <a:bodyPr/>
          <a:lstStyle/>
          <a:p>
            <a:endParaRPr/>
          </a:p>
        </p:txBody>
      </p:sp>
      <p:pic>
        <p:nvPicPr>
          <p:cNvPr id="31" name="Image 4" descr="orig/ppt/media/image24.png"/>
          <p:cNvPicPr>
            <a:picLocks noChangeAspect="1"/>
          </p:cNvPicPr>
          <p:nvPr/>
        </p:nvPicPr>
        <p:blipFill>
          <a:blip r:embed="rId6"/>
          <a:stretch>
            <a:fillRect/>
          </a:stretch>
        </p:blipFill>
        <p:spPr>
          <a:xfrm>
            <a:off x="859536" y="5509260"/>
            <a:ext cx="173736" cy="173736"/>
          </a:xfrm>
          <a:prstGeom prst="rect">
            <a:avLst/>
          </a:prstGeom>
        </p:spPr>
      </p:pic>
      <p:sp>
        <p:nvSpPr>
          <p:cNvPr id="32" name="Text 25"/>
          <p:cNvSpPr txBox="1"/>
          <p:nvPr/>
        </p:nvSpPr>
        <p:spPr>
          <a:xfrm>
            <a:off x="1234440"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24×7 cloud access</a:t>
            </a:r>
            <a:endParaRPr lang="en-US" sz="1150" dirty="0"/>
          </a:p>
        </p:txBody>
      </p:sp>
      <p:sp>
        <p:nvSpPr>
          <p:cNvPr id="33" name="Shape 26"/>
          <p:cNvSpPr/>
          <p:nvPr/>
        </p:nvSpPr>
        <p:spPr>
          <a:xfrm>
            <a:off x="3493008"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34" name="Shape 27"/>
          <p:cNvSpPr/>
          <p:nvPr/>
        </p:nvSpPr>
        <p:spPr>
          <a:xfrm>
            <a:off x="3730752" y="5385816"/>
            <a:ext cx="420624" cy="420624"/>
          </a:xfrm>
          <a:prstGeom prst="ellipse">
            <a:avLst/>
          </a:prstGeom>
          <a:solidFill>
            <a:srgbClr val="111111"/>
          </a:solidFill>
          <a:ln/>
        </p:spPr>
        <p:txBody>
          <a:bodyPr/>
          <a:lstStyle/>
          <a:p>
            <a:endParaRPr/>
          </a:p>
        </p:txBody>
      </p:sp>
      <p:pic>
        <p:nvPicPr>
          <p:cNvPr id="35" name="Image 5" descr="orig/ppt/media/image26.png"/>
          <p:cNvPicPr>
            <a:picLocks noChangeAspect="1"/>
          </p:cNvPicPr>
          <p:nvPr/>
        </p:nvPicPr>
        <p:blipFill>
          <a:blip r:embed="rId7"/>
          <a:stretch>
            <a:fillRect/>
          </a:stretch>
        </p:blipFill>
        <p:spPr>
          <a:xfrm>
            <a:off x="3849624" y="5509260"/>
            <a:ext cx="173736" cy="173736"/>
          </a:xfrm>
          <a:prstGeom prst="rect">
            <a:avLst/>
          </a:prstGeom>
        </p:spPr>
      </p:pic>
      <p:sp>
        <p:nvSpPr>
          <p:cNvPr id="36" name="Text 28"/>
          <p:cNvSpPr txBox="1"/>
          <p:nvPr/>
        </p:nvSpPr>
        <p:spPr>
          <a:xfrm>
            <a:off x="4224528"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Automatic backup, no data lost</a:t>
            </a:r>
            <a:endParaRPr lang="en-US" sz="1150" dirty="0"/>
          </a:p>
        </p:txBody>
      </p:sp>
      <p:sp>
        <p:nvSpPr>
          <p:cNvPr id="37" name="Shape 29"/>
          <p:cNvSpPr/>
          <p:nvPr/>
        </p:nvSpPr>
        <p:spPr>
          <a:xfrm>
            <a:off x="6483096"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38" name="Shape 30"/>
          <p:cNvSpPr/>
          <p:nvPr/>
        </p:nvSpPr>
        <p:spPr>
          <a:xfrm>
            <a:off x="6720840" y="5385816"/>
            <a:ext cx="420624" cy="420624"/>
          </a:xfrm>
          <a:prstGeom prst="ellipse">
            <a:avLst/>
          </a:prstGeom>
          <a:solidFill>
            <a:srgbClr val="111111"/>
          </a:solidFill>
          <a:ln/>
        </p:spPr>
        <p:txBody>
          <a:bodyPr/>
          <a:lstStyle/>
          <a:p>
            <a:endParaRPr/>
          </a:p>
        </p:txBody>
      </p:sp>
      <p:pic>
        <p:nvPicPr>
          <p:cNvPr id="39" name="Image 6" descr="orig/ppt/media/image25.png"/>
          <p:cNvPicPr>
            <a:picLocks noChangeAspect="1"/>
          </p:cNvPicPr>
          <p:nvPr/>
        </p:nvPicPr>
        <p:blipFill>
          <a:blip r:embed="rId8"/>
          <a:stretch>
            <a:fillRect/>
          </a:stretch>
        </p:blipFill>
        <p:spPr>
          <a:xfrm>
            <a:off x="6839712" y="5509260"/>
            <a:ext cx="173736" cy="173736"/>
          </a:xfrm>
          <a:prstGeom prst="rect">
            <a:avLst/>
          </a:prstGeom>
        </p:spPr>
      </p:pic>
      <p:sp>
        <p:nvSpPr>
          <p:cNvPr id="40" name="Text 31"/>
          <p:cNvSpPr txBox="1"/>
          <p:nvPr/>
        </p:nvSpPr>
        <p:spPr>
          <a:xfrm>
            <a:off x="7214616"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Secure by default</a:t>
            </a:r>
            <a:endParaRPr lang="en-US" sz="1150" dirty="0"/>
          </a:p>
        </p:txBody>
      </p:sp>
      <p:sp>
        <p:nvSpPr>
          <p:cNvPr id="41" name="Shape 32"/>
          <p:cNvSpPr/>
          <p:nvPr/>
        </p:nvSpPr>
        <p:spPr>
          <a:xfrm>
            <a:off x="9473184" y="5138928"/>
            <a:ext cx="2697480" cy="914400"/>
          </a:xfrm>
          <a:prstGeom prst="roundRect">
            <a:avLst>
              <a:gd name="adj" fmla="val 10000"/>
            </a:avLst>
          </a:prstGeom>
          <a:solidFill>
            <a:srgbClr val="F3F3F3"/>
          </a:solidFill>
          <a:ln w="12700">
            <a:solidFill>
              <a:srgbClr val="E3E3E3"/>
            </a:solidFill>
            <a:prstDash val="solid"/>
          </a:ln>
        </p:spPr>
        <p:txBody>
          <a:bodyPr/>
          <a:lstStyle/>
          <a:p>
            <a:endParaRPr/>
          </a:p>
        </p:txBody>
      </p:sp>
      <p:sp>
        <p:nvSpPr>
          <p:cNvPr id="42" name="Shape 33"/>
          <p:cNvSpPr/>
          <p:nvPr/>
        </p:nvSpPr>
        <p:spPr>
          <a:xfrm>
            <a:off x="9710928" y="5385816"/>
            <a:ext cx="420624" cy="420624"/>
          </a:xfrm>
          <a:prstGeom prst="ellipse">
            <a:avLst/>
          </a:prstGeom>
          <a:solidFill>
            <a:srgbClr val="111111"/>
          </a:solidFill>
          <a:ln/>
        </p:spPr>
        <p:txBody>
          <a:bodyPr/>
          <a:lstStyle/>
          <a:p>
            <a:endParaRPr/>
          </a:p>
        </p:txBody>
      </p:sp>
      <p:pic>
        <p:nvPicPr>
          <p:cNvPr id="43" name="Image 7" descr="orig/ppt/media/image42.png"/>
          <p:cNvPicPr>
            <a:picLocks noChangeAspect="1"/>
          </p:cNvPicPr>
          <p:nvPr/>
        </p:nvPicPr>
        <p:blipFill>
          <a:blip r:embed="rId9"/>
          <a:stretch>
            <a:fillRect/>
          </a:stretch>
        </p:blipFill>
        <p:spPr>
          <a:xfrm>
            <a:off x="9829800" y="5509260"/>
            <a:ext cx="173736" cy="173736"/>
          </a:xfrm>
          <a:prstGeom prst="rect">
            <a:avLst/>
          </a:prstGeom>
        </p:spPr>
      </p:pic>
      <p:sp>
        <p:nvSpPr>
          <p:cNvPr id="44" name="Text 34"/>
          <p:cNvSpPr txBox="1"/>
          <p:nvPr/>
        </p:nvSpPr>
        <p:spPr>
          <a:xfrm>
            <a:off x="10204704" y="5184648"/>
            <a:ext cx="1783080" cy="822960"/>
          </a:xfrm>
          <a:prstGeom prst="rect">
            <a:avLst/>
          </a:prstGeom>
          <a:noFill/>
          <a:ln/>
        </p:spPr>
        <p:txBody>
          <a:bodyPr wrap="square" lIns="0" tIns="0" rIns="0" bIns="0" rtlCol="0" anchor="ctr"/>
          <a:lstStyle/>
          <a:p>
            <a:pPr marL="0" indent="0">
              <a:lnSpc>
                <a:spcPct val="100000"/>
              </a:lnSpc>
              <a:buNone/>
            </a:pPr>
            <a:r>
              <a:rPr lang="en-US" sz="1150" b="1" dirty="0">
                <a:solidFill>
                  <a:srgbClr val="0A0A0A"/>
                </a:solidFill>
                <a:latin typeface="Calibri" pitchFamily="34" charset="0"/>
                <a:ea typeface="Calibri" pitchFamily="34" charset="-122"/>
                <a:cs typeface="Calibri" pitchFamily="34" charset="-120"/>
              </a:rPr>
              <a:t>On-premise setup supported</a:t>
            </a:r>
            <a:endParaRPr lang="en-US" sz="1150" dirty="0"/>
          </a:p>
        </p:txBody>
      </p:sp>
      <p:pic>
        <p:nvPicPr>
          <p:cNvPr id="45" name="Picture 44" descr="image.png"/>
          <p:cNvPicPr>
            <a:picLocks noChangeAspect="1"/>
          </p:cNvPicPr>
          <p:nvPr/>
        </p:nvPicPr>
        <p:blipFill>
          <a:blip r:embed="rId4"/>
          <a:stretch>
            <a:fillRect/>
          </a:stretch>
        </p:blipFill>
        <p:spPr>
          <a:xfrm>
            <a:off x="10049256" y="2816352"/>
            <a:ext cx="320040" cy="320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THE MOBILE APP</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Both products, in one app</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A real iOS and Android app, not a shrunken website: the permit wizard, the lockout, the gate scanner and the evacuation roll all work where the work is. Both products live in it, and switching between them takes a tap.</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19</a:t>
            </a:r>
            <a:endParaRPr lang="en-US" sz="900" dirty="0"/>
          </a:p>
        </p:txBody>
      </p:sp>
      <p:sp>
        <p:nvSpPr>
          <p:cNvPr id="8" name="Shape 5"/>
          <p:cNvSpPr/>
          <p:nvPr/>
        </p:nvSpPr>
        <p:spPr>
          <a:xfrm>
            <a:off x="502920"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566928" cy="566928"/>
          </a:xfrm>
          <a:prstGeom prst="ellipse">
            <a:avLst/>
          </a:prstGeom>
          <a:solidFill>
            <a:srgbClr val="EFEFEF"/>
          </a:solidFill>
          <a:ln/>
        </p:spPr>
        <p:txBody>
          <a:bodyPr/>
          <a:lstStyle/>
          <a:p>
            <a:endParaRPr/>
          </a:p>
        </p:txBody>
      </p:sp>
      <p:pic>
        <p:nvPicPr>
          <p:cNvPr id="10" name="Image 1" descr="icons/phone-navy.png"/>
          <p:cNvPicPr>
            <a:picLocks noChangeAspect="1"/>
          </p:cNvPicPr>
          <p:nvPr/>
        </p:nvPicPr>
        <p:blipFill>
          <a:blip r:embed="rId4"/>
          <a:stretch>
            <a:fillRect/>
          </a:stretch>
        </p:blipFill>
        <p:spPr>
          <a:xfrm>
            <a:off x="987369" y="2706441"/>
            <a:ext cx="238110" cy="238110"/>
          </a:xfrm>
          <a:prstGeom prst="rect">
            <a:avLst/>
          </a:prstGeom>
        </p:spPr>
      </p:pic>
      <p:sp>
        <p:nvSpPr>
          <p:cNvPr id="11" name="Text 7"/>
          <p:cNvSpPr txBox="1"/>
          <p:nvPr/>
        </p:nvSpPr>
        <p:spPr>
          <a:xfrm>
            <a:off x="1554480"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Permit in the field</a:t>
            </a:r>
            <a:endParaRPr lang="en-US" sz="1700" dirty="0"/>
          </a:p>
        </p:txBody>
      </p:sp>
      <p:sp>
        <p:nvSpPr>
          <p:cNvPr id="12" name="Shape 8"/>
          <p:cNvSpPr/>
          <p:nvPr/>
        </p:nvSpPr>
        <p:spPr>
          <a:xfrm>
            <a:off x="886968" y="3245205"/>
            <a:ext cx="118872" cy="118872"/>
          </a:xfrm>
          <a:prstGeom prst="ellipse">
            <a:avLst/>
          </a:prstGeom>
          <a:solidFill>
            <a:srgbClr val="C9922E"/>
          </a:solidFill>
          <a:ln/>
        </p:spPr>
        <p:txBody>
          <a:bodyPr/>
          <a:lstStyle/>
          <a:p>
            <a:endParaRPr/>
          </a:p>
        </p:txBody>
      </p:sp>
      <p:sp>
        <p:nvSpPr>
          <p:cNvPr id="13" name="Text 9"/>
          <p:cNvSpPr txBox="1"/>
          <p:nvPr/>
        </p:nvSpPr>
        <p:spPr>
          <a:xfrm>
            <a:off x="1161288" y="321868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Raise a permit</a:t>
            </a:r>
            <a:r>
              <a:rPr lang="en-US" sz="1180" dirty="0">
                <a:solidFill>
                  <a:srgbClr val="6B6B6B"/>
                </a:solidFill>
                <a:latin typeface="Calibri" pitchFamily="34" charset="0"/>
                <a:ea typeface="Calibri" pitchFamily="34" charset="-122"/>
                <a:cs typeface="Calibri" pitchFamily="34" charset="-120"/>
              </a:rPr>
              <a:t>  the same guided wizard, wherever the job is</a:t>
            </a:r>
            <a:endParaRPr lang="en-US" sz="1180" dirty="0"/>
          </a:p>
        </p:txBody>
      </p:sp>
      <p:sp>
        <p:nvSpPr>
          <p:cNvPr id="14" name="Shape 10"/>
          <p:cNvSpPr/>
          <p:nvPr/>
        </p:nvSpPr>
        <p:spPr>
          <a:xfrm>
            <a:off x="886968" y="3546957"/>
            <a:ext cx="118872" cy="118872"/>
          </a:xfrm>
          <a:prstGeom prst="ellipse">
            <a:avLst/>
          </a:prstGeom>
          <a:solidFill>
            <a:srgbClr val="C9922E"/>
          </a:solidFill>
          <a:ln/>
        </p:spPr>
        <p:txBody>
          <a:bodyPr/>
          <a:lstStyle/>
          <a:p>
            <a:endParaRPr/>
          </a:p>
        </p:txBody>
      </p:sp>
      <p:sp>
        <p:nvSpPr>
          <p:cNvPr id="15" name="Text 11"/>
          <p:cNvSpPr txBox="1"/>
          <p:nvPr/>
        </p:nvSpPr>
        <p:spPr>
          <a:xfrm>
            <a:off x="1161288" y="352044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Approve with your signature</a:t>
            </a:r>
            <a:r>
              <a:rPr lang="en-US" sz="1180" dirty="0">
                <a:solidFill>
                  <a:srgbClr val="6B6B6B"/>
                </a:solidFill>
                <a:latin typeface="Calibri" pitchFamily="34" charset="0"/>
                <a:ea typeface="Calibri" pitchFamily="34" charset="-122"/>
                <a:cs typeface="Calibri" pitchFamily="34" charset="-120"/>
              </a:rPr>
              <a:t>  sign on the screen; approving needs it, rejecting never does</a:t>
            </a:r>
            <a:endParaRPr lang="en-US" sz="1180" dirty="0"/>
          </a:p>
        </p:txBody>
      </p:sp>
      <p:sp>
        <p:nvSpPr>
          <p:cNvPr id="16" name="Shape 12"/>
          <p:cNvSpPr/>
          <p:nvPr/>
        </p:nvSpPr>
        <p:spPr>
          <a:xfrm>
            <a:off x="886968" y="4031589"/>
            <a:ext cx="118872" cy="118872"/>
          </a:xfrm>
          <a:prstGeom prst="ellipse">
            <a:avLst/>
          </a:prstGeom>
          <a:solidFill>
            <a:srgbClr val="C9922E"/>
          </a:solidFill>
          <a:ln/>
        </p:spPr>
        <p:txBody>
          <a:bodyPr/>
          <a:lstStyle/>
          <a:p>
            <a:endParaRPr/>
          </a:p>
        </p:txBody>
      </p:sp>
      <p:sp>
        <p:nvSpPr>
          <p:cNvPr id="17" name="Text 13"/>
          <p:cNvSpPr txBox="1"/>
          <p:nvPr/>
        </p:nvSpPr>
        <p:spPr>
          <a:xfrm>
            <a:off x="1161288" y="400507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Fill the section you own</a:t>
            </a:r>
            <a:r>
              <a:rPr lang="en-US" sz="1180" dirty="0">
                <a:solidFill>
                  <a:srgbClr val="6B6B6B"/>
                </a:solidFill>
                <a:latin typeface="Calibri" pitchFamily="34" charset="0"/>
                <a:ea typeface="Calibri" pitchFamily="34" charset="-122"/>
                <a:cs typeface="Calibri" pitchFamily="34" charset="-120"/>
              </a:rPr>
              <a:t>  the executor fills their part without hunting for a desk</a:t>
            </a:r>
            <a:endParaRPr lang="en-US" sz="1180" dirty="0"/>
          </a:p>
        </p:txBody>
      </p:sp>
      <p:sp>
        <p:nvSpPr>
          <p:cNvPr id="18" name="Shape 14"/>
          <p:cNvSpPr/>
          <p:nvPr/>
        </p:nvSpPr>
        <p:spPr>
          <a:xfrm>
            <a:off x="886968" y="4516221"/>
            <a:ext cx="118872" cy="118872"/>
          </a:xfrm>
          <a:prstGeom prst="ellipse">
            <a:avLst/>
          </a:prstGeom>
          <a:solidFill>
            <a:srgbClr val="C9922E"/>
          </a:solidFill>
          <a:ln/>
        </p:spPr>
        <p:txBody>
          <a:bodyPr/>
          <a:lstStyle/>
          <a:p>
            <a:endParaRPr/>
          </a:p>
        </p:txBody>
      </p:sp>
      <p:sp>
        <p:nvSpPr>
          <p:cNvPr id="19" name="Text 15"/>
          <p:cNvSpPr txBox="1"/>
          <p:nvPr/>
        </p:nvSpPr>
        <p:spPr>
          <a:xfrm>
            <a:off x="1161288" y="4489704"/>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Run a lockout</a:t>
            </a:r>
            <a:r>
              <a:rPr lang="en-US" sz="1180" dirty="0">
                <a:solidFill>
                  <a:srgbClr val="6B6B6B"/>
                </a:solidFill>
                <a:latin typeface="Calibri" pitchFamily="34" charset="0"/>
                <a:ea typeface="Calibri" pitchFamily="34" charset="-122"/>
                <a:cs typeface="Calibri" pitchFamily="34" charset="-120"/>
              </a:rPr>
              <a:t>  apply, verify and release, with the photo at each end</a:t>
            </a:r>
            <a:endParaRPr lang="en-US" sz="1180" dirty="0"/>
          </a:p>
        </p:txBody>
      </p:sp>
      <p:sp>
        <p:nvSpPr>
          <p:cNvPr id="20" name="Shape 16"/>
          <p:cNvSpPr/>
          <p:nvPr/>
        </p:nvSpPr>
        <p:spPr>
          <a:xfrm>
            <a:off x="886968" y="4817973"/>
            <a:ext cx="118872" cy="118872"/>
          </a:xfrm>
          <a:prstGeom prst="ellipse">
            <a:avLst/>
          </a:prstGeom>
          <a:solidFill>
            <a:srgbClr val="C9922E"/>
          </a:solidFill>
          <a:ln/>
        </p:spPr>
        <p:txBody>
          <a:bodyPr/>
          <a:lstStyle/>
          <a:p>
            <a:endParaRPr/>
          </a:p>
        </p:txBody>
      </p:sp>
      <p:sp>
        <p:nvSpPr>
          <p:cNvPr id="21" name="Text 17"/>
          <p:cNvSpPr txBox="1"/>
          <p:nvPr/>
        </p:nvSpPr>
        <p:spPr>
          <a:xfrm>
            <a:off x="1161288" y="4791456"/>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Scan an equipment QR</a:t>
            </a:r>
            <a:r>
              <a:rPr lang="en-US" sz="1180" dirty="0">
                <a:solidFill>
                  <a:srgbClr val="6B6B6B"/>
                </a:solidFill>
                <a:latin typeface="Calibri" pitchFamily="34" charset="0"/>
                <a:ea typeface="Calibri" pitchFamily="34" charset="-122"/>
                <a:cs typeface="Calibri" pitchFamily="34" charset="-120"/>
              </a:rPr>
              <a:t>  the camera opens the asset and its history</a:t>
            </a:r>
            <a:endParaRPr lang="en-US" sz="1180" dirty="0"/>
          </a:p>
        </p:txBody>
      </p:sp>
      <p:sp>
        <p:nvSpPr>
          <p:cNvPr id="22" name="Shape 18"/>
          <p:cNvSpPr/>
          <p:nvPr/>
        </p:nvSpPr>
        <p:spPr>
          <a:xfrm>
            <a:off x="886968" y="5119725"/>
            <a:ext cx="118872" cy="118872"/>
          </a:xfrm>
          <a:prstGeom prst="ellipse">
            <a:avLst/>
          </a:prstGeom>
          <a:solidFill>
            <a:srgbClr val="C9922E"/>
          </a:solidFill>
          <a:ln/>
        </p:spPr>
        <p:txBody>
          <a:bodyPr/>
          <a:lstStyle/>
          <a:p>
            <a:endParaRPr/>
          </a:p>
        </p:txBody>
      </p:sp>
      <p:sp>
        <p:nvSpPr>
          <p:cNvPr id="23" name="Text 19"/>
          <p:cNvSpPr txBox="1"/>
          <p:nvPr/>
        </p:nvSpPr>
        <p:spPr>
          <a:xfrm>
            <a:off x="1161288" y="509320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printed permit</a:t>
            </a:r>
            <a:r>
              <a:rPr lang="en-US" sz="1180" dirty="0">
                <a:solidFill>
                  <a:srgbClr val="6B6B6B"/>
                </a:solidFill>
                <a:latin typeface="Calibri" pitchFamily="34" charset="0"/>
                <a:ea typeface="Calibri" pitchFamily="34" charset="-122"/>
                <a:cs typeface="Calibri" pitchFamily="34" charset="-120"/>
              </a:rPr>
              <a:t>  the issued document and the LOTO form, on the phone</a:t>
            </a:r>
            <a:endParaRPr lang="en-US" sz="1180" dirty="0"/>
          </a:p>
        </p:txBody>
      </p:sp>
      <p:sp>
        <p:nvSpPr>
          <p:cNvPr id="24" name="Shape 20"/>
          <p:cNvSpPr/>
          <p:nvPr/>
        </p:nvSpPr>
        <p:spPr>
          <a:xfrm>
            <a:off x="886968" y="5604357"/>
            <a:ext cx="118872" cy="118872"/>
          </a:xfrm>
          <a:prstGeom prst="ellipse">
            <a:avLst/>
          </a:prstGeom>
          <a:solidFill>
            <a:srgbClr val="C9922E"/>
          </a:solidFill>
          <a:ln/>
        </p:spPr>
        <p:txBody>
          <a:bodyPr/>
          <a:lstStyle/>
          <a:p>
            <a:endParaRPr/>
          </a:p>
        </p:txBody>
      </p:sp>
      <p:sp>
        <p:nvSpPr>
          <p:cNvPr id="25" name="Text 21"/>
          <p:cNvSpPr txBox="1"/>
          <p:nvPr/>
        </p:nvSpPr>
        <p:spPr>
          <a:xfrm>
            <a:off x="1161288" y="557784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Push alerts</a:t>
            </a:r>
            <a:r>
              <a:rPr lang="en-US" sz="1180" dirty="0">
                <a:solidFill>
                  <a:srgbClr val="6B6B6B"/>
                </a:solidFill>
                <a:latin typeface="Calibri" pitchFamily="34" charset="0"/>
                <a:ea typeface="Calibri" pitchFamily="34" charset="-122"/>
                <a:cs typeface="Calibri" pitchFamily="34" charset="-120"/>
              </a:rPr>
              <a:t>  when a permit needs you, it reaches you</a:t>
            </a:r>
            <a:endParaRPr lang="en-US" sz="1180" dirty="0"/>
          </a:p>
        </p:txBody>
      </p:sp>
      <p:sp>
        <p:nvSpPr>
          <p:cNvPr id="26" name="Shape 22"/>
          <p:cNvSpPr/>
          <p:nvPr/>
        </p:nvSpPr>
        <p:spPr>
          <a:xfrm>
            <a:off x="6199632"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27" name="Shape 23"/>
          <p:cNvSpPr/>
          <p:nvPr/>
        </p:nvSpPr>
        <p:spPr>
          <a:xfrm>
            <a:off x="6519672" y="2542032"/>
            <a:ext cx="566928" cy="566928"/>
          </a:xfrm>
          <a:prstGeom prst="ellipse">
            <a:avLst/>
          </a:prstGeom>
          <a:solidFill>
            <a:srgbClr val="EFEFEF"/>
          </a:solidFill>
          <a:ln/>
        </p:spPr>
        <p:txBody>
          <a:bodyPr/>
          <a:lstStyle/>
          <a:p>
            <a:endParaRPr/>
          </a:p>
        </p:txBody>
      </p:sp>
      <p:pic>
        <p:nvPicPr>
          <p:cNvPr id="28" name="Image 2" descr="icons/qr-navy.png"/>
          <p:cNvPicPr>
            <a:picLocks noChangeAspect="1"/>
          </p:cNvPicPr>
          <p:nvPr/>
        </p:nvPicPr>
        <p:blipFill>
          <a:blip r:embed="rId5"/>
          <a:stretch>
            <a:fillRect/>
          </a:stretch>
        </p:blipFill>
        <p:spPr>
          <a:xfrm>
            <a:off x="6684081" y="2706441"/>
            <a:ext cx="238110" cy="238110"/>
          </a:xfrm>
          <a:prstGeom prst="rect">
            <a:avLst/>
          </a:prstGeom>
        </p:spPr>
      </p:pic>
      <p:sp>
        <p:nvSpPr>
          <p:cNvPr id="29" name="Text 24"/>
          <p:cNvSpPr txBox="1"/>
          <p:nvPr/>
        </p:nvSpPr>
        <p:spPr>
          <a:xfrm>
            <a:off x="7251192"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EntryHub in your hand</a:t>
            </a:r>
            <a:endParaRPr lang="en-US" sz="1700" dirty="0"/>
          </a:p>
        </p:txBody>
      </p:sp>
      <p:sp>
        <p:nvSpPr>
          <p:cNvPr id="30" name="Shape 25"/>
          <p:cNvSpPr/>
          <p:nvPr/>
        </p:nvSpPr>
        <p:spPr>
          <a:xfrm>
            <a:off x="6583680" y="3245205"/>
            <a:ext cx="118872" cy="118872"/>
          </a:xfrm>
          <a:prstGeom prst="ellipse">
            <a:avLst/>
          </a:prstGeom>
          <a:solidFill>
            <a:srgbClr val="C9922E"/>
          </a:solidFill>
          <a:ln/>
        </p:spPr>
        <p:txBody>
          <a:bodyPr/>
          <a:lstStyle/>
          <a:p>
            <a:endParaRPr/>
          </a:p>
        </p:txBody>
      </p:sp>
      <p:sp>
        <p:nvSpPr>
          <p:cNvPr id="31" name="Text 26"/>
          <p:cNvSpPr txBox="1"/>
          <p:nvPr/>
        </p:nvSpPr>
        <p:spPr>
          <a:xfrm>
            <a:off x="6858000"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gate in your pocket</a:t>
            </a:r>
            <a:r>
              <a:rPr lang="en-US" sz="1180" dirty="0">
                <a:solidFill>
                  <a:srgbClr val="6B6B6B"/>
                </a:solidFill>
                <a:latin typeface="Calibri" pitchFamily="34" charset="0"/>
                <a:ea typeface="Calibri" pitchFamily="34" charset="-122"/>
                <a:cs typeface="Calibri" pitchFamily="34" charset="-120"/>
              </a:rPr>
              <a:t>  scan a pass with the camera and record the movement</a:t>
            </a:r>
            <a:endParaRPr lang="en-US" sz="1180" dirty="0"/>
          </a:p>
        </p:txBody>
      </p:sp>
      <p:sp>
        <p:nvSpPr>
          <p:cNvPr id="32" name="Shape 27"/>
          <p:cNvSpPr/>
          <p:nvPr/>
        </p:nvSpPr>
        <p:spPr>
          <a:xfrm>
            <a:off x="6583680" y="3729837"/>
            <a:ext cx="118872" cy="118872"/>
          </a:xfrm>
          <a:prstGeom prst="ellipse">
            <a:avLst/>
          </a:prstGeom>
          <a:solidFill>
            <a:srgbClr val="C9922E"/>
          </a:solidFill>
          <a:ln/>
        </p:spPr>
        <p:txBody>
          <a:bodyPr/>
          <a:lstStyle/>
          <a:p>
            <a:endParaRPr/>
          </a:p>
        </p:txBody>
      </p:sp>
      <p:sp>
        <p:nvSpPr>
          <p:cNvPr id="33" name="Text 28"/>
          <p:cNvSpPr txBox="1"/>
          <p:nvPr/>
        </p:nvSpPr>
        <p:spPr>
          <a:xfrm>
            <a:off x="6858000" y="370332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Inside now, live</a:t>
            </a:r>
            <a:r>
              <a:rPr lang="en-US" sz="1180" dirty="0">
                <a:solidFill>
                  <a:srgbClr val="6B6B6B"/>
                </a:solidFill>
                <a:latin typeface="Calibri" pitchFamily="34" charset="0"/>
                <a:ea typeface="Calibri" pitchFamily="34" charset="-122"/>
                <a:cs typeface="Calibri" pitchFamily="34" charset="-120"/>
              </a:rPr>
              <a:t>  the board and the entry log, on the phone</a:t>
            </a:r>
            <a:endParaRPr lang="en-US" sz="1180" dirty="0"/>
          </a:p>
        </p:txBody>
      </p:sp>
      <p:sp>
        <p:nvSpPr>
          <p:cNvPr id="34" name="Shape 29"/>
          <p:cNvSpPr/>
          <p:nvPr/>
        </p:nvSpPr>
        <p:spPr>
          <a:xfrm>
            <a:off x="6583680" y="4031589"/>
            <a:ext cx="118872" cy="118872"/>
          </a:xfrm>
          <a:prstGeom prst="ellipse">
            <a:avLst/>
          </a:prstGeom>
          <a:solidFill>
            <a:srgbClr val="C9922E"/>
          </a:solidFill>
          <a:ln/>
        </p:spPr>
        <p:txBody>
          <a:bodyPr/>
          <a:lstStyle/>
          <a:p>
            <a:endParaRPr/>
          </a:p>
        </p:txBody>
      </p:sp>
      <p:sp>
        <p:nvSpPr>
          <p:cNvPr id="35" name="Text 30"/>
          <p:cNvSpPr txBox="1"/>
          <p:nvPr/>
        </p:nvSpPr>
        <p:spPr>
          <a:xfrm>
            <a:off x="6858000" y="4005072"/>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Book and admit</a:t>
            </a:r>
            <a:r>
              <a:rPr lang="en-US" sz="1180" dirty="0">
                <a:solidFill>
                  <a:srgbClr val="6B6B6B"/>
                </a:solidFill>
                <a:latin typeface="Calibri" pitchFamily="34" charset="0"/>
                <a:ea typeface="Calibri" pitchFamily="34" charset="-122"/>
                <a:cs typeface="Calibri" pitchFamily="34" charset="-120"/>
              </a:rPr>
              <a:t>  book a visit, capture a walk-in, issue a pass from the app</a:t>
            </a:r>
            <a:endParaRPr lang="en-US" sz="1180" dirty="0"/>
          </a:p>
        </p:txBody>
      </p:sp>
      <p:sp>
        <p:nvSpPr>
          <p:cNvPr id="36" name="Shape 31"/>
          <p:cNvSpPr/>
          <p:nvPr/>
        </p:nvSpPr>
        <p:spPr>
          <a:xfrm>
            <a:off x="6583680" y="4333341"/>
            <a:ext cx="118872" cy="118872"/>
          </a:xfrm>
          <a:prstGeom prst="ellipse">
            <a:avLst/>
          </a:prstGeom>
          <a:solidFill>
            <a:srgbClr val="C9922E"/>
          </a:solidFill>
          <a:ln/>
        </p:spPr>
        <p:txBody>
          <a:bodyPr/>
          <a:lstStyle/>
          <a:p>
            <a:endParaRPr/>
          </a:p>
        </p:txBody>
      </p:sp>
      <p:sp>
        <p:nvSpPr>
          <p:cNvPr id="37" name="Text 32"/>
          <p:cNvSpPr txBox="1"/>
          <p:nvPr/>
        </p:nvSpPr>
        <p:spPr>
          <a:xfrm>
            <a:off x="6858000" y="4306824"/>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evacuation roll</a:t>
            </a:r>
            <a:r>
              <a:rPr lang="en-US" sz="1180" dirty="0">
                <a:solidFill>
                  <a:srgbClr val="6B6B6B"/>
                </a:solidFill>
                <a:latin typeface="Calibri" pitchFamily="34" charset="0"/>
                <a:ea typeface="Calibri" pitchFamily="34" charset="-122"/>
                <a:cs typeface="Calibri" pitchFamily="34" charset="-120"/>
              </a:rPr>
              <a:t>  ticked off at the assembly point, where the muster actually happens</a:t>
            </a:r>
            <a:endParaRPr lang="en-US" sz="1180" dirty="0"/>
          </a:p>
        </p:txBody>
      </p:sp>
      <p:sp>
        <p:nvSpPr>
          <p:cNvPr id="38" name="Shape 33"/>
          <p:cNvSpPr/>
          <p:nvPr/>
        </p:nvSpPr>
        <p:spPr>
          <a:xfrm>
            <a:off x="6583680" y="4817973"/>
            <a:ext cx="118872" cy="118872"/>
          </a:xfrm>
          <a:prstGeom prst="ellipse">
            <a:avLst/>
          </a:prstGeom>
          <a:solidFill>
            <a:srgbClr val="C9922E"/>
          </a:solidFill>
          <a:ln/>
        </p:spPr>
        <p:txBody>
          <a:bodyPr/>
          <a:lstStyle/>
          <a:p>
            <a:endParaRPr/>
          </a:p>
        </p:txBody>
      </p:sp>
      <p:sp>
        <p:nvSpPr>
          <p:cNvPr id="39" name="Text 34"/>
          <p:cNvSpPr txBox="1"/>
          <p:nvPr/>
        </p:nvSpPr>
        <p:spPr>
          <a:xfrm>
            <a:off x="6858000" y="4791456"/>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Firms and workers</a:t>
            </a:r>
            <a:r>
              <a:rPr lang="en-US" sz="1180" dirty="0">
                <a:solidFill>
                  <a:srgbClr val="6B6B6B"/>
                </a:solidFill>
                <a:latin typeface="Calibri" pitchFamily="34" charset="0"/>
                <a:ea typeface="Calibri" pitchFamily="34" charset="-122"/>
                <a:cs typeface="Calibri" pitchFamily="34" charset="-120"/>
              </a:rPr>
              <a:t>  the roll, the papers and the expiries, on site</a:t>
            </a:r>
            <a:endParaRPr lang="en-US" sz="1180" dirty="0"/>
          </a:p>
        </p:txBody>
      </p:sp>
      <p:sp>
        <p:nvSpPr>
          <p:cNvPr id="40" name="Shape 35"/>
          <p:cNvSpPr/>
          <p:nvPr/>
        </p:nvSpPr>
        <p:spPr>
          <a:xfrm>
            <a:off x="6583680" y="5119725"/>
            <a:ext cx="118872" cy="118872"/>
          </a:xfrm>
          <a:prstGeom prst="ellipse">
            <a:avLst/>
          </a:prstGeom>
          <a:solidFill>
            <a:srgbClr val="C9922E"/>
          </a:solidFill>
          <a:ln/>
        </p:spPr>
        <p:txBody>
          <a:bodyPr/>
          <a:lstStyle/>
          <a:p>
            <a:endParaRPr/>
          </a:p>
        </p:txBody>
      </p:sp>
      <p:sp>
        <p:nvSpPr>
          <p:cNvPr id="41" name="Text 36"/>
          <p:cNvSpPr txBox="1"/>
          <p:nvPr/>
        </p:nvSpPr>
        <p:spPr>
          <a:xfrm>
            <a:off x="6858000" y="509320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One app, both products</a:t>
            </a:r>
            <a:r>
              <a:rPr lang="en-US" sz="1180" dirty="0">
                <a:solidFill>
                  <a:srgbClr val="6B6B6B"/>
                </a:solidFill>
                <a:latin typeface="Calibri" pitchFamily="34" charset="0"/>
                <a:ea typeface="Calibri" pitchFamily="34" charset="-122"/>
                <a:cs typeface="Calibri" pitchFamily="34" charset="-120"/>
              </a:rPr>
              <a:t>  switch without signing in again</a:t>
            </a:r>
            <a:endParaRPr lang="en-US" sz="1180" dirty="0"/>
          </a:p>
        </p:txBody>
      </p:sp>
      <p:sp>
        <p:nvSpPr>
          <p:cNvPr id="42" name="Shape 37"/>
          <p:cNvSpPr/>
          <p:nvPr/>
        </p:nvSpPr>
        <p:spPr>
          <a:xfrm>
            <a:off x="6583680" y="5421477"/>
            <a:ext cx="118872" cy="118872"/>
          </a:xfrm>
          <a:prstGeom prst="ellipse">
            <a:avLst/>
          </a:prstGeom>
          <a:solidFill>
            <a:srgbClr val="C9922E"/>
          </a:solidFill>
          <a:ln/>
        </p:spPr>
        <p:txBody>
          <a:bodyPr/>
          <a:lstStyle/>
          <a:p>
            <a:endParaRPr/>
          </a:p>
        </p:txBody>
      </p:sp>
      <p:sp>
        <p:nvSpPr>
          <p:cNvPr id="43" name="Text 38"/>
          <p:cNvSpPr txBox="1"/>
          <p:nvPr/>
        </p:nvSpPr>
        <p:spPr>
          <a:xfrm>
            <a:off x="6858000" y="539496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Android, iOS and web</a:t>
            </a:r>
            <a:r>
              <a:rPr lang="en-US" sz="1180" dirty="0">
                <a:solidFill>
                  <a:srgbClr val="6B6B6B"/>
                </a:solidFill>
                <a:latin typeface="Calibri" pitchFamily="34" charset="0"/>
                <a:ea typeface="Calibri" pitchFamily="34" charset="-122"/>
                <a:cs typeface="Calibri" pitchFamily="34" charset="-120"/>
              </a:rPr>
              <a:t>  one codebase, so every screen stays in step</a:t>
            </a:r>
            <a:endParaRPr lang="en-US" sz="11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REPORTING &amp; ANALYTICS</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Any report your team needs</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A report is a saved definition, not a hard-coded page. Pick a subject, the numbers, the way to slice them and the columns, then save it beside the standard ones and everything is scoped on the server, so nobody totals a plant they cannot reach.</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20</a:t>
            </a:r>
            <a:endParaRPr lang="en-US" sz="900" dirty="0"/>
          </a:p>
        </p:txBody>
      </p:sp>
      <p:sp>
        <p:nvSpPr>
          <p:cNvPr id="8" name="Shape 5"/>
          <p:cNvSpPr/>
          <p:nvPr/>
        </p:nvSpPr>
        <p:spPr>
          <a:xfrm>
            <a:off x="502920"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566928" cy="566928"/>
          </a:xfrm>
          <a:prstGeom prst="ellipse">
            <a:avLst/>
          </a:prstGeom>
          <a:solidFill>
            <a:srgbClr val="EFEFEF"/>
          </a:solidFill>
          <a:ln/>
        </p:spPr>
        <p:txBody>
          <a:bodyPr/>
          <a:lstStyle/>
          <a:p>
            <a:endParaRPr/>
          </a:p>
        </p:txBody>
      </p:sp>
      <p:pic>
        <p:nvPicPr>
          <p:cNvPr id="10" name="Image 1" descr="orig/ppt/media/image17.png"/>
          <p:cNvPicPr>
            <a:picLocks noChangeAspect="1"/>
          </p:cNvPicPr>
          <p:nvPr/>
        </p:nvPicPr>
        <p:blipFill>
          <a:blip r:embed="rId4"/>
          <a:stretch>
            <a:fillRect/>
          </a:stretch>
        </p:blipFill>
        <p:spPr>
          <a:xfrm>
            <a:off x="987369" y="2706441"/>
            <a:ext cx="238110" cy="238110"/>
          </a:xfrm>
          <a:prstGeom prst="rect">
            <a:avLst/>
          </a:prstGeom>
        </p:spPr>
      </p:pic>
      <p:sp>
        <p:nvSpPr>
          <p:cNvPr id="11" name="Text 7"/>
          <p:cNvSpPr txBox="1"/>
          <p:nvPr/>
        </p:nvSpPr>
        <p:spPr>
          <a:xfrm>
            <a:off x="1554480"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The permit report builder</a:t>
            </a:r>
            <a:endParaRPr lang="en-US" sz="1700" dirty="0"/>
          </a:p>
        </p:txBody>
      </p:sp>
      <p:sp>
        <p:nvSpPr>
          <p:cNvPr id="12" name="Shape 8"/>
          <p:cNvSpPr/>
          <p:nvPr/>
        </p:nvSpPr>
        <p:spPr>
          <a:xfrm>
            <a:off x="886968" y="3245205"/>
            <a:ext cx="118872" cy="118872"/>
          </a:xfrm>
          <a:prstGeom prst="ellipse">
            <a:avLst/>
          </a:prstGeom>
          <a:solidFill>
            <a:srgbClr val="C9922E"/>
          </a:solidFill>
          <a:ln/>
        </p:spPr>
        <p:txBody>
          <a:bodyPr/>
          <a:lstStyle/>
          <a:p>
            <a:endParaRPr/>
          </a:p>
        </p:txBody>
      </p:sp>
      <p:sp>
        <p:nvSpPr>
          <p:cNvPr id="13" name="Text 9"/>
          <p:cNvSpPr txBox="1"/>
          <p:nvPr/>
        </p:nvSpPr>
        <p:spPr>
          <a:xfrm>
            <a:off x="1161288"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Pick a subject</a:t>
            </a:r>
            <a:r>
              <a:rPr lang="en-US" sz="1180" dirty="0">
                <a:solidFill>
                  <a:srgbClr val="6B6B6B"/>
                </a:solidFill>
                <a:latin typeface="Calibri" pitchFamily="34" charset="0"/>
                <a:ea typeface="Calibri" pitchFamily="34" charset="-122"/>
                <a:cs typeface="Calibri" pitchFamily="34" charset="-120"/>
              </a:rPr>
              <a:t>  permits, approvals, isolations, equipment, contractors or the audit trail</a:t>
            </a:r>
            <a:endParaRPr lang="en-US" sz="1180" dirty="0"/>
          </a:p>
        </p:txBody>
      </p:sp>
      <p:sp>
        <p:nvSpPr>
          <p:cNvPr id="14" name="Shape 10"/>
          <p:cNvSpPr/>
          <p:nvPr/>
        </p:nvSpPr>
        <p:spPr>
          <a:xfrm>
            <a:off x="886968" y="3729837"/>
            <a:ext cx="118872" cy="118872"/>
          </a:xfrm>
          <a:prstGeom prst="ellipse">
            <a:avLst/>
          </a:prstGeom>
          <a:solidFill>
            <a:srgbClr val="C9922E"/>
          </a:solidFill>
          <a:ln/>
        </p:spPr>
        <p:txBody>
          <a:bodyPr/>
          <a:lstStyle/>
          <a:p>
            <a:endParaRPr/>
          </a:p>
        </p:txBody>
      </p:sp>
      <p:sp>
        <p:nvSpPr>
          <p:cNvPr id="15" name="Text 11"/>
          <p:cNvSpPr txBox="1"/>
          <p:nvPr/>
        </p:nvSpPr>
        <p:spPr>
          <a:xfrm>
            <a:off x="1161288" y="370332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Choose the numbers</a:t>
            </a:r>
            <a:r>
              <a:rPr lang="en-US" sz="1180" dirty="0">
                <a:solidFill>
                  <a:srgbClr val="6B6B6B"/>
                </a:solidFill>
                <a:latin typeface="Calibri" pitchFamily="34" charset="0"/>
                <a:ea typeface="Calibri" pitchFamily="34" charset="-122"/>
                <a:cs typeface="Calibri" pitchFamily="34" charset="-120"/>
              </a:rPr>
              <a:t>  counts, average and P90 turnaround, on-time closure</a:t>
            </a:r>
            <a:endParaRPr lang="en-US" sz="1180" dirty="0"/>
          </a:p>
        </p:txBody>
      </p:sp>
      <p:sp>
        <p:nvSpPr>
          <p:cNvPr id="16" name="Shape 12"/>
          <p:cNvSpPr/>
          <p:nvPr/>
        </p:nvSpPr>
        <p:spPr>
          <a:xfrm>
            <a:off x="886968" y="4214469"/>
            <a:ext cx="118872" cy="118872"/>
          </a:xfrm>
          <a:prstGeom prst="ellipse">
            <a:avLst/>
          </a:prstGeom>
          <a:solidFill>
            <a:srgbClr val="C9922E"/>
          </a:solidFill>
          <a:ln/>
        </p:spPr>
        <p:txBody>
          <a:bodyPr/>
          <a:lstStyle/>
          <a:p>
            <a:endParaRPr/>
          </a:p>
        </p:txBody>
      </p:sp>
      <p:sp>
        <p:nvSpPr>
          <p:cNvPr id="17" name="Text 13"/>
          <p:cNvSpPr txBox="1"/>
          <p:nvPr/>
        </p:nvSpPr>
        <p:spPr>
          <a:xfrm>
            <a:off x="1161288" y="4187952"/>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Slice it any way</a:t>
            </a:r>
            <a:r>
              <a:rPr lang="en-US" sz="1180" dirty="0">
                <a:solidFill>
                  <a:srgbClr val="6B6B6B"/>
                </a:solidFill>
                <a:latin typeface="Calibri" pitchFamily="34" charset="0"/>
                <a:ea typeface="Calibri" pitchFamily="34" charset="-122"/>
                <a:cs typeface="Calibri" pitchFamily="34" charset="-120"/>
              </a:rPr>
              <a:t>  site, department, type, risk, requester, approver or shift</a:t>
            </a:r>
            <a:endParaRPr lang="en-US" sz="1180" dirty="0"/>
          </a:p>
        </p:txBody>
      </p:sp>
      <p:sp>
        <p:nvSpPr>
          <p:cNvPr id="18" name="Shape 14"/>
          <p:cNvSpPr/>
          <p:nvPr/>
        </p:nvSpPr>
        <p:spPr>
          <a:xfrm>
            <a:off x="886968" y="4516221"/>
            <a:ext cx="118872" cy="118872"/>
          </a:xfrm>
          <a:prstGeom prst="ellipse">
            <a:avLst/>
          </a:prstGeom>
          <a:solidFill>
            <a:srgbClr val="C9922E"/>
          </a:solidFill>
          <a:ln/>
        </p:spPr>
        <p:txBody>
          <a:bodyPr/>
          <a:lstStyle/>
          <a:p>
            <a:endParaRPr/>
          </a:p>
        </p:txBody>
      </p:sp>
      <p:sp>
        <p:nvSpPr>
          <p:cNvPr id="19" name="Text 15"/>
          <p:cNvSpPr txBox="1"/>
          <p:nvPr/>
        </p:nvSpPr>
        <p:spPr>
          <a:xfrm>
            <a:off x="1161288" y="4489704"/>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Your own fields count</a:t>
            </a:r>
            <a:r>
              <a:rPr lang="en-US" sz="1180" dirty="0">
                <a:solidFill>
                  <a:srgbClr val="6B6B6B"/>
                </a:solidFill>
                <a:latin typeface="Calibri" pitchFamily="34" charset="0"/>
                <a:ea typeface="Calibri" pitchFamily="34" charset="-122"/>
                <a:cs typeface="Calibri" pitchFamily="34" charset="-120"/>
              </a:rPr>
              <a:t>  your own field groups exactly like a built-in one</a:t>
            </a:r>
            <a:endParaRPr lang="en-US" sz="1180" dirty="0"/>
          </a:p>
        </p:txBody>
      </p:sp>
      <p:sp>
        <p:nvSpPr>
          <p:cNvPr id="20" name="Shape 16"/>
          <p:cNvSpPr/>
          <p:nvPr/>
        </p:nvSpPr>
        <p:spPr>
          <a:xfrm>
            <a:off x="886968" y="4817973"/>
            <a:ext cx="118872" cy="118872"/>
          </a:xfrm>
          <a:prstGeom prst="ellipse">
            <a:avLst/>
          </a:prstGeom>
          <a:solidFill>
            <a:srgbClr val="C9922E"/>
          </a:solidFill>
          <a:ln/>
        </p:spPr>
        <p:txBody>
          <a:bodyPr/>
          <a:lstStyle/>
          <a:p>
            <a:endParaRPr/>
          </a:p>
        </p:txBody>
      </p:sp>
      <p:sp>
        <p:nvSpPr>
          <p:cNvPr id="21" name="Text 17"/>
          <p:cNvSpPr txBox="1"/>
          <p:nvPr/>
        </p:nvSpPr>
        <p:spPr>
          <a:xfrm>
            <a:off x="1161288" y="4791456"/>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Any period, any grain</a:t>
            </a:r>
            <a:r>
              <a:rPr lang="en-US" sz="1180" dirty="0">
                <a:solidFill>
                  <a:srgbClr val="6B6B6B"/>
                </a:solidFill>
                <a:latin typeface="Calibri" pitchFamily="34" charset="0"/>
                <a:ea typeface="Calibri" pitchFamily="34" charset="-122"/>
                <a:cs typeface="Calibri" pitchFamily="34" charset="-120"/>
              </a:rPr>
              <a:t>  a quarter shown by week, a year shown by month, or a custom range</a:t>
            </a:r>
            <a:endParaRPr lang="en-US" sz="1180" dirty="0"/>
          </a:p>
        </p:txBody>
      </p:sp>
      <p:sp>
        <p:nvSpPr>
          <p:cNvPr id="22" name="Shape 18"/>
          <p:cNvSpPr/>
          <p:nvPr/>
        </p:nvSpPr>
        <p:spPr>
          <a:xfrm>
            <a:off x="886968" y="5302605"/>
            <a:ext cx="118872" cy="118872"/>
          </a:xfrm>
          <a:prstGeom prst="ellipse">
            <a:avLst/>
          </a:prstGeom>
          <a:solidFill>
            <a:srgbClr val="C9922E"/>
          </a:solidFill>
          <a:ln/>
        </p:spPr>
        <p:txBody>
          <a:bodyPr/>
          <a:lstStyle/>
          <a:p>
            <a:endParaRPr/>
          </a:p>
        </p:txBody>
      </p:sp>
      <p:sp>
        <p:nvSpPr>
          <p:cNvPr id="23" name="Text 19"/>
          <p:cNvSpPr txBox="1"/>
          <p:nvPr/>
        </p:nvSpPr>
        <p:spPr>
          <a:xfrm>
            <a:off x="1161288" y="527608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Click any bar</a:t>
            </a:r>
            <a:r>
              <a:rPr lang="en-US" sz="1180" dirty="0">
                <a:solidFill>
                  <a:srgbClr val="6B6B6B"/>
                </a:solidFill>
                <a:latin typeface="Calibri" pitchFamily="34" charset="0"/>
                <a:ea typeface="Calibri" pitchFamily="34" charset="-122"/>
                <a:cs typeface="Calibri" pitchFamily="34" charset="-120"/>
              </a:rPr>
              <a:t>  drill straight through to the rows behind the number</a:t>
            </a:r>
            <a:endParaRPr lang="en-US" sz="1180" dirty="0"/>
          </a:p>
        </p:txBody>
      </p:sp>
      <p:sp>
        <p:nvSpPr>
          <p:cNvPr id="24" name="Shape 20"/>
          <p:cNvSpPr/>
          <p:nvPr/>
        </p:nvSpPr>
        <p:spPr>
          <a:xfrm>
            <a:off x="886968" y="5604357"/>
            <a:ext cx="118872" cy="118872"/>
          </a:xfrm>
          <a:prstGeom prst="ellipse">
            <a:avLst/>
          </a:prstGeom>
          <a:solidFill>
            <a:srgbClr val="C9922E"/>
          </a:solidFill>
          <a:ln/>
        </p:spPr>
        <p:txBody>
          <a:bodyPr/>
          <a:lstStyle/>
          <a:p>
            <a:endParaRPr/>
          </a:p>
        </p:txBody>
      </p:sp>
      <p:sp>
        <p:nvSpPr>
          <p:cNvPr id="25" name="Text 21"/>
          <p:cNvSpPr txBox="1"/>
          <p:nvPr/>
        </p:nvSpPr>
        <p:spPr>
          <a:xfrm>
            <a:off x="1161288" y="557784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Real Excel export</a:t>
            </a:r>
            <a:r>
              <a:rPr lang="en-US" sz="1180" dirty="0">
                <a:solidFill>
                  <a:srgbClr val="6B6B6B"/>
                </a:solidFill>
                <a:latin typeface="Calibri" pitchFamily="34" charset="0"/>
                <a:ea typeface="Calibri" pitchFamily="34" charset="-122"/>
                <a:cs typeface="Calibri" pitchFamily="34" charset="-120"/>
              </a:rPr>
              <a:t>  a sheet stating the period, filters and scope</a:t>
            </a:r>
            <a:endParaRPr lang="en-US" sz="1180" dirty="0"/>
          </a:p>
        </p:txBody>
      </p:sp>
      <p:sp>
        <p:nvSpPr>
          <p:cNvPr id="26" name="Shape 22"/>
          <p:cNvSpPr/>
          <p:nvPr/>
        </p:nvSpPr>
        <p:spPr>
          <a:xfrm>
            <a:off x="6199632" y="2286000"/>
            <a:ext cx="5486400" cy="3703320"/>
          </a:xfrm>
          <a:prstGeom prst="roundRect">
            <a:avLst>
              <a:gd name="adj" fmla="val 2963"/>
            </a:avLst>
          </a:prstGeom>
          <a:solidFill>
            <a:srgbClr val="FFFFFF"/>
          </a:solidFill>
          <a:ln w="12700">
            <a:solidFill>
              <a:srgbClr val="E3E3E3"/>
            </a:solidFill>
            <a:prstDash val="solid"/>
          </a:ln>
        </p:spPr>
        <p:txBody>
          <a:bodyPr/>
          <a:lstStyle/>
          <a:p>
            <a:endParaRPr/>
          </a:p>
        </p:txBody>
      </p:sp>
      <p:sp>
        <p:nvSpPr>
          <p:cNvPr id="27" name="Shape 23"/>
          <p:cNvSpPr/>
          <p:nvPr/>
        </p:nvSpPr>
        <p:spPr>
          <a:xfrm>
            <a:off x="6519672" y="2542032"/>
            <a:ext cx="566928" cy="566928"/>
          </a:xfrm>
          <a:prstGeom prst="ellipse">
            <a:avLst/>
          </a:prstGeom>
          <a:solidFill>
            <a:srgbClr val="EFEFEF"/>
          </a:solidFill>
          <a:ln/>
        </p:spPr>
        <p:txBody>
          <a:bodyPr/>
          <a:lstStyle/>
          <a:p>
            <a:endParaRPr/>
          </a:p>
        </p:txBody>
      </p:sp>
      <p:pic>
        <p:nvPicPr>
          <p:cNvPr id="28" name="Image 2" descr="icons/fileSearch-navy.png"/>
          <p:cNvPicPr>
            <a:picLocks noChangeAspect="1"/>
          </p:cNvPicPr>
          <p:nvPr/>
        </p:nvPicPr>
        <p:blipFill>
          <a:blip r:embed="rId5"/>
          <a:stretch>
            <a:fillRect/>
          </a:stretch>
        </p:blipFill>
        <p:spPr>
          <a:xfrm>
            <a:off x="6684081" y="2706441"/>
            <a:ext cx="238110" cy="238110"/>
          </a:xfrm>
          <a:prstGeom prst="rect">
            <a:avLst/>
          </a:prstGeom>
        </p:spPr>
      </p:pic>
      <p:sp>
        <p:nvSpPr>
          <p:cNvPr id="29" name="Text 24"/>
          <p:cNvSpPr txBox="1"/>
          <p:nvPr/>
        </p:nvSpPr>
        <p:spPr>
          <a:xfrm>
            <a:off x="7251192" y="2578608"/>
            <a:ext cx="4160520" cy="45720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EntryHub reports &amp; the register</a:t>
            </a:r>
            <a:endParaRPr lang="en-US" sz="1700" dirty="0"/>
          </a:p>
        </p:txBody>
      </p:sp>
      <p:sp>
        <p:nvSpPr>
          <p:cNvPr id="30" name="Shape 25"/>
          <p:cNvSpPr/>
          <p:nvPr/>
        </p:nvSpPr>
        <p:spPr>
          <a:xfrm>
            <a:off x="6583680" y="3245205"/>
            <a:ext cx="118872" cy="118872"/>
          </a:xfrm>
          <a:prstGeom prst="ellipse">
            <a:avLst/>
          </a:prstGeom>
          <a:solidFill>
            <a:srgbClr val="C9922E"/>
          </a:solidFill>
          <a:ln/>
        </p:spPr>
        <p:txBody>
          <a:bodyPr/>
          <a:lstStyle/>
          <a:p>
            <a:endParaRPr/>
          </a:p>
        </p:txBody>
      </p:sp>
      <p:sp>
        <p:nvSpPr>
          <p:cNvPr id="31" name="Text 26"/>
          <p:cNvSpPr txBox="1"/>
          <p:nvPr/>
        </p:nvSpPr>
        <p:spPr>
          <a:xfrm>
            <a:off x="6858000" y="3218688"/>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movement register</a:t>
            </a:r>
            <a:r>
              <a:rPr lang="en-US" sz="1180" dirty="0">
                <a:solidFill>
                  <a:srgbClr val="6B6B6B"/>
                </a:solidFill>
                <a:latin typeface="Calibri" pitchFamily="34" charset="0"/>
                <a:ea typeface="Calibri" pitchFamily="34" charset="-122"/>
                <a:cs typeface="Calibri" pitchFamily="34" charset="-120"/>
              </a:rPr>
              <a:t>  every entry and exit over a period, filtered and exportable</a:t>
            </a:r>
            <a:endParaRPr lang="en-US" sz="1180" dirty="0"/>
          </a:p>
        </p:txBody>
      </p:sp>
      <p:sp>
        <p:nvSpPr>
          <p:cNvPr id="32" name="Shape 27"/>
          <p:cNvSpPr/>
          <p:nvPr/>
        </p:nvSpPr>
        <p:spPr>
          <a:xfrm>
            <a:off x="6583680" y="3729837"/>
            <a:ext cx="118872" cy="118872"/>
          </a:xfrm>
          <a:prstGeom prst="ellipse">
            <a:avLst/>
          </a:prstGeom>
          <a:solidFill>
            <a:srgbClr val="C9922E"/>
          </a:solidFill>
          <a:ln/>
        </p:spPr>
        <p:txBody>
          <a:bodyPr/>
          <a:lstStyle/>
          <a:p>
            <a:endParaRPr/>
          </a:p>
        </p:txBody>
      </p:sp>
      <p:sp>
        <p:nvSpPr>
          <p:cNvPr id="33" name="Text 28"/>
          <p:cNvSpPr txBox="1"/>
          <p:nvPr/>
        </p:nvSpPr>
        <p:spPr>
          <a:xfrm>
            <a:off x="6858000" y="3703320"/>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By firm, gate, plant and day</a:t>
            </a:r>
            <a:r>
              <a:rPr lang="en-US" sz="1180" dirty="0">
                <a:solidFill>
                  <a:srgbClr val="6B6B6B"/>
                </a:solidFill>
                <a:latin typeface="Calibri" pitchFamily="34" charset="0"/>
                <a:ea typeface="Calibri" pitchFamily="34" charset="-122"/>
                <a:cs typeface="Calibri" pitchFamily="34" charset="-120"/>
              </a:rPr>
              <a:t>  the cuts a gate supervisor actually asks for</a:t>
            </a:r>
            <a:endParaRPr lang="en-US" sz="1180" dirty="0"/>
          </a:p>
        </p:txBody>
      </p:sp>
      <p:sp>
        <p:nvSpPr>
          <p:cNvPr id="34" name="Shape 29"/>
          <p:cNvSpPr/>
          <p:nvPr/>
        </p:nvSpPr>
        <p:spPr>
          <a:xfrm>
            <a:off x="6583680" y="4031589"/>
            <a:ext cx="118872" cy="118872"/>
          </a:xfrm>
          <a:prstGeom prst="ellipse">
            <a:avLst/>
          </a:prstGeom>
          <a:solidFill>
            <a:srgbClr val="C9922E"/>
          </a:solidFill>
          <a:ln/>
        </p:spPr>
        <p:txBody>
          <a:bodyPr/>
          <a:lstStyle/>
          <a:p>
            <a:endParaRPr/>
          </a:p>
        </p:txBody>
      </p:sp>
      <p:sp>
        <p:nvSpPr>
          <p:cNvPr id="35" name="Text 30"/>
          <p:cNvSpPr txBox="1"/>
          <p:nvPr/>
        </p:nvSpPr>
        <p:spPr>
          <a:xfrm>
            <a:off x="6858000" y="4005072"/>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Counts that hold up</a:t>
            </a:r>
            <a:r>
              <a:rPr lang="en-US" sz="1180" dirty="0">
                <a:solidFill>
                  <a:srgbClr val="6B6B6B"/>
                </a:solidFill>
                <a:latin typeface="Calibri" pitchFamily="34" charset="0"/>
                <a:ea typeface="Calibri" pitchFamily="34" charset="-122"/>
                <a:cs typeface="Calibri" pitchFamily="34" charset="-120"/>
              </a:rPr>
              <a:t>  aggregated on read inside a bounded window, never a stale total</a:t>
            </a:r>
            <a:endParaRPr lang="en-US" sz="1180" dirty="0"/>
          </a:p>
        </p:txBody>
      </p:sp>
      <p:sp>
        <p:nvSpPr>
          <p:cNvPr id="36" name="Shape 31"/>
          <p:cNvSpPr/>
          <p:nvPr/>
        </p:nvSpPr>
        <p:spPr>
          <a:xfrm>
            <a:off x="6583680" y="4516221"/>
            <a:ext cx="118872" cy="118872"/>
          </a:xfrm>
          <a:prstGeom prst="ellipse">
            <a:avLst/>
          </a:prstGeom>
          <a:solidFill>
            <a:srgbClr val="C9922E"/>
          </a:solidFill>
          <a:ln/>
        </p:spPr>
        <p:txBody>
          <a:bodyPr/>
          <a:lstStyle/>
          <a:p>
            <a:endParaRPr/>
          </a:p>
        </p:txBody>
      </p:sp>
      <p:sp>
        <p:nvSpPr>
          <p:cNvPr id="37" name="Text 32"/>
          <p:cNvSpPr txBox="1"/>
          <p:nvPr/>
        </p:nvSpPr>
        <p:spPr>
          <a:xfrm>
            <a:off x="6858000" y="4489704"/>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The dashboard</a:t>
            </a:r>
            <a:r>
              <a:rPr lang="en-US" sz="1180" dirty="0">
                <a:solidFill>
                  <a:srgbClr val="6B6B6B"/>
                </a:solidFill>
                <a:latin typeface="Calibri" pitchFamily="34" charset="0"/>
                <a:ea typeface="Calibri" pitchFamily="34" charset="-122"/>
                <a:cs typeface="Calibri" pitchFamily="34" charset="-120"/>
              </a:rPr>
              <a:t>  inside now, today’s movements, expiring papers</a:t>
            </a:r>
            <a:endParaRPr lang="en-US" sz="1180" dirty="0"/>
          </a:p>
        </p:txBody>
      </p:sp>
      <p:sp>
        <p:nvSpPr>
          <p:cNvPr id="38" name="Shape 33"/>
          <p:cNvSpPr/>
          <p:nvPr/>
        </p:nvSpPr>
        <p:spPr>
          <a:xfrm>
            <a:off x="6583680" y="4817973"/>
            <a:ext cx="118872" cy="118872"/>
          </a:xfrm>
          <a:prstGeom prst="ellipse">
            <a:avLst/>
          </a:prstGeom>
          <a:solidFill>
            <a:srgbClr val="C9922E"/>
          </a:solidFill>
          <a:ln/>
        </p:spPr>
        <p:txBody>
          <a:bodyPr/>
          <a:lstStyle/>
          <a:p>
            <a:endParaRPr/>
          </a:p>
        </p:txBody>
      </p:sp>
      <p:sp>
        <p:nvSpPr>
          <p:cNvPr id="39" name="Text 34"/>
          <p:cNvSpPr txBox="1"/>
          <p:nvPr/>
        </p:nvSpPr>
        <p:spPr>
          <a:xfrm>
            <a:off x="6858000" y="4791456"/>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Ids and counts, not names</a:t>
            </a:r>
            <a:r>
              <a:rPr lang="en-US" sz="1180" dirty="0">
                <a:solidFill>
                  <a:srgbClr val="6B6B6B"/>
                </a:solidFill>
                <a:latin typeface="Calibri" pitchFamily="34" charset="0"/>
                <a:ea typeface="Calibri" pitchFamily="34" charset="-122"/>
                <a:cs typeface="Calibri" pitchFamily="34" charset="-120"/>
              </a:rPr>
              <a:t>  the analytics layer carries no personal data</a:t>
            </a:r>
            <a:endParaRPr lang="en-US" sz="1180" dirty="0"/>
          </a:p>
        </p:txBody>
      </p:sp>
      <p:sp>
        <p:nvSpPr>
          <p:cNvPr id="40" name="Shape 35"/>
          <p:cNvSpPr/>
          <p:nvPr/>
        </p:nvSpPr>
        <p:spPr>
          <a:xfrm>
            <a:off x="6583680" y="5119725"/>
            <a:ext cx="118872" cy="118872"/>
          </a:xfrm>
          <a:prstGeom prst="ellipse">
            <a:avLst/>
          </a:prstGeom>
          <a:solidFill>
            <a:srgbClr val="C9922E"/>
          </a:solidFill>
          <a:ln/>
        </p:spPr>
        <p:txBody>
          <a:bodyPr/>
          <a:lstStyle/>
          <a:p>
            <a:endParaRPr/>
          </a:p>
        </p:txBody>
      </p:sp>
      <p:sp>
        <p:nvSpPr>
          <p:cNvPr id="41" name="Text 36"/>
          <p:cNvSpPr txBox="1"/>
          <p:nvPr/>
        </p:nvSpPr>
        <p:spPr>
          <a:xfrm>
            <a:off x="6858000" y="5093208"/>
            <a:ext cx="4480560" cy="22860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Scoped on the server</a:t>
            </a:r>
            <a:r>
              <a:rPr lang="en-US" sz="1180" dirty="0">
                <a:solidFill>
                  <a:srgbClr val="6B6B6B"/>
                </a:solidFill>
                <a:latin typeface="Calibri" pitchFamily="34" charset="0"/>
                <a:ea typeface="Calibri" pitchFamily="34" charset="-122"/>
                <a:cs typeface="Calibri" pitchFamily="34" charset="-120"/>
              </a:rPr>
              <a:t>  a plant you cannot reach is a plant you cannot total</a:t>
            </a:r>
            <a:endParaRPr lang="en-US" sz="1180" dirty="0"/>
          </a:p>
        </p:txBody>
      </p:sp>
      <p:sp>
        <p:nvSpPr>
          <p:cNvPr id="42" name="Shape 37"/>
          <p:cNvSpPr/>
          <p:nvPr/>
        </p:nvSpPr>
        <p:spPr>
          <a:xfrm>
            <a:off x="6583680" y="5421477"/>
            <a:ext cx="118872" cy="118872"/>
          </a:xfrm>
          <a:prstGeom prst="ellipse">
            <a:avLst/>
          </a:prstGeom>
          <a:solidFill>
            <a:srgbClr val="C9922E"/>
          </a:solidFill>
          <a:ln/>
        </p:spPr>
        <p:txBody>
          <a:bodyPr/>
          <a:lstStyle/>
          <a:p>
            <a:endParaRPr/>
          </a:p>
        </p:txBody>
      </p:sp>
      <p:sp>
        <p:nvSpPr>
          <p:cNvPr id="43" name="Text 38"/>
          <p:cNvSpPr txBox="1"/>
          <p:nvPr/>
        </p:nvSpPr>
        <p:spPr>
          <a:xfrm>
            <a:off x="6858000" y="5394960"/>
            <a:ext cx="4480560" cy="411480"/>
          </a:xfrm>
          <a:prstGeom prst="rect">
            <a:avLst/>
          </a:prstGeom>
          <a:noFill/>
          <a:ln/>
        </p:spPr>
        <p:txBody>
          <a:bodyPr wrap="square" lIns="0" tIns="0" rIns="0" bIns="0" rtlCol="0" anchor="t"/>
          <a:lstStyle/>
          <a:p>
            <a:pPr marL="0" indent="0">
              <a:lnSpc>
                <a:spcPct val="100000"/>
              </a:lnSpc>
              <a:buNone/>
            </a:pPr>
            <a:r>
              <a:rPr lang="en-US" sz="1180" b="1" dirty="0">
                <a:solidFill>
                  <a:srgbClr val="0A0A0A"/>
                </a:solidFill>
                <a:latin typeface="Calibri" pitchFamily="34" charset="0"/>
                <a:ea typeface="Calibri" pitchFamily="34" charset="-122"/>
                <a:cs typeface="Calibri" pitchFamily="34" charset="-120"/>
              </a:rPr>
              <a:t>Honest by default</a:t>
            </a:r>
            <a:r>
              <a:rPr lang="en-US" sz="1180" dirty="0">
                <a:solidFill>
                  <a:srgbClr val="6B6B6B"/>
                </a:solidFill>
                <a:latin typeface="Calibri" pitchFamily="34" charset="0"/>
                <a:ea typeface="Calibri" pitchFamily="34" charset="-122"/>
                <a:cs typeface="Calibri" pitchFamily="34" charset="-120"/>
              </a:rPr>
              <a:t>  a running period is marked partial rather than quietly shown as whole</a:t>
            </a:r>
            <a:endParaRPr lang="en-US" sz="11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TRUST &amp; SECURITY</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Secure, audited &amp; fully visible</a:t>
            </a:r>
            <a:endParaRPr lang="en-US" sz="3300" dirty="0"/>
          </a:p>
        </p:txBody>
      </p:sp>
      <p:sp>
        <p:nvSpPr>
          <p:cNvPr id="5" name="Text 2"/>
          <p:cNvSpPr txBox="1"/>
          <p:nvPr/>
        </p:nvSpPr>
        <p:spPr>
          <a:xfrm>
            <a:off x="502920" y="1572768"/>
            <a:ext cx="10424160" cy="566928"/>
          </a:xfrm>
          <a:prstGeom prst="rect">
            <a:avLst/>
          </a:prstGeom>
          <a:noFill/>
          <a:ln/>
        </p:spPr>
        <p:txBody>
          <a:bodyPr wrap="square" lIns="0" tIns="0" rIns="0" bIns="0" rtlCol="0" anchor="ctr"/>
          <a:lstStyle/>
          <a:p>
            <a:pPr marL="0" indent="0">
              <a:lnSpc>
                <a:spcPct val="112000"/>
              </a:lnSpc>
              <a:buNone/>
            </a:pPr>
            <a:r>
              <a:rPr lang="en-US" sz="1400" dirty="0">
                <a:solidFill>
                  <a:srgbClr val="6B6B6B"/>
                </a:solidFill>
                <a:latin typeface="Calibri" pitchFamily="34" charset="0"/>
                <a:ea typeface="Calibri" pitchFamily="34" charset="-122"/>
                <a:cs typeface="Calibri" pitchFamily="34" charset="-120"/>
              </a:rPr>
              <a:t>The foundations that let a plant actually rely on a digital permit and a digital gate: a defensible record, the right people informed, and enterprise-grade security underneath both products.</a:t>
            </a:r>
            <a:endParaRPr lang="en-US" sz="1400" dirty="0"/>
          </a:p>
        </p:txBody>
      </p:sp>
      <p:sp>
        <p:nvSpPr>
          <p:cNvPr id="6" name="Text 3"/>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7" name="Text 4"/>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21</a:t>
            </a:r>
            <a:endParaRPr lang="en-US" sz="900" dirty="0"/>
          </a:p>
        </p:txBody>
      </p:sp>
      <p:sp>
        <p:nvSpPr>
          <p:cNvPr id="8" name="Shape 5"/>
          <p:cNvSpPr/>
          <p:nvPr/>
        </p:nvSpPr>
        <p:spPr>
          <a:xfrm>
            <a:off x="502920"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9" name="Shape 6"/>
          <p:cNvSpPr/>
          <p:nvPr/>
        </p:nvSpPr>
        <p:spPr>
          <a:xfrm>
            <a:off x="822960" y="2542032"/>
            <a:ext cx="603504" cy="603504"/>
          </a:xfrm>
          <a:prstGeom prst="ellipse">
            <a:avLst/>
          </a:prstGeom>
          <a:solidFill>
            <a:srgbClr val="EFEFEF"/>
          </a:solidFill>
          <a:ln/>
        </p:spPr>
        <p:txBody>
          <a:bodyPr/>
          <a:lstStyle/>
          <a:p>
            <a:endParaRPr/>
          </a:p>
        </p:txBody>
      </p:sp>
      <p:pic>
        <p:nvPicPr>
          <p:cNvPr id="10" name="Image 1" descr="orig/ppt/media/image37.png"/>
          <p:cNvPicPr>
            <a:picLocks noChangeAspect="1"/>
          </p:cNvPicPr>
          <p:nvPr/>
        </p:nvPicPr>
        <p:blipFill>
          <a:blip r:embed="rId4"/>
          <a:stretch>
            <a:fillRect/>
          </a:stretch>
        </p:blipFill>
        <p:spPr>
          <a:xfrm>
            <a:off x="997976" y="2717048"/>
            <a:ext cx="253472" cy="253472"/>
          </a:xfrm>
          <a:prstGeom prst="rect">
            <a:avLst/>
          </a:prstGeom>
        </p:spPr>
      </p:pic>
      <p:sp>
        <p:nvSpPr>
          <p:cNvPr id="11" name="Text 7"/>
          <p:cNvSpPr txBox="1"/>
          <p:nvPr/>
        </p:nvSpPr>
        <p:spPr>
          <a:xfrm>
            <a:off x="795528"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Audit &amp; accountability</a:t>
            </a:r>
            <a:endParaRPr lang="en-US" sz="1600" dirty="0"/>
          </a:p>
        </p:txBody>
      </p:sp>
      <p:sp>
        <p:nvSpPr>
          <p:cNvPr id="12" name="Shape 8"/>
          <p:cNvSpPr/>
          <p:nvPr/>
        </p:nvSpPr>
        <p:spPr>
          <a:xfrm>
            <a:off x="832104" y="3594506"/>
            <a:ext cx="100584" cy="100584"/>
          </a:xfrm>
          <a:prstGeom prst="ellipse">
            <a:avLst/>
          </a:prstGeom>
          <a:solidFill>
            <a:srgbClr val="C9922E"/>
          </a:solidFill>
          <a:ln/>
        </p:spPr>
        <p:txBody>
          <a:bodyPr/>
          <a:lstStyle/>
          <a:p>
            <a:endParaRPr/>
          </a:p>
        </p:txBody>
      </p:sp>
      <p:sp>
        <p:nvSpPr>
          <p:cNvPr id="13" name="Text 9"/>
          <p:cNvSpPr txBox="1"/>
          <p:nvPr/>
        </p:nvSpPr>
        <p:spPr>
          <a:xfrm>
            <a:off x="1069848"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Transactional audit</a:t>
            </a:r>
            <a:r>
              <a:rPr lang="en-US" sz="1080" dirty="0">
                <a:solidFill>
                  <a:srgbClr val="6B6B6B"/>
                </a:solidFill>
                <a:latin typeface="Calibri" pitchFamily="34" charset="0"/>
                <a:ea typeface="Calibri" pitchFamily="34" charset="-122"/>
                <a:cs typeface="Calibri" pitchFamily="34" charset="-120"/>
              </a:rPr>
              <a:t>  every state change recorded atomically with the action</a:t>
            </a:r>
            <a:endParaRPr lang="en-US" sz="1080" dirty="0"/>
          </a:p>
        </p:txBody>
      </p:sp>
      <p:sp>
        <p:nvSpPr>
          <p:cNvPr id="14" name="Shape 10"/>
          <p:cNvSpPr/>
          <p:nvPr/>
        </p:nvSpPr>
        <p:spPr>
          <a:xfrm>
            <a:off x="832104" y="4048048"/>
            <a:ext cx="100584" cy="100584"/>
          </a:xfrm>
          <a:prstGeom prst="ellipse">
            <a:avLst/>
          </a:prstGeom>
          <a:solidFill>
            <a:srgbClr val="C9922E"/>
          </a:solidFill>
          <a:ln/>
        </p:spPr>
        <p:txBody>
          <a:bodyPr/>
          <a:lstStyle/>
          <a:p>
            <a:endParaRPr/>
          </a:p>
        </p:txBody>
      </p:sp>
      <p:sp>
        <p:nvSpPr>
          <p:cNvPr id="15" name="Text 11"/>
          <p:cNvSpPr txBox="1"/>
          <p:nvPr/>
        </p:nvSpPr>
        <p:spPr>
          <a:xfrm>
            <a:off x="1069848"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Full permit timeline</a:t>
            </a:r>
            <a:r>
              <a:rPr lang="en-US" sz="1080" dirty="0">
                <a:solidFill>
                  <a:srgbClr val="6B6B6B"/>
                </a:solidFill>
                <a:latin typeface="Calibri" pitchFamily="34" charset="0"/>
                <a:ea typeface="Calibri" pitchFamily="34" charset="-122"/>
                <a:cs typeface="Calibri" pitchFamily="34" charset="-120"/>
              </a:rPr>
              <a:t>  submitted, each approval, activation, suspension, closure</a:t>
            </a:r>
            <a:endParaRPr lang="en-US" sz="1080" dirty="0"/>
          </a:p>
        </p:txBody>
      </p:sp>
      <p:sp>
        <p:nvSpPr>
          <p:cNvPr id="16" name="Shape 12"/>
          <p:cNvSpPr/>
          <p:nvPr/>
        </p:nvSpPr>
        <p:spPr>
          <a:xfrm>
            <a:off x="832104" y="4501591"/>
            <a:ext cx="100584" cy="100584"/>
          </a:xfrm>
          <a:prstGeom prst="ellipse">
            <a:avLst/>
          </a:prstGeom>
          <a:solidFill>
            <a:srgbClr val="C9922E"/>
          </a:solidFill>
          <a:ln/>
        </p:spPr>
        <p:txBody>
          <a:bodyPr/>
          <a:lstStyle/>
          <a:p>
            <a:endParaRPr/>
          </a:p>
        </p:txBody>
      </p:sp>
      <p:sp>
        <p:nvSpPr>
          <p:cNvPr id="17" name="Text 13"/>
          <p:cNvSpPr txBox="1"/>
          <p:nvPr/>
        </p:nvSpPr>
        <p:spPr>
          <a:xfrm>
            <a:off x="1069848"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Version history</a:t>
            </a:r>
            <a:r>
              <a:rPr lang="en-US" sz="1080" dirty="0">
                <a:solidFill>
                  <a:srgbClr val="6B6B6B"/>
                </a:solidFill>
                <a:latin typeface="Calibri" pitchFamily="34" charset="0"/>
                <a:ea typeface="Calibri" pitchFamily="34" charset="-122"/>
                <a:cs typeface="Calibri" pitchFamily="34" charset="-120"/>
              </a:rPr>
              <a:t>  exactly which form and flow governed any past permit</a:t>
            </a:r>
            <a:endParaRPr lang="en-US" sz="1080" dirty="0"/>
          </a:p>
        </p:txBody>
      </p:sp>
      <p:sp>
        <p:nvSpPr>
          <p:cNvPr id="18" name="Shape 14"/>
          <p:cNvSpPr/>
          <p:nvPr/>
        </p:nvSpPr>
        <p:spPr>
          <a:xfrm>
            <a:off x="832104" y="4955133"/>
            <a:ext cx="100584" cy="100584"/>
          </a:xfrm>
          <a:prstGeom prst="ellipse">
            <a:avLst/>
          </a:prstGeom>
          <a:solidFill>
            <a:srgbClr val="C9922E"/>
          </a:solidFill>
          <a:ln/>
        </p:spPr>
        <p:txBody>
          <a:bodyPr/>
          <a:lstStyle/>
          <a:p>
            <a:endParaRPr/>
          </a:p>
        </p:txBody>
      </p:sp>
      <p:sp>
        <p:nvSpPr>
          <p:cNvPr id="19" name="Text 15"/>
          <p:cNvSpPr txBox="1"/>
          <p:nvPr/>
        </p:nvSpPr>
        <p:spPr>
          <a:xfrm>
            <a:off x="1069848"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Append-only, per company</a:t>
            </a:r>
            <a:r>
              <a:rPr lang="en-US" sz="1080" dirty="0">
                <a:solidFill>
                  <a:srgbClr val="6B6B6B"/>
                </a:solidFill>
                <a:latin typeface="Calibri" pitchFamily="34" charset="0"/>
                <a:ea typeface="Calibri" pitchFamily="34" charset="-122"/>
                <a:cs typeface="Calibri" pitchFamily="34" charset="-120"/>
              </a:rPr>
              <a:t>  records are isolated and never overwritten</a:t>
            </a:r>
            <a:endParaRPr lang="en-US" sz="1080" dirty="0"/>
          </a:p>
        </p:txBody>
      </p:sp>
      <p:sp>
        <p:nvSpPr>
          <p:cNvPr id="20" name="Shape 16"/>
          <p:cNvSpPr/>
          <p:nvPr/>
        </p:nvSpPr>
        <p:spPr>
          <a:xfrm>
            <a:off x="832104" y="5409590"/>
            <a:ext cx="100584" cy="100584"/>
          </a:xfrm>
          <a:prstGeom prst="ellipse">
            <a:avLst/>
          </a:prstGeom>
          <a:solidFill>
            <a:srgbClr val="C9922E"/>
          </a:solidFill>
          <a:ln/>
        </p:spPr>
        <p:txBody>
          <a:bodyPr/>
          <a:lstStyle/>
          <a:p>
            <a:endParaRPr/>
          </a:p>
        </p:txBody>
      </p:sp>
      <p:sp>
        <p:nvSpPr>
          <p:cNvPr id="21" name="Text 17"/>
          <p:cNvSpPr txBox="1"/>
          <p:nvPr/>
        </p:nvSpPr>
        <p:spPr>
          <a:xfrm>
            <a:off x="1069848"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Exportable</a:t>
            </a:r>
            <a:r>
              <a:rPr lang="en-US" sz="1080" dirty="0">
                <a:solidFill>
                  <a:srgbClr val="6B6B6B"/>
                </a:solidFill>
                <a:latin typeface="Calibri" pitchFamily="34" charset="0"/>
                <a:ea typeface="Calibri" pitchFamily="34" charset="-122"/>
                <a:cs typeface="Calibri" pitchFamily="34" charset="-120"/>
              </a:rPr>
              <a:t>  filter the trail on screen and download it</a:t>
            </a:r>
            <a:endParaRPr lang="en-US" sz="1080" dirty="0"/>
          </a:p>
        </p:txBody>
      </p:sp>
      <p:sp>
        <p:nvSpPr>
          <p:cNvPr id="22" name="Shape 18"/>
          <p:cNvSpPr/>
          <p:nvPr/>
        </p:nvSpPr>
        <p:spPr>
          <a:xfrm>
            <a:off x="4462272"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23" name="Shape 19"/>
          <p:cNvSpPr/>
          <p:nvPr/>
        </p:nvSpPr>
        <p:spPr>
          <a:xfrm>
            <a:off x="4782312" y="2542032"/>
            <a:ext cx="603504" cy="603504"/>
          </a:xfrm>
          <a:prstGeom prst="ellipse">
            <a:avLst/>
          </a:prstGeom>
          <a:solidFill>
            <a:srgbClr val="EFEFEF"/>
          </a:solidFill>
          <a:ln/>
        </p:spPr>
        <p:txBody>
          <a:bodyPr/>
          <a:lstStyle/>
          <a:p>
            <a:endParaRPr/>
          </a:p>
        </p:txBody>
      </p:sp>
      <p:pic>
        <p:nvPicPr>
          <p:cNvPr id="24" name="Image 2" descr="icons/ban-navy.png"/>
          <p:cNvPicPr>
            <a:picLocks noChangeAspect="1"/>
          </p:cNvPicPr>
          <p:nvPr/>
        </p:nvPicPr>
        <p:blipFill>
          <a:blip r:embed="rId5"/>
          <a:stretch>
            <a:fillRect/>
          </a:stretch>
        </p:blipFill>
        <p:spPr>
          <a:xfrm>
            <a:off x="4957328" y="2717048"/>
            <a:ext cx="253472" cy="253472"/>
          </a:xfrm>
          <a:prstGeom prst="rect">
            <a:avLst/>
          </a:prstGeom>
        </p:spPr>
      </p:pic>
      <p:sp>
        <p:nvSpPr>
          <p:cNvPr id="25" name="Text 20"/>
          <p:cNvSpPr txBox="1"/>
          <p:nvPr/>
        </p:nvSpPr>
        <p:spPr>
          <a:xfrm>
            <a:off x="4754880"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Separation &amp; isolation</a:t>
            </a:r>
            <a:endParaRPr lang="en-US" sz="1600" dirty="0"/>
          </a:p>
        </p:txBody>
      </p:sp>
      <p:sp>
        <p:nvSpPr>
          <p:cNvPr id="26" name="Shape 21"/>
          <p:cNvSpPr/>
          <p:nvPr/>
        </p:nvSpPr>
        <p:spPr>
          <a:xfrm>
            <a:off x="4791456" y="3594506"/>
            <a:ext cx="100584" cy="100584"/>
          </a:xfrm>
          <a:prstGeom prst="ellipse">
            <a:avLst/>
          </a:prstGeom>
          <a:solidFill>
            <a:srgbClr val="C9922E"/>
          </a:solidFill>
          <a:ln/>
        </p:spPr>
        <p:txBody>
          <a:bodyPr/>
          <a:lstStyle/>
          <a:p>
            <a:endParaRPr/>
          </a:p>
        </p:txBody>
      </p:sp>
      <p:sp>
        <p:nvSpPr>
          <p:cNvPr id="27" name="Text 22"/>
          <p:cNvSpPr txBox="1"/>
          <p:nvPr/>
        </p:nvSpPr>
        <p:spPr>
          <a:xfrm>
            <a:off x="5029200"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Two products, two databases</a:t>
            </a:r>
            <a:r>
              <a:rPr lang="en-US" sz="1080" dirty="0">
                <a:solidFill>
                  <a:srgbClr val="6B6B6B"/>
                </a:solidFill>
                <a:latin typeface="Calibri" pitchFamily="34" charset="0"/>
                <a:ea typeface="Calibri" pitchFamily="34" charset="-122"/>
                <a:cs typeface="Calibri" pitchFamily="34" charset="-120"/>
              </a:rPr>
              <a:t>  a EntryHub query cannot reach a Permit collection</a:t>
            </a:r>
            <a:endParaRPr lang="en-US" sz="1080" dirty="0"/>
          </a:p>
        </p:txBody>
      </p:sp>
      <p:sp>
        <p:nvSpPr>
          <p:cNvPr id="28" name="Shape 23"/>
          <p:cNvSpPr/>
          <p:nvPr/>
        </p:nvSpPr>
        <p:spPr>
          <a:xfrm>
            <a:off x="4791456" y="4048048"/>
            <a:ext cx="100584" cy="100584"/>
          </a:xfrm>
          <a:prstGeom prst="ellipse">
            <a:avLst/>
          </a:prstGeom>
          <a:solidFill>
            <a:srgbClr val="C9922E"/>
          </a:solidFill>
          <a:ln/>
        </p:spPr>
        <p:txBody>
          <a:bodyPr/>
          <a:lstStyle/>
          <a:p>
            <a:endParaRPr/>
          </a:p>
        </p:txBody>
      </p:sp>
      <p:sp>
        <p:nvSpPr>
          <p:cNvPr id="29" name="Text 24"/>
          <p:cNvSpPr txBox="1"/>
          <p:nvPr/>
        </p:nvSpPr>
        <p:spPr>
          <a:xfrm>
            <a:off x="5029200"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Scoped by company and plant</a:t>
            </a:r>
            <a:r>
              <a:rPr lang="en-US" sz="1080" dirty="0">
                <a:solidFill>
                  <a:srgbClr val="6B6B6B"/>
                </a:solidFill>
                <a:latin typeface="Calibri" pitchFamily="34" charset="0"/>
                <a:ea typeface="Calibri" pitchFamily="34" charset="-122"/>
                <a:cs typeface="Calibri" pitchFamily="34" charset="-120"/>
              </a:rPr>
              <a:t>  enforced by a plugin, not a filter somebody remembers</a:t>
            </a:r>
            <a:endParaRPr lang="en-US" sz="1080" dirty="0"/>
          </a:p>
        </p:txBody>
      </p:sp>
      <p:sp>
        <p:nvSpPr>
          <p:cNvPr id="30" name="Shape 25"/>
          <p:cNvSpPr/>
          <p:nvPr/>
        </p:nvSpPr>
        <p:spPr>
          <a:xfrm>
            <a:off x="4791456" y="4501591"/>
            <a:ext cx="100584" cy="100584"/>
          </a:xfrm>
          <a:prstGeom prst="ellipse">
            <a:avLst/>
          </a:prstGeom>
          <a:solidFill>
            <a:srgbClr val="C9922E"/>
          </a:solidFill>
          <a:ln/>
        </p:spPr>
        <p:txBody>
          <a:bodyPr/>
          <a:lstStyle/>
          <a:p>
            <a:endParaRPr/>
          </a:p>
        </p:txBody>
      </p:sp>
      <p:sp>
        <p:nvSpPr>
          <p:cNvPr id="31" name="Text 26"/>
          <p:cNvSpPr txBox="1"/>
          <p:nvPr/>
        </p:nvSpPr>
        <p:spPr>
          <a:xfrm>
            <a:off x="5029200"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Separation of duties</a:t>
            </a:r>
            <a:r>
              <a:rPr lang="en-US" sz="1080" dirty="0">
                <a:solidFill>
                  <a:srgbClr val="6B6B6B"/>
                </a:solidFill>
                <a:latin typeface="Calibri" pitchFamily="34" charset="0"/>
                <a:ea typeface="Calibri" pitchFamily="34" charset="-122"/>
                <a:cs typeface="Calibri" pitchFamily="34" charset="-120"/>
              </a:rPr>
              <a:t>  issuing a pass and admitting at the gate are different people</a:t>
            </a:r>
            <a:endParaRPr lang="en-US" sz="1080" dirty="0"/>
          </a:p>
        </p:txBody>
      </p:sp>
      <p:sp>
        <p:nvSpPr>
          <p:cNvPr id="32" name="Shape 27"/>
          <p:cNvSpPr/>
          <p:nvPr/>
        </p:nvSpPr>
        <p:spPr>
          <a:xfrm>
            <a:off x="4791456" y="4955133"/>
            <a:ext cx="100584" cy="100584"/>
          </a:xfrm>
          <a:prstGeom prst="ellipse">
            <a:avLst/>
          </a:prstGeom>
          <a:solidFill>
            <a:srgbClr val="C9922E"/>
          </a:solidFill>
          <a:ln/>
        </p:spPr>
        <p:txBody>
          <a:bodyPr/>
          <a:lstStyle/>
          <a:p>
            <a:endParaRPr/>
          </a:p>
        </p:txBody>
      </p:sp>
      <p:sp>
        <p:nvSpPr>
          <p:cNvPr id="33" name="Text 28"/>
          <p:cNvSpPr txBox="1"/>
          <p:nvPr/>
        </p:nvSpPr>
        <p:spPr>
          <a:xfrm>
            <a:off x="5029200"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Scoped to placement</a:t>
            </a:r>
            <a:r>
              <a:rPr lang="en-US" sz="1080" dirty="0">
                <a:solidFill>
                  <a:srgbClr val="6B6B6B"/>
                </a:solidFill>
                <a:latin typeface="Calibri" pitchFamily="34" charset="0"/>
                <a:ea typeface="Calibri" pitchFamily="34" charset="-122"/>
                <a:cs typeface="Calibri" pitchFamily="34" charset="-120"/>
              </a:rPr>
              <a:t>  people see and act only where their site and department reach</a:t>
            </a:r>
            <a:endParaRPr lang="en-US" sz="1080" dirty="0"/>
          </a:p>
        </p:txBody>
      </p:sp>
      <p:sp>
        <p:nvSpPr>
          <p:cNvPr id="34" name="Shape 29"/>
          <p:cNvSpPr/>
          <p:nvPr/>
        </p:nvSpPr>
        <p:spPr>
          <a:xfrm>
            <a:off x="4791456" y="5409590"/>
            <a:ext cx="100584" cy="100584"/>
          </a:xfrm>
          <a:prstGeom prst="ellipse">
            <a:avLst/>
          </a:prstGeom>
          <a:solidFill>
            <a:srgbClr val="C9922E"/>
          </a:solidFill>
          <a:ln/>
        </p:spPr>
        <p:txBody>
          <a:bodyPr/>
          <a:lstStyle/>
          <a:p>
            <a:endParaRPr/>
          </a:p>
        </p:txBody>
      </p:sp>
      <p:sp>
        <p:nvSpPr>
          <p:cNvPr id="35" name="Text 30"/>
          <p:cNvSpPr txBox="1"/>
          <p:nvPr/>
        </p:nvSpPr>
        <p:spPr>
          <a:xfrm>
            <a:off x="5029200"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Personal data kept out</a:t>
            </a:r>
            <a:r>
              <a:rPr lang="en-US" sz="1080" dirty="0">
                <a:solidFill>
                  <a:srgbClr val="6B6B6B"/>
                </a:solidFill>
                <a:latin typeface="Calibri" pitchFamily="34" charset="0"/>
                <a:ea typeface="Calibri" pitchFamily="34" charset="-122"/>
                <a:cs typeface="Calibri" pitchFamily="34" charset="-120"/>
              </a:rPr>
              <a:t>  identity numbers never reach a list, a pass or the trail</a:t>
            </a:r>
            <a:endParaRPr lang="en-US" sz="1080" dirty="0"/>
          </a:p>
        </p:txBody>
      </p:sp>
      <p:sp>
        <p:nvSpPr>
          <p:cNvPr id="36" name="Shape 31"/>
          <p:cNvSpPr/>
          <p:nvPr/>
        </p:nvSpPr>
        <p:spPr>
          <a:xfrm>
            <a:off x="8421624" y="2286000"/>
            <a:ext cx="3639312" cy="3703320"/>
          </a:xfrm>
          <a:prstGeom prst="roundRect">
            <a:avLst>
              <a:gd name="adj" fmla="val 3015"/>
            </a:avLst>
          </a:prstGeom>
          <a:solidFill>
            <a:srgbClr val="FFFFFF"/>
          </a:solidFill>
          <a:ln w="12700">
            <a:solidFill>
              <a:srgbClr val="E3E3E3"/>
            </a:solidFill>
            <a:prstDash val="solid"/>
          </a:ln>
        </p:spPr>
        <p:txBody>
          <a:bodyPr/>
          <a:lstStyle/>
          <a:p>
            <a:endParaRPr/>
          </a:p>
        </p:txBody>
      </p:sp>
      <p:sp>
        <p:nvSpPr>
          <p:cNvPr id="37" name="Shape 32"/>
          <p:cNvSpPr/>
          <p:nvPr/>
        </p:nvSpPr>
        <p:spPr>
          <a:xfrm>
            <a:off x="8741664" y="2542032"/>
            <a:ext cx="603504" cy="603504"/>
          </a:xfrm>
          <a:prstGeom prst="ellipse">
            <a:avLst/>
          </a:prstGeom>
          <a:solidFill>
            <a:srgbClr val="EFEFEF"/>
          </a:solidFill>
          <a:ln/>
        </p:spPr>
        <p:txBody>
          <a:bodyPr/>
          <a:lstStyle/>
          <a:p>
            <a:endParaRPr/>
          </a:p>
        </p:txBody>
      </p:sp>
      <p:pic>
        <p:nvPicPr>
          <p:cNvPr id="38" name="Image 3" descr="orig/ppt/media/image16.png"/>
          <p:cNvPicPr>
            <a:picLocks noChangeAspect="1"/>
          </p:cNvPicPr>
          <p:nvPr/>
        </p:nvPicPr>
        <p:blipFill>
          <a:blip r:embed="rId6"/>
          <a:stretch>
            <a:fillRect/>
          </a:stretch>
        </p:blipFill>
        <p:spPr>
          <a:xfrm>
            <a:off x="8916680" y="2717048"/>
            <a:ext cx="253472" cy="253472"/>
          </a:xfrm>
          <a:prstGeom prst="rect">
            <a:avLst/>
          </a:prstGeom>
        </p:spPr>
      </p:pic>
      <p:sp>
        <p:nvSpPr>
          <p:cNvPr id="39" name="Text 33"/>
          <p:cNvSpPr txBox="1"/>
          <p:nvPr/>
        </p:nvSpPr>
        <p:spPr>
          <a:xfrm>
            <a:off x="8714232" y="3182112"/>
            <a:ext cx="3136392" cy="3657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Security &amp; recovery</a:t>
            </a:r>
            <a:endParaRPr lang="en-US" sz="1600" dirty="0"/>
          </a:p>
        </p:txBody>
      </p:sp>
      <p:sp>
        <p:nvSpPr>
          <p:cNvPr id="40" name="Shape 34"/>
          <p:cNvSpPr/>
          <p:nvPr/>
        </p:nvSpPr>
        <p:spPr>
          <a:xfrm>
            <a:off x="8750808" y="3594506"/>
            <a:ext cx="100584" cy="100584"/>
          </a:xfrm>
          <a:prstGeom prst="ellipse">
            <a:avLst/>
          </a:prstGeom>
          <a:solidFill>
            <a:srgbClr val="C9922E"/>
          </a:solidFill>
          <a:ln/>
        </p:spPr>
        <p:txBody>
          <a:bodyPr/>
          <a:lstStyle/>
          <a:p>
            <a:endParaRPr/>
          </a:p>
        </p:txBody>
      </p:sp>
      <p:sp>
        <p:nvSpPr>
          <p:cNvPr id="41" name="Text 35"/>
          <p:cNvSpPr txBox="1"/>
          <p:nvPr/>
        </p:nvSpPr>
        <p:spPr>
          <a:xfrm>
            <a:off x="8988552" y="3566160"/>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Modern authentication</a:t>
            </a:r>
            <a:r>
              <a:rPr lang="en-US" sz="1080" dirty="0">
                <a:solidFill>
                  <a:srgbClr val="6B6B6B"/>
                </a:solidFill>
                <a:latin typeface="Calibri" pitchFamily="34" charset="0"/>
                <a:ea typeface="Calibri" pitchFamily="34" charset="-122"/>
                <a:cs typeface="Calibri" pitchFamily="34" charset="-120"/>
              </a:rPr>
              <a:t>  token login with refresh rotation and reuse detection, OTP, rate limits</a:t>
            </a:r>
            <a:endParaRPr lang="en-US" sz="1080" dirty="0"/>
          </a:p>
        </p:txBody>
      </p:sp>
      <p:sp>
        <p:nvSpPr>
          <p:cNvPr id="42" name="Shape 36"/>
          <p:cNvSpPr/>
          <p:nvPr/>
        </p:nvSpPr>
        <p:spPr>
          <a:xfrm>
            <a:off x="8750808" y="4048048"/>
            <a:ext cx="100584" cy="100584"/>
          </a:xfrm>
          <a:prstGeom prst="ellipse">
            <a:avLst/>
          </a:prstGeom>
          <a:solidFill>
            <a:srgbClr val="C9922E"/>
          </a:solidFill>
          <a:ln/>
        </p:spPr>
        <p:txBody>
          <a:bodyPr/>
          <a:lstStyle/>
          <a:p>
            <a:endParaRPr/>
          </a:p>
        </p:txBody>
      </p:sp>
      <p:sp>
        <p:nvSpPr>
          <p:cNvPr id="43" name="Text 37"/>
          <p:cNvSpPr txBox="1"/>
          <p:nvPr/>
        </p:nvSpPr>
        <p:spPr>
          <a:xfrm>
            <a:off x="8988552" y="4019702"/>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Delegation and alerts</a:t>
            </a:r>
            <a:r>
              <a:rPr lang="en-US" sz="1080" dirty="0">
                <a:solidFill>
                  <a:srgbClr val="6B6B6B"/>
                </a:solidFill>
                <a:latin typeface="Calibri" pitchFamily="34" charset="0"/>
                <a:ea typeface="Calibri" pitchFamily="34" charset="-122"/>
                <a:cs typeface="Calibri" pitchFamily="34" charset="-120"/>
              </a:rPr>
              <a:t>  hand over your approvals; the bell and the phone stay live</a:t>
            </a:r>
            <a:endParaRPr lang="en-US" sz="1080" dirty="0"/>
          </a:p>
        </p:txBody>
      </p:sp>
      <p:sp>
        <p:nvSpPr>
          <p:cNvPr id="44" name="Shape 38"/>
          <p:cNvSpPr/>
          <p:nvPr/>
        </p:nvSpPr>
        <p:spPr>
          <a:xfrm>
            <a:off x="8750808" y="4501591"/>
            <a:ext cx="100584" cy="100584"/>
          </a:xfrm>
          <a:prstGeom prst="ellipse">
            <a:avLst/>
          </a:prstGeom>
          <a:solidFill>
            <a:srgbClr val="C9922E"/>
          </a:solidFill>
          <a:ln/>
        </p:spPr>
        <p:txBody>
          <a:bodyPr/>
          <a:lstStyle/>
          <a:p>
            <a:endParaRPr/>
          </a:p>
        </p:txBody>
      </p:sp>
      <p:sp>
        <p:nvSpPr>
          <p:cNvPr id="45" name="Text 39"/>
          <p:cNvSpPr txBox="1"/>
          <p:nvPr/>
        </p:nvSpPr>
        <p:spPr>
          <a:xfrm>
            <a:off x="8988552" y="4473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Recycle bin</a:t>
            </a:r>
            <a:r>
              <a:rPr lang="en-US" sz="1080" dirty="0">
                <a:solidFill>
                  <a:srgbClr val="6B6B6B"/>
                </a:solidFill>
                <a:latin typeface="Calibri" pitchFamily="34" charset="0"/>
                <a:ea typeface="Calibri" pitchFamily="34" charset="-122"/>
                <a:cs typeface="Calibri" pitchFamily="34" charset="-120"/>
              </a:rPr>
              <a:t>  deletes stay recoverable, and nothing is purged for 90 days</a:t>
            </a:r>
            <a:endParaRPr lang="en-US" sz="1080" dirty="0"/>
          </a:p>
        </p:txBody>
      </p:sp>
      <p:sp>
        <p:nvSpPr>
          <p:cNvPr id="46" name="Shape 40"/>
          <p:cNvSpPr/>
          <p:nvPr/>
        </p:nvSpPr>
        <p:spPr>
          <a:xfrm>
            <a:off x="8750808" y="4955133"/>
            <a:ext cx="100584" cy="100584"/>
          </a:xfrm>
          <a:prstGeom prst="ellipse">
            <a:avLst/>
          </a:prstGeom>
          <a:solidFill>
            <a:srgbClr val="C9922E"/>
          </a:solidFill>
          <a:ln/>
        </p:spPr>
        <p:txBody>
          <a:bodyPr/>
          <a:lstStyle/>
          <a:p>
            <a:endParaRPr/>
          </a:p>
        </p:txBody>
      </p:sp>
      <p:sp>
        <p:nvSpPr>
          <p:cNvPr id="47" name="Text 41"/>
          <p:cNvSpPr txBox="1"/>
          <p:nvPr/>
        </p:nvSpPr>
        <p:spPr>
          <a:xfrm>
            <a:off x="8988552" y="4926787"/>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Cloud backup</a:t>
            </a:r>
            <a:r>
              <a:rPr lang="en-US" sz="1080" dirty="0">
                <a:solidFill>
                  <a:srgbClr val="6B6B6B"/>
                </a:solidFill>
                <a:latin typeface="Calibri" pitchFamily="34" charset="0"/>
                <a:ea typeface="Calibri" pitchFamily="34" charset="-122"/>
                <a:cs typeface="Calibri" pitchFamily="34" charset="-120"/>
              </a:rPr>
              <a:t>  data is safely stored and recoverable, no data lost</a:t>
            </a:r>
            <a:endParaRPr lang="en-US" sz="1080" dirty="0"/>
          </a:p>
        </p:txBody>
      </p:sp>
      <p:sp>
        <p:nvSpPr>
          <p:cNvPr id="48" name="Shape 42"/>
          <p:cNvSpPr/>
          <p:nvPr/>
        </p:nvSpPr>
        <p:spPr>
          <a:xfrm>
            <a:off x="8750808" y="5409590"/>
            <a:ext cx="100584" cy="100584"/>
          </a:xfrm>
          <a:prstGeom prst="ellipse">
            <a:avLst/>
          </a:prstGeom>
          <a:solidFill>
            <a:srgbClr val="C9922E"/>
          </a:solidFill>
          <a:ln/>
        </p:spPr>
        <p:txBody>
          <a:bodyPr/>
          <a:lstStyle/>
          <a:p>
            <a:endParaRPr/>
          </a:p>
        </p:txBody>
      </p:sp>
      <p:sp>
        <p:nvSpPr>
          <p:cNvPr id="49" name="Text 43"/>
          <p:cNvSpPr txBox="1"/>
          <p:nvPr/>
        </p:nvSpPr>
        <p:spPr>
          <a:xfrm>
            <a:off x="8988552" y="5381244"/>
            <a:ext cx="2770632" cy="380390"/>
          </a:xfrm>
          <a:prstGeom prst="rect">
            <a:avLst/>
          </a:prstGeom>
          <a:noFill/>
          <a:ln/>
        </p:spPr>
        <p:txBody>
          <a:bodyPr wrap="square" lIns="0" tIns="0" rIns="0" bIns="0" rtlCol="0" anchor="t"/>
          <a:lstStyle/>
          <a:p>
            <a:pPr marL="0" indent="0">
              <a:lnSpc>
                <a:spcPct val="100000"/>
              </a:lnSpc>
              <a:buNone/>
            </a:pPr>
            <a:r>
              <a:rPr lang="en-US" sz="1080" b="1" dirty="0">
                <a:solidFill>
                  <a:srgbClr val="0A0A0A"/>
                </a:solidFill>
                <a:latin typeface="Calibri" pitchFamily="34" charset="0"/>
                <a:ea typeface="Calibri" pitchFamily="34" charset="-122"/>
                <a:cs typeface="Calibri" pitchFamily="34" charset="-120"/>
              </a:rPr>
              <a:t>Reliability</a:t>
            </a:r>
            <a:r>
              <a:rPr lang="en-US" sz="1080" dirty="0">
                <a:solidFill>
                  <a:srgbClr val="6B6B6B"/>
                </a:solidFill>
                <a:latin typeface="Calibri" pitchFamily="34" charset="0"/>
                <a:ea typeface="Calibri" pitchFamily="34" charset="-122"/>
                <a:cs typeface="Calibri" pitchFamily="34" charset="-120"/>
              </a:rPr>
              <a:t>  error tracking, health probes and scheduled jobs on a cloud platform</a:t>
            </a:r>
            <a:endParaRPr lang="en-US"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orig/ppt/media/image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02920" y="457200"/>
            <a:ext cx="10058400" cy="292608"/>
          </a:xfrm>
          <a:prstGeom prst="rect">
            <a:avLst/>
          </a:prstGeom>
          <a:noFill/>
          <a:ln/>
        </p:spPr>
        <p:txBody>
          <a:bodyPr wrap="square" lIns="0" tIns="0" rIns="0" bIns="0" rtlCol="0" anchor="ctr"/>
          <a:lstStyle/>
          <a:p>
            <a:pPr marL="0" indent="0">
              <a:buNone/>
            </a:pPr>
            <a:r>
              <a:rPr lang="en-US" sz="1200" b="1" kern="0" spc="300" dirty="0">
                <a:solidFill>
                  <a:srgbClr val="3A3A3A"/>
                </a:solidFill>
                <a:latin typeface="Calibri" pitchFamily="34" charset="0"/>
                <a:ea typeface="Calibri" pitchFamily="34" charset="-122"/>
                <a:cs typeface="Calibri" pitchFamily="34" charset="-120"/>
              </a:rPr>
              <a:t>ABOUT US</a:t>
            </a:r>
            <a:endParaRPr lang="en-US" sz="1200" dirty="0"/>
          </a:p>
        </p:txBody>
      </p:sp>
      <p:sp>
        <p:nvSpPr>
          <p:cNvPr id="4" name="Text 1"/>
          <p:cNvSpPr txBox="1"/>
          <p:nvPr/>
        </p:nvSpPr>
        <p:spPr>
          <a:xfrm>
            <a:off x="493776" y="749808"/>
            <a:ext cx="11155680" cy="822960"/>
          </a:xfrm>
          <a:prstGeom prst="rect">
            <a:avLst/>
          </a:prstGeom>
          <a:noFill/>
          <a:ln/>
        </p:spPr>
        <p:txBody>
          <a:bodyPr wrap="square" lIns="0" tIns="0" rIns="0" bIns="0" rtlCol="0" anchor="ctr"/>
          <a:lstStyle/>
          <a:p>
            <a:pPr marL="0" indent="0">
              <a:buNone/>
            </a:pPr>
            <a:r>
              <a:rPr lang="en-US" sz="3300" b="1" dirty="0">
                <a:solidFill>
                  <a:srgbClr val="0A0A0A"/>
                </a:solidFill>
                <a:latin typeface="Century Schoolbook" pitchFamily="34" charset="0"/>
                <a:ea typeface="Century Schoolbook" pitchFamily="34" charset="-122"/>
                <a:cs typeface="Century Schoolbook" pitchFamily="34" charset="-120"/>
              </a:rPr>
              <a:t>About Aillegent</a:t>
            </a:r>
            <a:endParaRPr lang="en-US" sz="3300" dirty="0"/>
          </a:p>
        </p:txBody>
      </p:sp>
      <p:sp>
        <p:nvSpPr>
          <p:cNvPr id="5" name="Text 2"/>
          <p:cNvSpPr txBox="1"/>
          <p:nvPr/>
        </p:nvSpPr>
        <p:spPr>
          <a:xfrm>
            <a:off x="502920" y="6437376"/>
            <a:ext cx="64008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SafetySetu by Aillegent</a:t>
            </a:r>
            <a:endParaRPr lang="en-US" sz="900" dirty="0"/>
          </a:p>
        </p:txBody>
      </p:sp>
      <p:sp>
        <p:nvSpPr>
          <p:cNvPr id="6" name="Text 3"/>
          <p:cNvSpPr txBox="1"/>
          <p:nvPr/>
        </p:nvSpPr>
        <p:spPr>
          <a:xfrm>
            <a:off x="11338560" y="6437376"/>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502920" y="1691640"/>
            <a:ext cx="5486400" cy="2788920"/>
          </a:xfrm>
          <a:prstGeom prst="roundRect">
            <a:avLst>
              <a:gd name="adj" fmla="val 3934"/>
            </a:avLst>
          </a:prstGeom>
          <a:solidFill>
            <a:srgbClr val="FFFFFF"/>
          </a:solidFill>
          <a:ln w="12700">
            <a:solidFill>
              <a:srgbClr val="E3E3E3"/>
            </a:solidFill>
            <a:prstDash val="solid"/>
          </a:ln>
        </p:spPr>
        <p:txBody>
          <a:bodyPr/>
          <a:lstStyle/>
          <a:p>
            <a:endParaRPr/>
          </a:p>
        </p:txBody>
      </p:sp>
      <p:sp>
        <p:nvSpPr>
          <p:cNvPr id="8" name="Text 5"/>
          <p:cNvSpPr txBox="1"/>
          <p:nvPr/>
        </p:nvSpPr>
        <p:spPr>
          <a:xfrm>
            <a:off x="777240" y="1938528"/>
            <a:ext cx="4937760" cy="274320"/>
          </a:xfrm>
          <a:prstGeom prst="rect">
            <a:avLst/>
          </a:prstGeom>
          <a:noFill/>
          <a:ln/>
        </p:spPr>
        <p:txBody>
          <a:bodyPr wrap="square" lIns="0" tIns="0" rIns="0" bIns="0" rtlCol="0" anchor="ctr"/>
          <a:lstStyle/>
          <a:p>
            <a:pPr marL="0" indent="0">
              <a:buNone/>
            </a:pPr>
            <a:r>
              <a:rPr lang="en-US" sz="1050" b="1" kern="0" spc="100" dirty="0">
                <a:solidFill>
                  <a:srgbClr val="3A3A3A"/>
                </a:solidFill>
                <a:latin typeface="Calibri" pitchFamily="34" charset="0"/>
                <a:ea typeface="Calibri" pitchFamily="34" charset="-122"/>
                <a:cs typeface="Calibri" pitchFamily="34" charset="-120"/>
              </a:rPr>
              <a:t>THE COMPANY BEHIND SAFETYSETU</a:t>
            </a:r>
            <a:endParaRPr lang="en-US" sz="1050" dirty="0"/>
          </a:p>
        </p:txBody>
      </p:sp>
      <p:sp>
        <p:nvSpPr>
          <p:cNvPr id="9" name="Text 6"/>
          <p:cNvSpPr txBox="1"/>
          <p:nvPr/>
        </p:nvSpPr>
        <p:spPr>
          <a:xfrm>
            <a:off x="777240" y="2286000"/>
            <a:ext cx="4937760" cy="960120"/>
          </a:xfrm>
          <a:prstGeom prst="rect">
            <a:avLst/>
          </a:prstGeom>
          <a:noFill/>
          <a:ln/>
        </p:spPr>
        <p:txBody>
          <a:bodyPr wrap="square" lIns="0" tIns="0" rIns="0" bIns="0" rtlCol="0" anchor="ctr"/>
          <a:lstStyle/>
          <a:p>
            <a:pPr marL="0" indent="0">
              <a:lnSpc>
                <a:spcPct val="110000"/>
              </a:lnSpc>
              <a:buNone/>
            </a:pPr>
            <a:r>
              <a:rPr lang="en-US" sz="1250" dirty="0">
                <a:solidFill>
                  <a:srgbClr val="6B6B6B"/>
                </a:solidFill>
                <a:latin typeface="Calibri" pitchFamily="34" charset="0"/>
                <a:ea typeface="Calibri" pitchFamily="34" charset="-122"/>
                <a:cs typeface="Calibri" pitchFamily="34" charset="-120"/>
              </a:rPr>
              <a:t>Aillegent builds practical safety software for Indian industrial plants. SafetySetu is its platform: Permit for electronic permits and lockout/tagout, and EntryHub for contractors, visitors and the gate, replacing paper and email with one auditable, cloud-based system.</a:t>
            </a:r>
            <a:endParaRPr lang="en-US" sz="1250" dirty="0"/>
          </a:p>
        </p:txBody>
      </p:sp>
      <p:sp>
        <p:nvSpPr>
          <p:cNvPr id="10" name="Shape 7"/>
          <p:cNvSpPr/>
          <p:nvPr/>
        </p:nvSpPr>
        <p:spPr>
          <a:xfrm>
            <a:off x="777240" y="3401568"/>
            <a:ext cx="365760" cy="365760"/>
          </a:xfrm>
          <a:prstGeom prst="ellipse">
            <a:avLst/>
          </a:prstGeom>
          <a:solidFill>
            <a:srgbClr val="EFEFEF"/>
          </a:solidFill>
          <a:ln/>
        </p:spPr>
        <p:txBody>
          <a:bodyPr/>
          <a:lstStyle/>
          <a:p>
            <a:endParaRPr/>
          </a:p>
        </p:txBody>
      </p:sp>
      <p:pic>
        <p:nvPicPr>
          <p:cNvPr id="11" name="Image 1" descr="orig/ppt/media/image35.png"/>
          <p:cNvPicPr>
            <a:picLocks noChangeAspect="1"/>
          </p:cNvPicPr>
          <p:nvPr/>
        </p:nvPicPr>
        <p:blipFill>
          <a:blip r:embed="rId4"/>
          <a:stretch>
            <a:fillRect/>
          </a:stretch>
        </p:blipFill>
        <p:spPr>
          <a:xfrm>
            <a:off x="882396" y="3506724"/>
            <a:ext cx="155448" cy="155448"/>
          </a:xfrm>
          <a:prstGeom prst="rect">
            <a:avLst/>
          </a:prstGeom>
        </p:spPr>
      </p:pic>
      <p:sp>
        <p:nvSpPr>
          <p:cNvPr id="12" name="Text 8"/>
          <p:cNvSpPr txBox="1"/>
          <p:nvPr/>
        </p:nvSpPr>
        <p:spPr>
          <a:xfrm>
            <a:off x="1252728" y="3346704"/>
            <a:ext cx="2240280" cy="457200"/>
          </a:xfrm>
          <a:prstGeom prst="rect">
            <a:avLst/>
          </a:prstGeom>
          <a:noFill/>
          <a:ln/>
        </p:spPr>
        <p:txBody>
          <a:bodyPr wrap="square" lIns="0" tIns="0" rIns="0" bIns="0" rtlCol="0" anchor="ctr"/>
          <a:lstStyle/>
          <a:p>
            <a:pPr marL="0" indent="0">
              <a:lnSpc>
                <a:spcPct val="100000"/>
              </a:lnSpc>
              <a:buNone/>
            </a:pPr>
            <a:r>
              <a:rPr lang="en-US" sz="950" b="1" dirty="0">
                <a:solidFill>
                  <a:srgbClr val="6B6B6B"/>
                </a:solidFill>
                <a:latin typeface="Calibri" pitchFamily="34" charset="0"/>
                <a:ea typeface="Calibri" pitchFamily="34" charset="-122"/>
                <a:cs typeface="Calibri" pitchFamily="34" charset="-120"/>
              </a:rPr>
              <a:t>Founded </a:t>
            </a:r>
            <a:r>
              <a:rPr lang="en-US" sz="1150" b="0" dirty="0">
                <a:solidFill>
                  <a:srgbClr val="0A0A0A"/>
                </a:solidFill>
                <a:latin typeface="Calibri" pitchFamily="34" charset="0"/>
                <a:ea typeface="Calibri" pitchFamily="34" charset="-122"/>
                <a:cs typeface="Calibri" pitchFamily="34" charset="-120"/>
              </a:rPr>
              <a:t>2025</a:t>
            </a:r>
            <a:endParaRPr lang="en-US" sz="900" dirty="0"/>
          </a:p>
        </p:txBody>
      </p:sp>
      <p:sp>
        <p:nvSpPr>
          <p:cNvPr id="13" name="Shape 9"/>
          <p:cNvSpPr/>
          <p:nvPr/>
        </p:nvSpPr>
        <p:spPr>
          <a:xfrm>
            <a:off x="3502152" y="3401568"/>
            <a:ext cx="365760" cy="365760"/>
          </a:xfrm>
          <a:prstGeom prst="ellipse">
            <a:avLst/>
          </a:prstGeom>
          <a:solidFill>
            <a:srgbClr val="EFEFEF"/>
          </a:solidFill>
          <a:ln/>
        </p:spPr>
        <p:txBody>
          <a:bodyPr/>
          <a:lstStyle/>
          <a:p>
            <a:endParaRPr/>
          </a:p>
        </p:txBody>
      </p:sp>
      <p:pic>
        <p:nvPicPr>
          <p:cNvPr id="14" name="Image 2" descr="orig/ppt/media/image39.png"/>
          <p:cNvPicPr>
            <a:picLocks noChangeAspect="1"/>
          </p:cNvPicPr>
          <p:nvPr/>
        </p:nvPicPr>
        <p:blipFill>
          <a:blip r:embed="rId5"/>
          <a:stretch>
            <a:fillRect/>
          </a:stretch>
        </p:blipFill>
        <p:spPr>
          <a:xfrm>
            <a:off x="3607308" y="3506724"/>
            <a:ext cx="155448" cy="155448"/>
          </a:xfrm>
          <a:prstGeom prst="rect">
            <a:avLst/>
          </a:prstGeom>
        </p:spPr>
      </p:pic>
      <p:sp>
        <p:nvSpPr>
          <p:cNvPr id="15" name="Text 10"/>
          <p:cNvSpPr txBox="1"/>
          <p:nvPr/>
        </p:nvSpPr>
        <p:spPr>
          <a:xfrm>
            <a:off x="3977640" y="3346704"/>
            <a:ext cx="2240280" cy="457200"/>
          </a:xfrm>
          <a:prstGeom prst="rect">
            <a:avLst/>
          </a:prstGeom>
          <a:noFill/>
          <a:ln/>
        </p:spPr>
        <p:txBody>
          <a:bodyPr wrap="square" lIns="0" tIns="0" rIns="0" bIns="0" rtlCol="0" anchor="ctr"/>
          <a:lstStyle/>
          <a:p>
            <a:pPr marL="0" indent="0">
              <a:lnSpc>
                <a:spcPct val="100000"/>
              </a:lnSpc>
              <a:buNone/>
            </a:pPr>
            <a:r>
              <a:rPr lang="en-US" sz="950" b="1" dirty="0">
                <a:solidFill>
                  <a:srgbClr val="6B6B6B"/>
                </a:solidFill>
                <a:latin typeface="Calibri" pitchFamily="34" charset="0"/>
                <a:ea typeface="Calibri" pitchFamily="34" charset="-122"/>
                <a:cs typeface="Calibri" pitchFamily="34" charset="-120"/>
              </a:rPr>
              <a:t>Headquarters </a:t>
            </a:r>
            <a:r>
              <a:rPr lang="en-US" sz="1150" b="0" dirty="0">
                <a:solidFill>
                  <a:srgbClr val="0A0A0A"/>
                </a:solidFill>
                <a:latin typeface="Calibri" pitchFamily="34" charset="0"/>
                <a:ea typeface="Calibri" pitchFamily="34" charset="-122"/>
                <a:cs typeface="Calibri" pitchFamily="34" charset="-120"/>
              </a:rPr>
              <a:t>Gandhinagar, India</a:t>
            </a:r>
            <a:endParaRPr lang="en-US" sz="900" dirty="0"/>
          </a:p>
        </p:txBody>
      </p:sp>
      <p:sp>
        <p:nvSpPr>
          <p:cNvPr id="16" name="Shape 11"/>
          <p:cNvSpPr/>
          <p:nvPr/>
        </p:nvSpPr>
        <p:spPr>
          <a:xfrm>
            <a:off x="777240" y="4023360"/>
            <a:ext cx="365760" cy="365760"/>
          </a:xfrm>
          <a:prstGeom prst="ellipse">
            <a:avLst/>
          </a:prstGeom>
          <a:solidFill>
            <a:srgbClr val="EFEFEF"/>
          </a:solidFill>
          <a:ln/>
        </p:spPr>
        <p:txBody>
          <a:bodyPr/>
          <a:lstStyle/>
          <a:p>
            <a:endParaRPr/>
          </a:p>
        </p:txBody>
      </p:sp>
      <p:pic>
        <p:nvPicPr>
          <p:cNvPr id="17" name="Image 3" descr="orig/ppt/media/image19.png"/>
          <p:cNvPicPr>
            <a:picLocks noChangeAspect="1"/>
          </p:cNvPicPr>
          <p:nvPr/>
        </p:nvPicPr>
        <p:blipFill>
          <a:blip r:embed="rId6"/>
          <a:stretch>
            <a:fillRect/>
          </a:stretch>
        </p:blipFill>
        <p:spPr>
          <a:xfrm>
            <a:off x="882396" y="4128515"/>
            <a:ext cx="155448" cy="155448"/>
          </a:xfrm>
          <a:prstGeom prst="rect">
            <a:avLst/>
          </a:prstGeom>
        </p:spPr>
      </p:pic>
      <p:sp>
        <p:nvSpPr>
          <p:cNvPr id="18" name="Text 12"/>
          <p:cNvSpPr txBox="1"/>
          <p:nvPr/>
        </p:nvSpPr>
        <p:spPr>
          <a:xfrm>
            <a:off x="1252728" y="3968496"/>
            <a:ext cx="2240280" cy="457200"/>
          </a:xfrm>
          <a:prstGeom prst="rect">
            <a:avLst/>
          </a:prstGeom>
          <a:noFill/>
          <a:ln/>
        </p:spPr>
        <p:txBody>
          <a:bodyPr wrap="square" lIns="0" tIns="0" rIns="0" bIns="0" rtlCol="0" anchor="ctr"/>
          <a:lstStyle/>
          <a:p>
            <a:pPr marL="0" indent="0">
              <a:lnSpc>
                <a:spcPct val="100000"/>
              </a:lnSpc>
              <a:buNone/>
            </a:pPr>
            <a:r>
              <a:rPr lang="en-US" sz="950" b="1" dirty="0">
                <a:solidFill>
                  <a:srgbClr val="6B6B6B"/>
                </a:solidFill>
                <a:latin typeface="Calibri" pitchFamily="34" charset="0"/>
                <a:ea typeface="Calibri" pitchFamily="34" charset="-122"/>
                <a:cs typeface="Calibri" pitchFamily="34" charset="-120"/>
              </a:rPr>
              <a:t>Focus </a:t>
            </a:r>
            <a:r>
              <a:rPr lang="en-US" sz="1150" b="0" dirty="0">
                <a:solidFill>
                  <a:srgbClr val="0A0A0A"/>
                </a:solidFill>
                <a:latin typeface="Calibri" pitchFamily="34" charset="0"/>
                <a:ea typeface="Calibri" pitchFamily="34" charset="-122"/>
                <a:cs typeface="Calibri" pitchFamily="34" charset="-120"/>
              </a:rPr>
              <a:t>Industrial EHS software</a:t>
            </a:r>
            <a:endParaRPr lang="en-US" sz="900" dirty="0"/>
          </a:p>
        </p:txBody>
      </p:sp>
      <p:sp>
        <p:nvSpPr>
          <p:cNvPr id="19" name="Shape 13"/>
          <p:cNvSpPr/>
          <p:nvPr/>
        </p:nvSpPr>
        <p:spPr>
          <a:xfrm>
            <a:off x="3502152" y="4023360"/>
            <a:ext cx="365760" cy="365760"/>
          </a:xfrm>
          <a:prstGeom prst="ellipse">
            <a:avLst/>
          </a:prstGeom>
          <a:solidFill>
            <a:srgbClr val="EFEFEF"/>
          </a:solidFill>
          <a:ln/>
        </p:spPr>
        <p:txBody>
          <a:bodyPr/>
          <a:lstStyle/>
          <a:p>
            <a:endParaRPr/>
          </a:p>
        </p:txBody>
      </p:sp>
      <p:pic>
        <p:nvPicPr>
          <p:cNvPr id="20" name="Image 4" descr="orig/ppt/media/image27.png"/>
          <p:cNvPicPr>
            <a:picLocks noChangeAspect="1"/>
          </p:cNvPicPr>
          <p:nvPr/>
        </p:nvPicPr>
        <p:blipFill>
          <a:blip r:embed="rId7"/>
          <a:stretch>
            <a:fillRect/>
          </a:stretch>
        </p:blipFill>
        <p:spPr>
          <a:xfrm>
            <a:off x="3607308" y="4128515"/>
            <a:ext cx="155448" cy="155448"/>
          </a:xfrm>
          <a:prstGeom prst="rect">
            <a:avLst/>
          </a:prstGeom>
        </p:spPr>
      </p:pic>
      <p:sp>
        <p:nvSpPr>
          <p:cNvPr id="21" name="Text 14"/>
          <p:cNvSpPr txBox="1"/>
          <p:nvPr/>
        </p:nvSpPr>
        <p:spPr>
          <a:xfrm>
            <a:off x="3977640" y="3968496"/>
            <a:ext cx="2240280" cy="457200"/>
          </a:xfrm>
          <a:prstGeom prst="rect">
            <a:avLst/>
          </a:prstGeom>
          <a:noFill/>
          <a:ln/>
        </p:spPr>
        <p:txBody>
          <a:bodyPr wrap="square" lIns="0" tIns="0" rIns="0" bIns="0" rtlCol="0" anchor="ctr"/>
          <a:lstStyle/>
          <a:p>
            <a:pPr marL="0" indent="0">
              <a:lnSpc>
                <a:spcPct val="100000"/>
              </a:lnSpc>
              <a:buNone/>
            </a:pPr>
            <a:r>
              <a:rPr lang="en-US" sz="950" b="1" dirty="0">
                <a:solidFill>
                  <a:srgbClr val="6B6B6B"/>
                </a:solidFill>
                <a:latin typeface="Calibri" pitchFamily="34" charset="0"/>
                <a:ea typeface="Calibri" pitchFamily="34" charset="-122"/>
                <a:cs typeface="Calibri" pitchFamily="34" charset="-120"/>
              </a:rPr>
              <a:t>Products </a:t>
            </a:r>
            <a:r>
              <a:rPr lang="en-US" sz="1150" b="0" dirty="0">
                <a:solidFill>
                  <a:srgbClr val="0A0A0A"/>
                </a:solidFill>
                <a:latin typeface="Calibri" pitchFamily="34" charset="0"/>
                <a:ea typeface="Calibri" pitchFamily="34" charset="-122"/>
                <a:cs typeface="Calibri" pitchFamily="34" charset="-120"/>
              </a:rPr>
              <a:t>Permit · EntryHub</a:t>
            </a:r>
            <a:endParaRPr lang="en-US" sz="900" dirty="0"/>
          </a:p>
        </p:txBody>
      </p:sp>
      <p:sp>
        <p:nvSpPr>
          <p:cNvPr id="22" name="Shape 15"/>
          <p:cNvSpPr/>
          <p:nvPr/>
        </p:nvSpPr>
        <p:spPr>
          <a:xfrm>
            <a:off x="6199632" y="1691640"/>
            <a:ext cx="5486400" cy="2788920"/>
          </a:xfrm>
          <a:prstGeom prst="roundRect">
            <a:avLst>
              <a:gd name="adj" fmla="val 3934"/>
            </a:avLst>
          </a:prstGeom>
          <a:solidFill>
            <a:srgbClr val="111111"/>
          </a:solidFill>
          <a:ln/>
        </p:spPr>
        <p:txBody>
          <a:bodyPr/>
          <a:lstStyle/>
          <a:p>
            <a:endParaRPr/>
          </a:p>
        </p:txBody>
      </p:sp>
      <p:sp>
        <p:nvSpPr>
          <p:cNvPr id="23" name="Text 16"/>
          <p:cNvSpPr txBox="1"/>
          <p:nvPr/>
        </p:nvSpPr>
        <p:spPr>
          <a:xfrm>
            <a:off x="6473952" y="1938528"/>
            <a:ext cx="4937760" cy="274320"/>
          </a:xfrm>
          <a:prstGeom prst="rect">
            <a:avLst/>
          </a:prstGeom>
          <a:noFill/>
          <a:ln/>
        </p:spPr>
        <p:txBody>
          <a:bodyPr wrap="square" lIns="0" tIns="0" rIns="0" bIns="0" rtlCol="0" anchor="ctr"/>
          <a:lstStyle/>
          <a:p>
            <a:pPr marL="0" indent="0">
              <a:buNone/>
            </a:pPr>
            <a:r>
              <a:rPr lang="en-US" sz="1050" b="1" kern="0" spc="100" dirty="0">
                <a:solidFill>
                  <a:srgbClr val="A3A3A3"/>
                </a:solidFill>
                <a:latin typeface="Calibri" pitchFamily="34" charset="0"/>
                <a:ea typeface="Calibri" pitchFamily="34" charset="-122"/>
                <a:cs typeface="Calibri" pitchFamily="34" charset="-120"/>
              </a:rPr>
              <a:t>WHAT’S NEXT · READY TO GROW WITH YOU</a:t>
            </a:r>
            <a:endParaRPr lang="en-US" sz="1050" dirty="0"/>
          </a:p>
        </p:txBody>
      </p:sp>
      <p:sp>
        <p:nvSpPr>
          <p:cNvPr id="24" name="Shape 17"/>
          <p:cNvSpPr/>
          <p:nvPr/>
        </p:nvSpPr>
        <p:spPr>
          <a:xfrm>
            <a:off x="6473952" y="2342692"/>
            <a:ext cx="146304" cy="146304"/>
          </a:xfrm>
          <a:prstGeom prst="ellipse">
            <a:avLst/>
          </a:prstGeom>
          <a:solidFill>
            <a:srgbClr val="C9922E"/>
          </a:solidFill>
          <a:ln/>
        </p:spPr>
        <p:txBody>
          <a:bodyPr/>
          <a:lstStyle/>
          <a:p>
            <a:endParaRPr/>
          </a:p>
        </p:txBody>
      </p:sp>
      <p:sp>
        <p:nvSpPr>
          <p:cNvPr id="25" name="Text 18"/>
          <p:cNvSpPr txBox="1"/>
          <p:nvPr/>
        </p:nvSpPr>
        <p:spPr>
          <a:xfrm>
            <a:off x="6784848" y="2331720"/>
            <a:ext cx="4709160" cy="402336"/>
          </a:xfrm>
          <a:prstGeom prst="rect">
            <a:avLst/>
          </a:prstGeom>
          <a:noFill/>
          <a:ln/>
        </p:spPr>
        <p:txBody>
          <a:bodyPr wrap="square" lIns="0" tIns="0" rIns="0" bIns="0" rtlCol="0" anchor="t"/>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Email and SMS delivery</a:t>
            </a:r>
            <a:r>
              <a:rPr lang="en-US" sz="1150" dirty="0">
                <a:solidFill>
                  <a:srgbClr val="D4D4D4"/>
                </a:solidFill>
                <a:latin typeface="Calibri" pitchFamily="34" charset="0"/>
                <a:ea typeface="Calibri" pitchFamily="34" charset="-122"/>
                <a:cs typeface="Calibri" pitchFamily="34" charset="-120"/>
              </a:rPr>
              <a:t>  permit and gate alerts sent straight to a phone, not only in the app</a:t>
            </a:r>
            <a:endParaRPr lang="en-US" sz="1150" dirty="0"/>
          </a:p>
        </p:txBody>
      </p:sp>
      <p:sp>
        <p:nvSpPr>
          <p:cNvPr id="26" name="Shape 19"/>
          <p:cNvSpPr/>
          <p:nvPr/>
        </p:nvSpPr>
        <p:spPr>
          <a:xfrm>
            <a:off x="6473952" y="2817266"/>
            <a:ext cx="146304" cy="146304"/>
          </a:xfrm>
          <a:prstGeom prst="ellipse">
            <a:avLst/>
          </a:prstGeom>
          <a:solidFill>
            <a:srgbClr val="C9922E"/>
          </a:solidFill>
          <a:ln/>
        </p:spPr>
        <p:txBody>
          <a:bodyPr/>
          <a:lstStyle/>
          <a:p>
            <a:endParaRPr/>
          </a:p>
        </p:txBody>
      </p:sp>
      <p:sp>
        <p:nvSpPr>
          <p:cNvPr id="27" name="Text 20"/>
          <p:cNvSpPr txBox="1"/>
          <p:nvPr/>
        </p:nvSpPr>
        <p:spPr>
          <a:xfrm>
            <a:off x="6784848" y="2807208"/>
            <a:ext cx="4709160" cy="402336"/>
          </a:xfrm>
          <a:prstGeom prst="rect">
            <a:avLst/>
          </a:prstGeom>
          <a:noFill/>
          <a:ln/>
        </p:spPr>
        <p:txBody>
          <a:bodyPr wrap="square" lIns="0" tIns="0" rIns="0" bIns="0" rtlCol="0" anchor="t"/>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Safety training and test</a:t>
            </a:r>
            <a:r>
              <a:rPr lang="en-US" sz="1150" dirty="0">
                <a:solidFill>
                  <a:srgbClr val="D4D4D4"/>
                </a:solidFill>
                <a:latin typeface="Calibri" pitchFamily="34" charset="0"/>
                <a:ea typeface="Calibri" pitchFamily="34" charset="-122"/>
                <a:cs typeface="Calibri" pitchFamily="34" charset="-120"/>
              </a:rPr>
              <a:t>  an online induction with a short test, passed before a pass is issued</a:t>
            </a:r>
            <a:endParaRPr lang="en-US" sz="1150" dirty="0"/>
          </a:p>
        </p:txBody>
      </p:sp>
      <p:sp>
        <p:nvSpPr>
          <p:cNvPr id="28" name="Shape 21"/>
          <p:cNvSpPr/>
          <p:nvPr/>
        </p:nvSpPr>
        <p:spPr>
          <a:xfrm>
            <a:off x="6473952" y="3292754"/>
            <a:ext cx="146304" cy="146304"/>
          </a:xfrm>
          <a:prstGeom prst="ellipse">
            <a:avLst/>
          </a:prstGeom>
          <a:solidFill>
            <a:srgbClr val="C9922E"/>
          </a:solidFill>
          <a:ln/>
        </p:spPr>
        <p:txBody>
          <a:bodyPr/>
          <a:lstStyle/>
          <a:p>
            <a:endParaRPr/>
          </a:p>
        </p:txBody>
      </p:sp>
      <p:sp>
        <p:nvSpPr>
          <p:cNvPr id="29" name="Text 22"/>
          <p:cNvSpPr txBox="1"/>
          <p:nvPr/>
        </p:nvSpPr>
        <p:spPr>
          <a:xfrm>
            <a:off x="6784848" y="3282696"/>
            <a:ext cx="4709160" cy="224028"/>
          </a:xfrm>
          <a:prstGeom prst="rect">
            <a:avLst/>
          </a:prstGeom>
          <a:noFill/>
          <a:ln/>
        </p:spPr>
        <p:txBody>
          <a:bodyPr wrap="square" lIns="0" tIns="0" rIns="0" bIns="0" rtlCol="0" anchor="t"/>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Offline gate tablet</a:t>
            </a:r>
            <a:r>
              <a:rPr lang="en-US" sz="1150" dirty="0">
                <a:solidFill>
                  <a:srgbClr val="D4D4D4"/>
                </a:solidFill>
                <a:latin typeface="Calibri" pitchFamily="34" charset="0"/>
                <a:ea typeface="Calibri" pitchFamily="34" charset="-122"/>
                <a:cs typeface="Calibri" pitchFamily="34" charset="-120"/>
              </a:rPr>
              <a:t>  a barrier that keeps working when the network does not</a:t>
            </a:r>
            <a:endParaRPr lang="en-US" sz="1150" dirty="0"/>
          </a:p>
        </p:txBody>
      </p:sp>
      <p:sp>
        <p:nvSpPr>
          <p:cNvPr id="30" name="Shape 23"/>
          <p:cNvSpPr/>
          <p:nvPr/>
        </p:nvSpPr>
        <p:spPr>
          <a:xfrm>
            <a:off x="6473952" y="3589934"/>
            <a:ext cx="146304" cy="146304"/>
          </a:xfrm>
          <a:prstGeom prst="ellipse">
            <a:avLst/>
          </a:prstGeom>
          <a:solidFill>
            <a:srgbClr val="C9922E"/>
          </a:solidFill>
          <a:ln/>
        </p:spPr>
        <p:txBody>
          <a:bodyPr/>
          <a:lstStyle/>
          <a:p>
            <a:endParaRPr/>
          </a:p>
        </p:txBody>
      </p:sp>
      <p:sp>
        <p:nvSpPr>
          <p:cNvPr id="31" name="Text 24"/>
          <p:cNvSpPr txBox="1"/>
          <p:nvPr/>
        </p:nvSpPr>
        <p:spPr>
          <a:xfrm>
            <a:off x="6784848" y="3579876"/>
            <a:ext cx="4709160" cy="224028"/>
          </a:xfrm>
          <a:prstGeom prst="rect">
            <a:avLst/>
          </a:prstGeom>
          <a:noFill/>
          <a:ln/>
        </p:spPr>
        <p:txBody>
          <a:bodyPr wrap="square" lIns="0" tIns="0" rIns="0" bIns="0" rtlCol="0" anchor="t"/>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SIMS-OPS</a:t>
            </a:r>
            <a:r>
              <a:rPr lang="en-US" sz="1150" dirty="0">
                <a:solidFill>
                  <a:srgbClr val="D4D4D4"/>
                </a:solidFill>
                <a:latin typeface="Calibri" pitchFamily="34" charset="0"/>
                <a:ea typeface="Calibri" pitchFamily="34" charset="-122"/>
                <a:cs typeface="Calibri" pitchFamily="34" charset="-120"/>
              </a:rPr>
              <a:t>  the next product on the SafetySetu platform, in design now</a:t>
            </a:r>
            <a:endParaRPr lang="en-US" sz="1150" dirty="0"/>
          </a:p>
        </p:txBody>
      </p:sp>
      <p:sp>
        <p:nvSpPr>
          <p:cNvPr id="34" name="Text 27"/>
          <p:cNvSpPr txBox="1"/>
          <p:nvPr/>
        </p:nvSpPr>
        <p:spPr>
          <a:xfrm>
            <a:off x="502920" y="4626864"/>
            <a:ext cx="10058400" cy="274320"/>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ONBOARDING, TRAINING &amp; 24×7 SUPPORT</a:t>
            </a:r>
            <a:endParaRPr lang="en-US" sz="1100" dirty="0"/>
          </a:p>
        </p:txBody>
      </p:sp>
      <p:sp>
        <p:nvSpPr>
          <p:cNvPr id="35" name="Shape 28"/>
          <p:cNvSpPr/>
          <p:nvPr/>
        </p:nvSpPr>
        <p:spPr>
          <a:xfrm>
            <a:off x="502920" y="4983480"/>
            <a:ext cx="2697480" cy="1298448"/>
          </a:xfrm>
          <a:prstGeom prst="roundRect">
            <a:avLst>
              <a:gd name="adj" fmla="val 7042"/>
            </a:avLst>
          </a:prstGeom>
          <a:solidFill>
            <a:srgbClr val="F3F3F3"/>
          </a:solidFill>
          <a:ln w="12700">
            <a:solidFill>
              <a:srgbClr val="E3E3E3"/>
            </a:solidFill>
            <a:prstDash val="solid"/>
          </a:ln>
        </p:spPr>
        <p:txBody>
          <a:bodyPr/>
          <a:lstStyle/>
          <a:p>
            <a:endParaRPr/>
          </a:p>
        </p:txBody>
      </p:sp>
      <p:sp>
        <p:nvSpPr>
          <p:cNvPr id="36" name="Shape 29"/>
          <p:cNvSpPr/>
          <p:nvPr/>
        </p:nvSpPr>
        <p:spPr>
          <a:xfrm>
            <a:off x="704088" y="5166360"/>
            <a:ext cx="420624" cy="420624"/>
          </a:xfrm>
          <a:prstGeom prst="ellipse">
            <a:avLst/>
          </a:prstGeom>
          <a:solidFill>
            <a:srgbClr val="111111"/>
          </a:solidFill>
          <a:ln/>
        </p:spPr>
        <p:txBody>
          <a:bodyPr/>
          <a:lstStyle/>
          <a:p>
            <a:endParaRPr/>
          </a:p>
        </p:txBody>
      </p:sp>
      <p:pic>
        <p:nvPicPr>
          <p:cNvPr id="37" name="Image 5" descr="icons/users-white.png"/>
          <p:cNvPicPr>
            <a:picLocks noChangeAspect="1"/>
          </p:cNvPicPr>
          <p:nvPr/>
        </p:nvPicPr>
        <p:blipFill>
          <a:blip r:embed="rId8"/>
          <a:stretch>
            <a:fillRect/>
          </a:stretch>
        </p:blipFill>
        <p:spPr>
          <a:xfrm>
            <a:off x="827532" y="5289804"/>
            <a:ext cx="173736" cy="173736"/>
          </a:xfrm>
          <a:prstGeom prst="rect">
            <a:avLst/>
          </a:prstGeom>
        </p:spPr>
      </p:pic>
      <p:sp>
        <p:nvSpPr>
          <p:cNvPr id="38" name="Text 30"/>
          <p:cNvSpPr txBox="1"/>
          <p:nvPr/>
        </p:nvSpPr>
        <p:spPr>
          <a:xfrm>
            <a:off x="1216152" y="5166360"/>
            <a:ext cx="1874520" cy="42062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Product training</a:t>
            </a:r>
            <a:endParaRPr lang="en-US" sz="1200" dirty="0"/>
          </a:p>
        </p:txBody>
      </p:sp>
      <p:sp>
        <p:nvSpPr>
          <p:cNvPr id="39" name="Text 31"/>
          <p:cNvSpPr txBox="1"/>
          <p:nvPr/>
        </p:nvSpPr>
        <p:spPr>
          <a:xfrm>
            <a:off x="722376" y="5669280"/>
            <a:ext cx="2276856" cy="548640"/>
          </a:xfrm>
          <a:prstGeom prst="rect">
            <a:avLst/>
          </a:prstGeom>
          <a:noFill/>
          <a:ln/>
        </p:spPr>
        <p:txBody>
          <a:bodyPr wrap="square" lIns="0" tIns="0" rIns="0" bIns="0" rtlCol="0" anchor="ctr"/>
          <a:lstStyle/>
          <a:p>
            <a:pPr marL="0" indent="0">
              <a:lnSpc>
                <a:spcPct val="105000"/>
              </a:lnSpc>
              <a:buNone/>
            </a:pPr>
            <a:r>
              <a:rPr lang="en-US" sz="930" dirty="0">
                <a:solidFill>
                  <a:srgbClr val="6B6B6B"/>
                </a:solidFill>
                <a:latin typeface="Calibri" pitchFamily="34" charset="0"/>
                <a:ea typeface="Calibri" pitchFamily="34" charset="-122"/>
                <a:cs typeface="Calibri" pitchFamily="34" charset="-120"/>
              </a:rPr>
              <a:t>Hands-on onboarding for your team, on-site or online.</a:t>
            </a:r>
            <a:endParaRPr lang="en-US" sz="930" dirty="0"/>
          </a:p>
        </p:txBody>
      </p:sp>
      <p:sp>
        <p:nvSpPr>
          <p:cNvPr id="40" name="Shape 32"/>
          <p:cNvSpPr/>
          <p:nvPr/>
        </p:nvSpPr>
        <p:spPr>
          <a:xfrm>
            <a:off x="3493008" y="4983480"/>
            <a:ext cx="2697480" cy="1298448"/>
          </a:xfrm>
          <a:prstGeom prst="roundRect">
            <a:avLst>
              <a:gd name="adj" fmla="val 7042"/>
            </a:avLst>
          </a:prstGeom>
          <a:solidFill>
            <a:srgbClr val="F3F3F3"/>
          </a:solidFill>
          <a:ln w="12700">
            <a:solidFill>
              <a:srgbClr val="E3E3E3"/>
            </a:solidFill>
            <a:prstDash val="solid"/>
          </a:ln>
        </p:spPr>
        <p:txBody>
          <a:bodyPr/>
          <a:lstStyle/>
          <a:p>
            <a:endParaRPr/>
          </a:p>
        </p:txBody>
      </p:sp>
      <p:sp>
        <p:nvSpPr>
          <p:cNvPr id="41" name="Shape 33"/>
          <p:cNvSpPr/>
          <p:nvPr/>
        </p:nvSpPr>
        <p:spPr>
          <a:xfrm>
            <a:off x="3694176" y="5166360"/>
            <a:ext cx="420624" cy="420624"/>
          </a:xfrm>
          <a:prstGeom prst="ellipse">
            <a:avLst/>
          </a:prstGeom>
          <a:solidFill>
            <a:srgbClr val="111111"/>
          </a:solidFill>
          <a:ln/>
        </p:spPr>
        <p:txBody>
          <a:bodyPr/>
          <a:lstStyle/>
          <a:p>
            <a:endParaRPr/>
          </a:p>
        </p:txBody>
      </p:sp>
      <p:pic>
        <p:nvPicPr>
          <p:cNvPr id="42" name="Image 6" descr="orig/ppt/media/image40.png"/>
          <p:cNvPicPr>
            <a:picLocks noChangeAspect="1"/>
          </p:cNvPicPr>
          <p:nvPr/>
        </p:nvPicPr>
        <p:blipFill>
          <a:blip r:embed="rId9"/>
          <a:stretch>
            <a:fillRect/>
          </a:stretch>
        </p:blipFill>
        <p:spPr>
          <a:xfrm>
            <a:off x="3817620" y="5289804"/>
            <a:ext cx="173736" cy="173736"/>
          </a:xfrm>
          <a:prstGeom prst="rect">
            <a:avLst/>
          </a:prstGeom>
        </p:spPr>
      </p:pic>
      <p:sp>
        <p:nvSpPr>
          <p:cNvPr id="43" name="Text 34"/>
          <p:cNvSpPr txBox="1"/>
          <p:nvPr/>
        </p:nvSpPr>
        <p:spPr>
          <a:xfrm>
            <a:off x="4206240" y="5166360"/>
            <a:ext cx="1874520" cy="42062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24×7 support</a:t>
            </a:r>
            <a:endParaRPr lang="en-US" sz="1200" dirty="0"/>
          </a:p>
        </p:txBody>
      </p:sp>
      <p:sp>
        <p:nvSpPr>
          <p:cNvPr id="44" name="Text 35"/>
          <p:cNvSpPr txBox="1"/>
          <p:nvPr/>
        </p:nvSpPr>
        <p:spPr>
          <a:xfrm>
            <a:off x="3712464" y="5669280"/>
            <a:ext cx="2276856" cy="548640"/>
          </a:xfrm>
          <a:prstGeom prst="rect">
            <a:avLst/>
          </a:prstGeom>
          <a:noFill/>
          <a:ln/>
        </p:spPr>
        <p:txBody>
          <a:bodyPr wrap="square" lIns="0" tIns="0" rIns="0" bIns="0" rtlCol="0" anchor="ctr"/>
          <a:lstStyle/>
          <a:p>
            <a:pPr marL="0" indent="0">
              <a:lnSpc>
                <a:spcPct val="105000"/>
              </a:lnSpc>
              <a:buNone/>
            </a:pPr>
            <a:r>
              <a:rPr lang="en-US" sz="930" dirty="0">
                <a:solidFill>
                  <a:srgbClr val="6B6B6B"/>
                </a:solidFill>
                <a:latin typeface="Calibri" pitchFamily="34" charset="0"/>
                <a:ea typeface="Calibri" pitchFamily="34" charset="-122"/>
                <a:cs typeface="Calibri" pitchFamily="34" charset="-120"/>
              </a:rPr>
              <a:t>Round-the-clock help whenever a permit can’t wait.</a:t>
            </a:r>
            <a:endParaRPr lang="en-US" sz="930" dirty="0"/>
          </a:p>
        </p:txBody>
      </p:sp>
      <p:sp>
        <p:nvSpPr>
          <p:cNvPr id="45" name="Shape 36"/>
          <p:cNvSpPr/>
          <p:nvPr/>
        </p:nvSpPr>
        <p:spPr>
          <a:xfrm>
            <a:off x="6483096" y="4983480"/>
            <a:ext cx="2697480" cy="1298448"/>
          </a:xfrm>
          <a:prstGeom prst="roundRect">
            <a:avLst>
              <a:gd name="adj" fmla="val 7042"/>
            </a:avLst>
          </a:prstGeom>
          <a:solidFill>
            <a:srgbClr val="F3F3F3"/>
          </a:solidFill>
          <a:ln w="12700">
            <a:solidFill>
              <a:srgbClr val="E3E3E3"/>
            </a:solidFill>
            <a:prstDash val="solid"/>
          </a:ln>
        </p:spPr>
        <p:txBody>
          <a:bodyPr/>
          <a:lstStyle/>
          <a:p>
            <a:endParaRPr/>
          </a:p>
        </p:txBody>
      </p:sp>
      <p:sp>
        <p:nvSpPr>
          <p:cNvPr id="46" name="Shape 37"/>
          <p:cNvSpPr/>
          <p:nvPr/>
        </p:nvSpPr>
        <p:spPr>
          <a:xfrm>
            <a:off x="6684264" y="5166360"/>
            <a:ext cx="420624" cy="420624"/>
          </a:xfrm>
          <a:prstGeom prst="ellipse">
            <a:avLst/>
          </a:prstGeom>
          <a:solidFill>
            <a:srgbClr val="111111"/>
          </a:solidFill>
          <a:ln/>
        </p:spPr>
        <p:txBody>
          <a:bodyPr/>
          <a:lstStyle/>
          <a:p>
            <a:endParaRPr/>
          </a:p>
        </p:txBody>
      </p:sp>
      <p:pic>
        <p:nvPicPr>
          <p:cNvPr id="47" name="Image 7" descr="orig/ppt/media/image41.png"/>
          <p:cNvPicPr>
            <a:picLocks noChangeAspect="1"/>
          </p:cNvPicPr>
          <p:nvPr/>
        </p:nvPicPr>
        <p:blipFill>
          <a:blip r:embed="rId10"/>
          <a:stretch>
            <a:fillRect/>
          </a:stretch>
        </p:blipFill>
        <p:spPr>
          <a:xfrm>
            <a:off x="6807708" y="5289804"/>
            <a:ext cx="173736" cy="173736"/>
          </a:xfrm>
          <a:prstGeom prst="rect">
            <a:avLst/>
          </a:prstGeom>
        </p:spPr>
      </p:pic>
      <p:sp>
        <p:nvSpPr>
          <p:cNvPr id="48" name="Text 38"/>
          <p:cNvSpPr txBox="1"/>
          <p:nvPr/>
        </p:nvSpPr>
        <p:spPr>
          <a:xfrm>
            <a:off x="7196328" y="5166360"/>
            <a:ext cx="1874520" cy="42062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Every channel</a:t>
            </a:r>
            <a:endParaRPr lang="en-US" sz="1200" dirty="0"/>
          </a:p>
        </p:txBody>
      </p:sp>
      <p:sp>
        <p:nvSpPr>
          <p:cNvPr id="49" name="Text 39"/>
          <p:cNvSpPr txBox="1"/>
          <p:nvPr/>
        </p:nvSpPr>
        <p:spPr>
          <a:xfrm>
            <a:off x="6702552" y="5669280"/>
            <a:ext cx="2276856" cy="548640"/>
          </a:xfrm>
          <a:prstGeom prst="rect">
            <a:avLst/>
          </a:prstGeom>
          <a:noFill/>
          <a:ln/>
        </p:spPr>
        <p:txBody>
          <a:bodyPr wrap="square" lIns="0" tIns="0" rIns="0" bIns="0" rtlCol="0" anchor="ctr"/>
          <a:lstStyle/>
          <a:p>
            <a:pPr marL="0" indent="0">
              <a:lnSpc>
                <a:spcPct val="105000"/>
              </a:lnSpc>
              <a:buNone/>
            </a:pPr>
            <a:r>
              <a:rPr lang="en-US" sz="930" dirty="0">
                <a:solidFill>
                  <a:srgbClr val="6B6B6B"/>
                </a:solidFill>
                <a:latin typeface="Calibri" pitchFamily="34" charset="0"/>
                <a:ea typeface="Calibri" pitchFamily="34" charset="-122"/>
                <a:cs typeface="Calibri" pitchFamily="34" charset="-120"/>
              </a:rPr>
              <a:t>Email, phone and chat, one team for it all.</a:t>
            </a:r>
            <a:endParaRPr lang="en-US" sz="930" dirty="0"/>
          </a:p>
        </p:txBody>
      </p:sp>
      <p:sp>
        <p:nvSpPr>
          <p:cNvPr id="50" name="Shape 40"/>
          <p:cNvSpPr/>
          <p:nvPr/>
        </p:nvSpPr>
        <p:spPr>
          <a:xfrm>
            <a:off x="9473184" y="4983480"/>
            <a:ext cx="2697480" cy="1298448"/>
          </a:xfrm>
          <a:prstGeom prst="roundRect">
            <a:avLst>
              <a:gd name="adj" fmla="val 7042"/>
            </a:avLst>
          </a:prstGeom>
          <a:solidFill>
            <a:srgbClr val="F3F3F3"/>
          </a:solidFill>
          <a:ln w="12700">
            <a:solidFill>
              <a:srgbClr val="E3E3E3"/>
            </a:solidFill>
            <a:prstDash val="solid"/>
          </a:ln>
        </p:spPr>
        <p:txBody>
          <a:bodyPr/>
          <a:lstStyle/>
          <a:p>
            <a:endParaRPr/>
          </a:p>
        </p:txBody>
      </p:sp>
      <p:sp>
        <p:nvSpPr>
          <p:cNvPr id="51" name="Shape 41"/>
          <p:cNvSpPr/>
          <p:nvPr/>
        </p:nvSpPr>
        <p:spPr>
          <a:xfrm>
            <a:off x="9674352" y="5166360"/>
            <a:ext cx="420624" cy="420624"/>
          </a:xfrm>
          <a:prstGeom prst="ellipse">
            <a:avLst/>
          </a:prstGeom>
          <a:solidFill>
            <a:srgbClr val="111111"/>
          </a:solidFill>
          <a:ln/>
        </p:spPr>
        <p:txBody>
          <a:bodyPr/>
          <a:lstStyle/>
          <a:p>
            <a:endParaRPr/>
          </a:p>
        </p:txBody>
      </p:sp>
      <p:pic>
        <p:nvPicPr>
          <p:cNvPr id="52" name="Image 8" descr="orig/ppt/media/image42.png"/>
          <p:cNvPicPr>
            <a:picLocks noChangeAspect="1"/>
          </p:cNvPicPr>
          <p:nvPr/>
        </p:nvPicPr>
        <p:blipFill>
          <a:blip r:embed="rId11"/>
          <a:stretch>
            <a:fillRect/>
          </a:stretch>
        </p:blipFill>
        <p:spPr>
          <a:xfrm>
            <a:off x="9797796" y="5289804"/>
            <a:ext cx="173736" cy="173736"/>
          </a:xfrm>
          <a:prstGeom prst="rect">
            <a:avLst/>
          </a:prstGeom>
        </p:spPr>
      </p:pic>
      <p:sp>
        <p:nvSpPr>
          <p:cNvPr id="53" name="Text 42"/>
          <p:cNvSpPr txBox="1"/>
          <p:nvPr/>
        </p:nvSpPr>
        <p:spPr>
          <a:xfrm>
            <a:off x="10186416" y="5166360"/>
            <a:ext cx="1874520" cy="42062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Setup &amp; rollout</a:t>
            </a:r>
            <a:endParaRPr lang="en-US" sz="1200" dirty="0"/>
          </a:p>
        </p:txBody>
      </p:sp>
      <p:sp>
        <p:nvSpPr>
          <p:cNvPr id="54" name="Text 43"/>
          <p:cNvSpPr txBox="1"/>
          <p:nvPr/>
        </p:nvSpPr>
        <p:spPr>
          <a:xfrm>
            <a:off x="9692640" y="5669280"/>
            <a:ext cx="2276856" cy="548640"/>
          </a:xfrm>
          <a:prstGeom prst="rect">
            <a:avLst/>
          </a:prstGeom>
          <a:noFill/>
          <a:ln/>
        </p:spPr>
        <p:txBody>
          <a:bodyPr wrap="square" lIns="0" tIns="0" rIns="0" bIns="0" rtlCol="0" anchor="ctr"/>
          <a:lstStyle/>
          <a:p>
            <a:pPr marL="0" indent="0">
              <a:lnSpc>
                <a:spcPct val="105000"/>
              </a:lnSpc>
              <a:buNone/>
            </a:pPr>
            <a:r>
              <a:rPr lang="en-US" sz="930" dirty="0">
                <a:solidFill>
                  <a:srgbClr val="6B6B6B"/>
                </a:solidFill>
                <a:latin typeface="Calibri" pitchFamily="34" charset="0"/>
                <a:ea typeface="Calibri" pitchFamily="34" charset="-122"/>
                <a:cs typeface="Calibri" pitchFamily="34" charset="-120"/>
              </a:rPr>
              <a:t>We configure your permits, gates, roles and go-live.</a:t>
            </a:r>
            <a:endParaRPr lang="en-US" sz="9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orig/ppt/media/image43.jpg"/>
          <p:cNvPicPr>
            <a:picLocks noChangeAspect="1"/>
          </p:cNvPicPr>
          <p:nvPr/>
        </p:nvPicPr>
        <p:blipFill>
          <a:blip r:embed="rId3"/>
          <a:stretch>
            <a:fillRect/>
          </a:stretch>
        </p:blipFill>
        <p:spPr>
          <a:xfrm>
            <a:off x="0" y="0"/>
            <a:ext cx="12191695" cy="6858000"/>
          </a:xfrm>
          <a:prstGeom prst="rect">
            <a:avLst/>
          </a:prstGeom>
        </p:spPr>
      </p:pic>
      <p:pic>
        <p:nvPicPr>
          <p:cNvPr id="4" name="Image 1" descr="orig/ppt/media/image2.png"/>
          <p:cNvPicPr>
            <a:picLocks noChangeAspect="1"/>
          </p:cNvPicPr>
          <p:nvPr/>
        </p:nvPicPr>
        <p:blipFill>
          <a:blip r:embed="rId4"/>
          <a:stretch>
            <a:fillRect/>
          </a:stretch>
        </p:blipFill>
        <p:spPr>
          <a:xfrm>
            <a:off x="640080" y="566928"/>
            <a:ext cx="530352" cy="530352"/>
          </a:xfrm>
          <a:prstGeom prst="rect">
            <a:avLst/>
          </a:prstGeom>
        </p:spPr>
      </p:pic>
      <p:sp>
        <p:nvSpPr>
          <p:cNvPr id="5" name="Text 1"/>
          <p:cNvSpPr txBox="1"/>
          <p:nvPr/>
        </p:nvSpPr>
        <p:spPr>
          <a:xfrm>
            <a:off x="1280160" y="548640"/>
            <a:ext cx="4572000" cy="365760"/>
          </a:xfrm>
          <a:prstGeom prst="rect">
            <a:avLst/>
          </a:prstGeom>
          <a:noFill/>
          <a:ln/>
        </p:spPr>
        <p:txBody>
          <a:bodyPr wrap="square" lIns="0" tIns="0" rIns="0" bIns="0" rtlCol="0" anchor="ctr"/>
          <a:lstStyle/>
          <a:p>
            <a:pPr marL="0" indent="0">
              <a:buNone/>
            </a:pPr>
            <a:r>
              <a:rPr lang="en-US" sz="1800" b="1" kern="0" spc="200" dirty="0">
                <a:solidFill>
                  <a:srgbClr val="FFFFFF"/>
                </a:solidFill>
                <a:latin typeface="Century Schoolbook" pitchFamily="34" charset="0"/>
                <a:ea typeface="Century Schoolbook" pitchFamily="34" charset="-122"/>
                <a:cs typeface="Century Schoolbook" pitchFamily="34" charset="-120"/>
              </a:rPr>
              <a:t>SAFETYSETU</a:t>
            </a:r>
            <a:endParaRPr lang="en-US" sz="1800" dirty="0"/>
          </a:p>
        </p:txBody>
      </p:sp>
      <p:sp>
        <p:nvSpPr>
          <p:cNvPr id="6" name="Text 2"/>
          <p:cNvSpPr txBox="1"/>
          <p:nvPr/>
        </p:nvSpPr>
        <p:spPr>
          <a:xfrm>
            <a:off x="1298448" y="896112"/>
            <a:ext cx="4572000" cy="256032"/>
          </a:xfrm>
          <a:prstGeom prst="rect">
            <a:avLst/>
          </a:prstGeom>
          <a:noFill/>
          <a:ln/>
        </p:spPr>
        <p:txBody>
          <a:bodyPr wrap="square" lIns="0" tIns="0" rIns="0" bIns="0" rtlCol="0" anchor="ctr"/>
          <a:lstStyle/>
          <a:p>
            <a:pPr marL="0" indent="0">
              <a:buNone/>
            </a:pPr>
            <a:r>
              <a:rPr lang="en-US" sz="900" kern="0" spc="200" dirty="0">
                <a:solidFill>
                  <a:srgbClr val="A3A3A3"/>
                </a:solidFill>
                <a:latin typeface="Calibri" pitchFamily="34" charset="0"/>
                <a:ea typeface="Calibri" pitchFamily="34" charset="-122"/>
                <a:cs typeface="Calibri" pitchFamily="34" charset="-120"/>
              </a:rPr>
              <a:t>BY AILLEGENT</a:t>
            </a:r>
            <a:endParaRPr lang="en-US" sz="900" dirty="0"/>
          </a:p>
        </p:txBody>
      </p:sp>
      <p:sp>
        <p:nvSpPr>
          <p:cNvPr id="7" name="Text 3"/>
          <p:cNvSpPr txBox="1"/>
          <p:nvPr/>
        </p:nvSpPr>
        <p:spPr>
          <a:xfrm>
            <a:off x="658368" y="2148840"/>
            <a:ext cx="7315200" cy="320040"/>
          </a:xfrm>
          <a:prstGeom prst="rect">
            <a:avLst/>
          </a:prstGeom>
          <a:noFill/>
          <a:ln/>
        </p:spPr>
        <p:txBody>
          <a:bodyPr wrap="square" lIns="0" tIns="0" rIns="0" bIns="0" rtlCol="0" anchor="ctr"/>
          <a:lstStyle/>
          <a:p>
            <a:pPr marL="0" indent="0">
              <a:buNone/>
            </a:pPr>
            <a:r>
              <a:rPr lang="en-US" sz="1300" b="1" kern="0" spc="300" dirty="0">
                <a:solidFill>
                  <a:srgbClr val="A3A3A3"/>
                </a:solidFill>
                <a:latin typeface="Calibri" pitchFamily="34" charset="0"/>
                <a:ea typeface="Calibri" pitchFamily="34" charset="-122"/>
                <a:cs typeface="Calibri" pitchFamily="34" charset="-120"/>
              </a:rPr>
              <a:t>READY WHEN YOU ARE</a:t>
            </a:r>
            <a:endParaRPr lang="en-US" sz="1300" dirty="0"/>
          </a:p>
        </p:txBody>
      </p:sp>
      <p:sp>
        <p:nvSpPr>
          <p:cNvPr id="8" name="Text 4"/>
          <p:cNvSpPr txBox="1"/>
          <p:nvPr/>
        </p:nvSpPr>
        <p:spPr>
          <a:xfrm>
            <a:off x="621792" y="2514600"/>
            <a:ext cx="10972800" cy="914400"/>
          </a:xfrm>
          <a:prstGeom prst="rect">
            <a:avLst/>
          </a:prstGeom>
          <a:noFill/>
          <a:ln/>
        </p:spPr>
        <p:txBody>
          <a:bodyPr wrap="square" lIns="0" tIns="0" rIns="0" bIns="0" rtlCol="0" anchor="ctr"/>
          <a:lstStyle/>
          <a:p>
            <a:pPr marL="0" indent="0">
              <a:buNone/>
            </a:pPr>
            <a:r>
              <a:rPr lang="en-US" sz="4200" b="1" dirty="0">
                <a:solidFill>
                  <a:srgbClr val="FFFFFF"/>
                </a:solidFill>
                <a:latin typeface="Century Schoolbook" pitchFamily="34" charset="0"/>
                <a:ea typeface="Century Schoolbook" pitchFamily="34" charset="-122"/>
                <a:cs typeface="Century Schoolbook" pitchFamily="34" charset="-120"/>
              </a:rPr>
              <a:t>Let’s digitise your plant, end to end</a:t>
            </a:r>
            <a:endParaRPr lang="en-US" sz="4200" dirty="0"/>
          </a:p>
        </p:txBody>
      </p:sp>
      <p:sp>
        <p:nvSpPr>
          <p:cNvPr id="9" name="Text 5"/>
          <p:cNvSpPr txBox="1"/>
          <p:nvPr/>
        </p:nvSpPr>
        <p:spPr>
          <a:xfrm>
            <a:off x="658368" y="3520440"/>
            <a:ext cx="10515600" cy="1005840"/>
          </a:xfrm>
          <a:prstGeom prst="rect">
            <a:avLst/>
          </a:prstGeom>
          <a:noFill/>
          <a:ln/>
        </p:spPr>
        <p:txBody>
          <a:bodyPr wrap="square" lIns="0" tIns="0" rIns="0" bIns="0" rtlCol="0" anchor="ctr"/>
          <a:lstStyle/>
          <a:p>
            <a:pPr marL="0" indent="0">
              <a:lnSpc>
                <a:spcPct val="112000"/>
              </a:lnSpc>
              <a:buNone/>
            </a:pPr>
            <a:r>
              <a:rPr lang="en-US" sz="1500" dirty="0">
                <a:solidFill>
                  <a:srgbClr val="D4D4D4"/>
                </a:solidFill>
                <a:latin typeface="Calibri" pitchFamily="34" charset="0"/>
                <a:ea typeface="Calibri" pitchFamily="34" charset="-122"/>
                <a:cs typeface="Calibri" pitchFamily="34" charset="-120"/>
              </a:rPr>
              <a:t>From paper permits and a register at the barrier to one cloud platform: configure your own permits and approvals, isolate equipment safely, know every contractor and visitor on site, and see all of it live on web, mobile and the plant floor. The Aillegent team will configure it with you and stay with you after go-live.</a:t>
            </a:r>
            <a:endParaRPr lang="en-US" sz="1500" dirty="0"/>
          </a:p>
        </p:txBody>
      </p:sp>
      <p:sp>
        <p:nvSpPr>
          <p:cNvPr id="10" name="Text 6"/>
          <p:cNvSpPr txBox="1"/>
          <p:nvPr/>
        </p:nvSpPr>
        <p:spPr>
          <a:xfrm>
            <a:off x="658368" y="4681728"/>
            <a:ext cx="7315200" cy="274320"/>
          </a:xfrm>
          <a:prstGeom prst="rect">
            <a:avLst/>
          </a:prstGeom>
          <a:noFill/>
          <a:ln/>
        </p:spPr>
        <p:txBody>
          <a:bodyPr wrap="square" lIns="0" tIns="0" rIns="0" bIns="0" rtlCol="0" anchor="ctr"/>
          <a:lstStyle/>
          <a:p>
            <a:pPr marL="0" indent="0">
              <a:buNone/>
            </a:pPr>
            <a:r>
              <a:rPr lang="en-US" sz="1100" b="1" kern="0" spc="200" dirty="0">
                <a:solidFill>
                  <a:srgbClr val="A3A3A3"/>
                </a:solidFill>
                <a:latin typeface="Calibri" pitchFamily="34" charset="0"/>
                <a:ea typeface="Calibri" pitchFamily="34" charset="-122"/>
                <a:cs typeface="Calibri" pitchFamily="34" charset="-120"/>
              </a:rPr>
              <a:t>TALK TO THE AILLEGENT TEAM</a:t>
            </a:r>
            <a:endParaRPr lang="en-US" sz="1100" dirty="0"/>
          </a:p>
        </p:txBody>
      </p:sp>
      <p:sp>
        <p:nvSpPr>
          <p:cNvPr id="11" name="Shape 7"/>
          <p:cNvSpPr/>
          <p:nvPr/>
        </p:nvSpPr>
        <p:spPr>
          <a:xfrm>
            <a:off x="658368" y="5029200"/>
            <a:ext cx="4297680" cy="1024128"/>
          </a:xfrm>
          <a:prstGeom prst="roundRect">
            <a:avLst>
              <a:gd name="adj" fmla="val 10714"/>
            </a:avLst>
          </a:prstGeom>
          <a:solidFill>
            <a:srgbClr val="1A1A1A"/>
          </a:solidFill>
          <a:ln w="12700">
            <a:solidFill>
              <a:srgbClr val="3A3A3A"/>
            </a:solidFill>
            <a:prstDash val="solid"/>
          </a:ln>
        </p:spPr>
        <p:txBody>
          <a:bodyPr/>
          <a:lstStyle/>
          <a:p>
            <a:endParaRPr/>
          </a:p>
        </p:txBody>
      </p:sp>
      <p:sp>
        <p:nvSpPr>
          <p:cNvPr id="12" name="Shape 8"/>
          <p:cNvSpPr/>
          <p:nvPr/>
        </p:nvSpPr>
        <p:spPr>
          <a:xfrm>
            <a:off x="932688" y="5349240"/>
            <a:ext cx="457200" cy="457200"/>
          </a:xfrm>
          <a:prstGeom prst="ellipse">
            <a:avLst/>
          </a:prstGeom>
          <a:solidFill>
            <a:srgbClr val="2A2A2A"/>
          </a:solidFill>
          <a:ln/>
        </p:spPr>
        <p:txBody>
          <a:bodyPr/>
          <a:lstStyle/>
          <a:p>
            <a:endParaRPr/>
          </a:p>
        </p:txBody>
      </p:sp>
      <p:pic>
        <p:nvPicPr>
          <p:cNvPr id="13" name="Image 2" descr="orig/ppt/media/image44.png"/>
          <p:cNvPicPr>
            <a:picLocks noChangeAspect="1"/>
          </p:cNvPicPr>
          <p:nvPr/>
        </p:nvPicPr>
        <p:blipFill>
          <a:blip r:embed="rId5"/>
          <a:stretch>
            <a:fillRect/>
          </a:stretch>
        </p:blipFill>
        <p:spPr>
          <a:xfrm>
            <a:off x="1065276" y="5481828"/>
            <a:ext cx="192024" cy="192024"/>
          </a:xfrm>
          <a:prstGeom prst="rect">
            <a:avLst/>
          </a:prstGeom>
        </p:spPr>
      </p:pic>
      <p:sp>
        <p:nvSpPr>
          <p:cNvPr id="14" name="Text 9"/>
          <p:cNvSpPr txBox="1"/>
          <p:nvPr/>
        </p:nvSpPr>
        <p:spPr>
          <a:xfrm>
            <a:off x="1554480" y="5248656"/>
            <a:ext cx="3291840" cy="237744"/>
          </a:xfrm>
          <a:prstGeom prst="rect">
            <a:avLst/>
          </a:prstGeom>
          <a:noFill/>
          <a:ln/>
        </p:spPr>
        <p:txBody>
          <a:bodyPr wrap="square" lIns="0" tIns="0" rIns="0" bIns="0" rtlCol="0" anchor="ctr"/>
          <a:lstStyle/>
          <a:p>
            <a:pPr marL="0" indent="0">
              <a:buNone/>
            </a:pPr>
            <a:r>
              <a:rPr lang="en-US" sz="900" b="1" kern="0" spc="100" dirty="0">
                <a:solidFill>
                  <a:srgbClr val="A3A3A3"/>
                </a:solidFill>
                <a:latin typeface="Calibri" pitchFamily="34" charset="0"/>
                <a:ea typeface="Calibri" pitchFamily="34" charset="-122"/>
                <a:cs typeface="Calibri" pitchFamily="34" charset="-120"/>
              </a:rPr>
              <a:t>PHONE</a:t>
            </a:r>
            <a:endParaRPr lang="en-US" sz="900" dirty="0"/>
          </a:p>
        </p:txBody>
      </p:sp>
      <p:sp>
        <p:nvSpPr>
          <p:cNvPr id="15" name="Text 10"/>
          <p:cNvSpPr txBox="1"/>
          <p:nvPr/>
        </p:nvSpPr>
        <p:spPr>
          <a:xfrm>
            <a:off x="1554480" y="5504688"/>
            <a:ext cx="329184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+91 90283 21652</a:t>
            </a:r>
            <a:endParaRPr lang="en-US" sz="1400" dirty="0"/>
          </a:p>
        </p:txBody>
      </p:sp>
      <p:sp>
        <p:nvSpPr>
          <p:cNvPr id="16" name="Shape 11"/>
          <p:cNvSpPr/>
          <p:nvPr/>
        </p:nvSpPr>
        <p:spPr>
          <a:xfrm>
            <a:off x="5340096" y="5029200"/>
            <a:ext cx="4297680" cy="1024128"/>
          </a:xfrm>
          <a:prstGeom prst="roundRect">
            <a:avLst>
              <a:gd name="adj" fmla="val 10714"/>
            </a:avLst>
          </a:prstGeom>
          <a:solidFill>
            <a:srgbClr val="1A1A1A"/>
          </a:solidFill>
          <a:ln w="12700">
            <a:solidFill>
              <a:srgbClr val="3A3A3A"/>
            </a:solidFill>
            <a:prstDash val="solid"/>
          </a:ln>
        </p:spPr>
        <p:txBody>
          <a:bodyPr/>
          <a:lstStyle/>
          <a:p>
            <a:endParaRPr/>
          </a:p>
        </p:txBody>
      </p:sp>
      <p:sp>
        <p:nvSpPr>
          <p:cNvPr id="17" name="Shape 12"/>
          <p:cNvSpPr/>
          <p:nvPr/>
        </p:nvSpPr>
        <p:spPr>
          <a:xfrm>
            <a:off x="5614416" y="5349240"/>
            <a:ext cx="457200" cy="457200"/>
          </a:xfrm>
          <a:prstGeom prst="ellipse">
            <a:avLst/>
          </a:prstGeom>
          <a:solidFill>
            <a:srgbClr val="2A2A2A"/>
          </a:solidFill>
          <a:ln/>
        </p:spPr>
        <p:txBody>
          <a:bodyPr/>
          <a:lstStyle/>
          <a:p>
            <a:endParaRPr/>
          </a:p>
        </p:txBody>
      </p:sp>
      <p:pic>
        <p:nvPicPr>
          <p:cNvPr id="18" name="Image 3" descr="orig/ppt/media/image45.png"/>
          <p:cNvPicPr>
            <a:picLocks noChangeAspect="1"/>
          </p:cNvPicPr>
          <p:nvPr/>
        </p:nvPicPr>
        <p:blipFill>
          <a:blip r:embed="rId6"/>
          <a:stretch>
            <a:fillRect/>
          </a:stretch>
        </p:blipFill>
        <p:spPr>
          <a:xfrm>
            <a:off x="5747004" y="5481828"/>
            <a:ext cx="192024" cy="192024"/>
          </a:xfrm>
          <a:prstGeom prst="rect">
            <a:avLst/>
          </a:prstGeom>
        </p:spPr>
      </p:pic>
      <p:sp>
        <p:nvSpPr>
          <p:cNvPr id="19" name="Text 13"/>
          <p:cNvSpPr txBox="1"/>
          <p:nvPr/>
        </p:nvSpPr>
        <p:spPr>
          <a:xfrm>
            <a:off x="6236208" y="5248656"/>
            <a:ext cx="3291840" cy="237744"/>
          </a:xfrm>
          <a:prstGeom prst="rect">
            <a:avLst/>
          </a:prstGeom>
          <a:noFill/>
          <a:ln/>
        </p:spPr>
        <p:txBody>
          <a:bodyPr wrap="square" lIns="0" tIns="0" rIns="0" bIns="0" rtlCol="0" anchor="ctr"/>
          <a:lstStyle/>
          <a:p>
            <a:pPr marL="0" indent="0">
              <a:buNone/>
            </a:pPr>
            <a:r>
              <a:rPr lang="en-US" sz="900" b="1" kern="0" spc="100" dirty="0">
                <a:solidFill>
                  <a:srgbClr val="A3A3A3"/>
                </a:solidFill>
                <a:latin typeface="Calibri" pitchFamily="34" charset="0"/>
                <a:ea typeface="Calibri" pitchFamily="34" charset="-122"/>
                <a:cs typeface="Calibri" pitchFamily="34" charset="-120"/>
              </a:rPr>
              <a:t>EMAIL</a:t>
            </a:r>
            <a:endParaRPr lang="en-US" sz="900" dirty="0"/>
          </a:p>
        </p:txBody>
      </p:sp>
      <p:sp>
        <p:nvSpPr>
          <p:cNvPr id="20" name="Text 14"/>
          <p:cNvSpPr txBox="1"/>
          <p:nvPr/>
        </p:nvSpPr>
        <p:spPr>
          <a:xfrm>
            <a:off x="6236208" y="5504688"/>
            <a:ext cx="329184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info@aillegent.com</a:t>
            </a:r>
            <a:endParaRPr lang="en-US" sz="1400" dirty="0"/>
          </a:p>
        </p:txBody>
      </p:sp>
      <p:sp>
        <p:nvSpPr>
          <p:cNvPr id="21" name="Text 15"/>
          <p:cNvSpPr txBox="1"/>
          <p:nvPr/>
        </p:nvSpPr>
        <p:spPr>
          <a:xfrm>
            <a:off x="658368" y="6446520"/>
            <a:ext cx="8229600" cy="274320"/>
          </a:xfrm>
          <a:prstGeom prst="rect">
            <a:avLst/>
          </a:prstGeom>
          <a:noFill/>
          <a:ln/>
        </p:spPr>
        <p:txBody>
          <a:bodyPr wrap="square" lIns="0" tIns="0" rIns="0" bIns="0" rtlCol="0" anchor="ctr"/>
          <a:lstStyle/>
          <a:p>
            <a:pPr marL="0" indent="0">
              <a:buNone/>
            </a:pPr>
            <a:r>
              <a:rPr lang="en-US" sz="950" dirty="0">
                <a:solidFill>
                  <a:srgbClr val="9A9A9A"/>
                </a:solidFill>
                <a:latin typeface="Calibri" pitchFamily="34" charset="0"/>
                <a:ea typeface="Calibri" pitchFamily="34" charset="-122"/>
                <a:cs typeface="Calibri" pitchFamily="34" charset="-120"/>
              </a:rPr>
              <a:t>SafetySetu by Aillegent  ·  Gandhinagar, India  ·  September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4929</Words>
  <Application>Microsoft Macintosh PowerPoint</Application>
  <PresentationFormat>Widescreen</PresentationFormat>
  <Paragraphs>470</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Aillegent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SafetySetu - Permit + EntryHub (v2)</dc:title>
  <dc:subject>PptxGenJS Presentation</dc:subject>
  <dc:creator>Aillegent</dc:creator>
  <cp:lastModifiedBy>Jaldip</cp:lastModifiedBy>
  <cp:revision>2</cp:revision>
  <dcterms:created xsi:type="dcterms:W3CDTF">2026-09-24T12:31:13Z</dcterms:created>
  <dcterms:modified xsi:type="dcterms:W3CDTF">2026-09-24T14:36:56Z</dcterms:modified>
</cp:coreProperties>
</file>